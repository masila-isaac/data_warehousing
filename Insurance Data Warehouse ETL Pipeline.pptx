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12192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Liter" panose="020B0604020202020204" charset="0"/>
      <p:regular r:id="rId19"/>
    </p:embeddedFont>
    <p:embeddedFont>
      <p:font typeface="Quattrocento Sans" panose="020B0604020202020204" charset="0"/>
      <p:regular r:id="rId20"/>
    </p:embeddedFont>
  </p:embeddedFontLst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9970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exasol.com/68d22eb0a5d613ec8c476f47efba1c3cd8c5c137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7796" b="779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6C8C">
                  <a:alpha val="4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047750"/>
            <a:ext cx="3495675" cy="419100"/>
          </a:xfrm>
          <a:custGeom>
            <a:avLst/>
            <a:gdLst/>
            <a:ahLst/>
            <a:cxnLst/>
            <a:rect l="l" t="t" r="r" b="b"/>
            <a:pathLst>
              <a:path w="3495675" h="419100">
                <a:moveTo>
                  <a:pt x="0" y="0"/>
                </a:moveTo>
                <a:lnTo>
                  <a:pt x="3495675" y="0"/>
                </a:lnTo>
                <a:lnTo>
                  <a:pt x="349567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047750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6" name="Shape 3"/>
          <p:cNvSpPr/>
          <p:nvPr/>
        </p:nvSpPr>
        <p:spPr>
          <a:xfrm>
            <a:off x="645319" y="11620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7" name="Text 4"/>
          <p:cNvSpPr/>
          <p:nvPr/>
        </p:nvSpPr>
        <p:spPr>
          <a:xfrm>
            <a:off x="962025" y="1123950"/>
            <a:ext cx="2828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kern="0" spc="135" dirty="0">
                <a:solidFill>
                  <a:srgbClr val="D8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Documentation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1695450"/>
            <a:ext cx="117729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Insurance Data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Warehouse ETL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D8A2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4495800"/>
            <a:ext cx="65151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Centralizing Claims Data for Advanced Analytics &amp; Business Intelligence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16719" y="55816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9766" y="38695"/>
                </a:moveTo>
                <a:cubicBezTo>
                  <a:pt x="34694" y="38695"/>
                  <a:pt x="38695" y="34694"/>
                  <a:pt x="38695" y="29766"/>
                </a:cubicBezTo>
                <a:cubicBezTo>
                  <a:pt x="38695" y="24837"/>
                  <a:pt x="34694" y="20836"/>
                  <a:pt x="29766" y="20836"/>
                </a:cubicBezTo>
                <a:cubicBezTo>
                  <a:pt x="24837" y="20836"/>
                  <a:pt x="20836" y="24837"/>
                  <a:pt x="20836" y="29766"/>
                </a:cubicBezTo>
                <a:cubicBezTo>
                  <a:pt x="20836" y="34694"/>
                  <a:pt x="24837" y="38695"/>
                  <a:pt x="29766" y="38695"/>
                </a:cubicBezTo>
                <a:close/>
                <a:moveTo>
                  <a:pt x="59531" y="29766"/>
                </a:moveTo>
                <a:cubicBezTo>
                  <a:pt x="59531" y="41970"/>
                  <a:pt x="52201" y="52462"/>
                  <a:pt x="41672" y="57038"/>
                </a:cubicBezTo>
                <a:lnTo>
                  <a:pt x="41672" y="83344"/>
                </a:lnTo>
                <a:lnTo>
                  <a:pt x="107156" y="83344"/>
                </a:lnTo>
                <a:cubicBezTo>
                  <a:pt x="117016" y="83344"/>
                  <a:pt x="125016" y="75344"/>
                  <a:pt x="125016" y="65484"/>
                </a:cubicBezTo>
                <a:lnTo>
                  <a:pt x="125016" y="57038"/>
                </a:lnTo>
                <a:cubicBezTo>
                  <a:pt x="114486" y="52462"/>
                  <a:pt x="107156" y="41970"/>
                  <a:pt x="107156" y="29766"/>
                </a:cubicBezTo>
                <a:cubicBezTo>
                  <a:pt x="107156" y="13320"/>
                  <a:pt x="120476" y="0"/>
                  <a:pt x="136922" y="0"/>
                </a:cubicBezTo>
                <a:cubicBezTo>
                  <a:pt x="153367" y="0"/>
                  <a:pt x="166688" y="13320"/>
                  <a:pt x="166688" y="29766"/>
                </a:cubicBezTo>
                <a:cubicBezTo>
                  <a:pt x="166688" y="41970"/>
                  <a:pt x="159358" y="52462"/>
                  <a:pt x="148828" y="57038"/>
                </a:cubicBezTo>
                <a:lnTo>
                  <a:pt x="148828" y="65484"/>
                </a:lnTo>
                <a:cubicBezTo>
                  <a:pt x="148828" y="88516"/>
                  <a:pt x="130187" y="107156"/>
                  <a:pt x="107156" y="107156"/>
                </a:cubicBezTo>
                <a:lnTo>
                  <a:pt x="41672" y="107156"/>
                </a:lnTo>
                <a:lnTo>
                  <a:pt x="41672" y="133462"/>
                </a:lnTo>
                <a:cubicBezTo>
                  <a:pt x="52201" y="138038"/>
                  <a:pt x="59531" y="148530"/>
                  <a:pt x="59531" y="160734"/>
                </a:cubicBezTo>
                <a:cubicBezTo>
                  <a:pt x="59531" y="177180"/>
                  <a:pt x="46211" y="190500"/>
                  <a:pt x="29766" y="190500"/>
                </a:cubicBezTo>
                <a:cubicBezTo>
                  <a:pt x="13320" y="190500"/>
                  <a:pt x="0" y="177180"/>
                  <a:pt x="0" y="160734"/>
                </a:cubicBezTo>
                <a:cubicBezTo>
                  <a:pt x="0" y="148530"/>
                  <a:pt x="7330" y="138038"/>
                  <a:pt x="17859" y="133462"/>
                </a:cubicBezTo>
                <a:lnTo>
                  <a:pt x="17859" y="57076"/>
                </a:lnTo>
                <a:cubicBezTo>
                  <a:pt x="7330" y="52462"/>
                  <a:pt x="0" y="41970"/>
                  <a:pt x="0" y="29766"/>
                </a:cubicBezTo>
                <a:cubicBezTo>
                  <a:pt x="0" y="13320"/>
                  <a:pt x="13320" y="0"/>
                  <a:pt x="29766" y="0"/>
                </a:cubicBezTo>
                <a:cubicBezTo>
                  <a:pt x="46211" y="0"/>
                  <a:pt x="59531" y="13320"/>
                  <a:pt x="59531" y="29766"/>
                </a:cubicBezTo>
                <a:close/>
                <a:moveTo>
                  <a:pt x="145852" y="29766"/>
                </a:moveTo>
                <a:cubicBezTo>
                  <a:pt x="145852" y="24837"/>
                  <a:pt x="141850" y="20836"/>
                  <a:pt x="136922" y="20836"/>
                </a:cubicBezTo>
                <a:cubicBezTo>
                  <a:pt x="131993" y="20836"/>
                  <a:pt x="127992" y="24837"/>
                  <a:pt x="127992" y="29766"/>
                </a:cubicBezTo>
                <a:cubicBezTo>
                  <a:pt x="127992" y="34694"/>
                  <a:pt x="131993" y="38695"/>
                  <a:pt x="136922" y="38695"/>
                </a:cubicBezTo>
                <a:cubicBezTo>
                  <a:pt x="141850" y="38695"/>
                  <a:pt x="145852" y="34694"/>
                  <a:pt x="145852" y="29766"/>
                </a:cubicBezTo>
                <a:close/>
                <a:moveTo>
                  <a:pt x="29766" y="169664"/>
                </a:moveTo>
                <a:cubicBezTo>
                  <a:pt x="34694" y="169664"/>
                  <a:pt x="38695" y="165663"/>
                  <a:pt x="38695" y="160734"/>
                </a:cubicBezTo>
                <a:cubicBezTo>
                  <a:pt x="38695" y="155806"/>
                  <a:pt x="34694" y="151805"/>
                  <a:pt x="29766" y="151805"/>
                </a:cubicBezTo>
                <a:cubicBezTo>
                  <a:pt x="24837" y="151805"/>
                  <a:pt x="20836" y="155806"/>
                  <a:pt x="20836" y="160734"/>
                </a:cubicBezTo>
                <a:cubicBezTo>
                  <a:pt x="20836" y="165663"/>
                  <a:pt x="24837" y="169664"/>
                  <a:pt x="29766" y="169664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1" name="Text 8"/>
          <p:cNvSpPr/>
          <p:nvPr/>
        </p:nvSpPr>
        <p:spPr>
          <a:xfrm>
            <a:off x="733425" y="5543550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 Schema Architecture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925961" y="55816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3" name="Text 10"/>
          <p:cNvSpPr/>
          <p:nvPr/>
        </p:nvSpPr>
        <p:spPr>
          <a:xfrm>
            <a:off x="3278386" y="5543550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 ETL Pipeline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049937" y="55816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5" name="Text 12"/>
          <p:cNvSpPr/>
          <p:nvPr/>
        </p:nvSpPr>
        <p:spPr>
          <a:xfrm>
            <a:off x="5378550" y="5543550"/>
            <a:ext cx="148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BI-Ready Analytics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175" y="384175"/>
            <a:ext cx="1158875" cy="273050"/>
          </a:xfrm>
          <a:custGeom>
            <a:avLst/>
            <a:gdLst/>
            <a:ahLst/>
            <a:cxnLst/>
            <a:rect l="l" t="t" r="r" b="b"/>
            <a:pathLst>
              <a:path w="1158875" h="273050">
                <a:moveTo>
                  <a:pt x="136525" y="0"/>
                </a:moveTo>
                <a:lnTo>
                  <a:pt x="1022350" y="0"/>
                </a:lnTo>
                <a:cubicBezTo>
                  <a:pt x="1097751" y="0"/>
                  <a:pt x="1158875" y="61124"/>
                  <a:pt x="1158875" y="136525"/>
                </a:cubicBezTo>
                <a:lnTo>
                  <a:pt x="1158875" y="136525"/>
                </a:lnTo>
                <a:cubicBezTo>
                  <a:pt x="1158875" y="211926"/>
                  <a:pt x="1097751" y="273050"/>
                  <a:pt x="1022350" y="273050"/>
                </a:cubicBezTo>
                <a:lnTo>
                  <a:pt x="136525" y="273050"/>
                </a:lnTo>
                <a:cubicBezTo>
                  <a:pt x="61175" y="273050"/>
                  <a:pt x="0" y="211875"/>
                  <a:pt x="0" y="136525"/>
                </a:cubicBezTo>
                <a:lnTo>
                  <a:pt x="0" y="136525"/>
                </a:lnTo>
                <a:cubicBezTo>
                  <a:pt x="0" y="61175"/>
                  <a:pt x="61175" y="0"/>
                  <a:pt x="136525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8467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750" y="425450"/>
            <a:ext cx="914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D8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74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of Contents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536700"/>
            <a:ext cx="5543550" cy="1123950"/>
          </a:xfrm>
          <a:custGeom>
            <a:avLst/>
            <a:gdLst/>
            <a:ahLst/>
            <a:cxnLst/>
            <a:rect l="l" t="t" r="r" b="b"/>
            <a:pathLst>
              <a:path w="5543550" h="1123950">
                <a:moveTo>
                  <a:pt x="38100" y="0"/>
                </a:moveTo>
                <a:lnTo>
                  <a:pt x="5467346" y="0"/>
                </a:lnTo>
                <a:cubicBezTo>
                  <a:pt x="5509432" y="0"/>
                  <a:pt x="5543550" y="34118"/>
                  <a:pt x="5543550" y="76204"/>
                </a:cubicBezTo>
                <a:lnTo>
                  <a:pt x="5543550" y="1047746"/>
                </a:lnTo>
                <a:cubicBezTo>
                  <a:pt x="5543550" y="1089832"/>
                  <a:pt x="5509432" y="1123950"/>
                  <a:pt x="5467346" y="1123950"/>
                </a:cubicBez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536700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3810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727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8" name="Text 6"/>
          <p:cNvSpPr/>
          <p:nvPr/>
        </p:nvSpPr>
        <p:spPr>
          <a:xfrm>
            <a:off x="719534" y="1803400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1727200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 &amp; Purpose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19200" y="2032000"/>
            <a:ext cx="461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Goals and objectives of the data warehouse initiative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67450" y="1536700"/>
            <a:ext cx="5543550" cy="1123950"/>
          </a:xfrm>
          <a:custGeom>
            <a:avLst/>
            <a:gdLst/>
            <a:ahLst/>
            <a:cxnLst/>
            <a:rect l="l" t="t" r="r" b="b"/>
            <a:pathLst>
              <a:path w="5543550" h="1123950">
                <a:moveTo>
                  <a:pt x="38100" y="0"/>
                </a:moveTo>
                <a:lnTo>
                  <a:pt x="5467346" y="0"/>
                </a:lnTo>
                <a:cubicBezTo>
                  <a:pt x="5509432" y="0"/>
                  <a:pt x="5543550" y="34118"/>
                  <a:pt x="5543550" y="76204"/>
                </a:cubicBezTo>
                <a:lnTo>
                  <a:pt x="5543550" y="1047746"/>
                </a:lnTo>
                <a:cubicBezTo>
                  <a:pt x="5543550" y="1089832"/>
                  <a:pt x="5509432" y="1123950"/>
                  <a:pt x="5467346" y="1123950"/>
                </a:cubicBez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267450" y="1536700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3810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7000" y="1727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14" name="Text 12"/>
          <p:cNvSpPr/>
          <p:nvPr/>
        </p:nvSpPr>
        <p:spPr>
          <a:xfrm>
            <a:off x="6566198" y="180340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86600" y="1727200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86600" y="2032000"/>
            <a:ext cx="461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 schema design and dimensional modeling approach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2809875"/>
            <a:ext cx="5543550" cy="1123950"/>
          </a:xfrm>
          <a:custGeom>
            <a:avLst/>
            <a:gdLst/>
            <a:ahLst/>
            <a:cxnLst/>
            <a:rect l="l" t="t" r="r" b="b"/>
            <a:pathLst>
              <a:path w="5543550" h="1123950">
                <a:moveTo>
                  <a:pt x="38100" y="0"/>
                </a:moveTo>
                <a:lnTo>
                  <a:pt x="5467346" y="0"/>
                </a:lnTo>
                <a:cubicBezTo>
                  <a:pt x="5509432" y="0"/>
                  <a:pt x="5543550" y="34118"/>
                  <a:pt x="5543550" y="76204"/>
                </a:cubicBezTo>
                <a:lnTo>
                  <a:pt x="5543550" y="1047746"/>
                </a:lnTo>
                <a:cubicBezTo>
                  <a:pt x="5543550" y="1089832"/>
                  <a:pt x="5509432" y="1123950"/>
                  <a:pt x="5467346" y="1123950"/>
                </a:cubicBez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2809875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3810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" y="30003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20" name="Text 18"/>
          <p:cNvSpPr/>
          <p:nvPr/>
        </p:nvSpPr>
        <p:spPr>
          <a:xfrm>
            <a:off x="697806" y="307657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19200" y="3000375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Model Design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19200" y="3305175"/>
            <a:ext cx="461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Dimension tables and fact table structure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67450" y="2809875"/>
            <a:ext cx="5543550" cy="1123950"/>
          </a:xfrm>
          <a:custGeom>
            <a:avLst/>
            <a:gdLst/>
            <a:ahLst/>
            <a:cxnLst/>
            <a:rect l="l" t="t" r="r" b="b"/>
            <a:pathLst>
              <a:path w="5543550" h="1123950">
                <a:moveTo>
                  <a:pt x="38100" y="0"/>
                </a:moveTo>
                <a:lnTo>
                  <a:pt x="5467346" y="0"/>
                </a:lnTo>
                <a:cubicBezTo>
                  <a:pt x="5509432" y="0"/>
                  <a:pt x="5543550" y="34118"/>
                  <a:pt x="5543550" y="76204"/>
                </a:cubicBezTo>
                <a:lnTo>
                  <a:pt x="5543550" y="1047746"/>
                </a:lnTo>
                <a:cubicBezTo>
                  <a:pt x="5543550" y="1089832"/>
                  <a:pt x="5509432" y="1123950"/>
                  <a:pt x="5467346" y="1123950"/>
                </a:cubicBez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267450" y="2809875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3810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25" name="Shape 23"/>
          <p:cNvSpPr/>
          <p:nvPr/>
        </p:nvSpPr>
        <p:spPr>
          <a:xfrm>
            <a:off x="6477000" y="30003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26" name="Text 24"/>
          <p:cNvSpPr/>
          <p:nvPr/>
        </p:nvSpPr>
        <p:spPr>
          <a:xfrm>
            <a:off x="6565305" y="3076575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86600" y="3000375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ETL Process Flow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86600" y="3305175"/>
            <a:ext cx="461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Extract, Transform, and Load operations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4083051"/>
            <a:ext cx="5543550" cy="1123950"/>
          </a:xfrm>
          <a:custGeom>
            <a:avLst/>
            <a:gdLst/>
            <a:ahLst/>
            <a:cxnLst/>
            <a:rect l="l" t="t" r="r" b="b"/>
            <a:pathLst>
              <a:path w="5543550" h="1123950">
                <a:moveTo>
                  <a:pt x="38100" y="0"/>
                </a:moveTo>
                <a:lnTo>
                  <a:pt x="5467346" y="0"/>
                </a:lnTo>
                <a:cubicBezTo>
                  <a:pt x="5509432" y="0"/>
                  <a:pt x="5543550" y="34118"/>
                  <a:pt x="5543550" y="76204"/>
                </a:cubicBezTo>
                <a:lnTo>
                  <a:pt x="5543550" y="1047746"/>
                </a:lnTo>
                <a:cubicBezTo>
                  <a:pt x="5543550" y="1089832"/>
                  <a:pt x="5509432" y="1123950"/>
                  <a:pt x="5467346" y="1123950"/>
                </a:cubicBez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" y="4083051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3810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31" name="Shape 29"/>
          <p:cNvSpPr/>
          <p:nvPr/>
        </p:nvSpPr>
        <p:spPr>
          <a:xfrm>
            <a:off x="609600" y="427355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32" name="Text 30"/>
          <p:cNvSpPr/>
          <p:nvPr/>
        </p:nvSpPr>
        <p:spPr>
          <a:xfrm>
            <a:off x="699393" y="4349751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19200" y="4273551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Intelligence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19200" y="4578351"/>
            <a:ext cx="461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Pre-built KPI views and analytics capabilities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67450" y="4083051"/>
            <a:ext cx="5543550" cy="1123950"/>
          </a:xfrm>
          <a:custGeom>
            <a:avLst/>
            <a:gdLst/>
            <a:ahLst/>
            <a:cxnLst/>
            <a:rect l="l" t="t" r="r" b="b"/>
            <a:pathLst>
              <a:path w="5543550" h="1123950">
                <a:moveTo>
                  <a:pt x="38100" y="0"/>
                </a:moveTo>
                <a:lnTo>
                  <a:pt x="5467346" y="0"/>
                </a:lnTo>
                <a:cubicBezTo>
                  <a:pt x="5509432" y="0"/>
                  <a:pt x="5543550" y="34118"/>
                  <a:pt x="5543550" y="76204"/>
                </a:cubicBezTo>
                <a:lnTo>
                  <a:pt x="5543550" y="1047746"/>
                </a:lnTo>
                <a:cubicBezTo>
                  <a:pt x="5543550" y="1089832"/>
                  <a:pt x="5509432" y="1123950"/>
                  <a:pt x="5467346" y="1123950"/>
                </a:cubicBez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267450" y="4083051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3810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37" name="Shape 35"/>
          <p:cNvSpPr/>
          <p:nvPr/>
        </p:nvSpPr>
        <p:spPr>
          <a:xfrm>
            <a:off x="6477000" y="427355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38" name="Text 36"/>
          <p:cNvSpPr/>
          <p:nvPr/>
        </p:nvSpPr>
        <p:spPr>
          <a:xfrm>
            <a:off x="6564313" y="4349751"/>
            <a:ext cx="400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86600" y="4273551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Specifications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086600" y="4578351"/>
            <a:ext cx="461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stack and performance optimizations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00050" y="5356225"/>
            <a:ext cx="5543550" cy="1123950"/>
          </a:xfrm>
          <a:custGeom>
            <a:avLst/>
            <a:gdLst/>
            <a:ahLst/>
            <a:cxnLst/>
            <a:rect l="l" t="t" r="r" b="b"/>
            <a:pathLst>
              <a:path w="5543550" h="1123950">
                <a:moveTo>
                  <a:pt x="38100" y="0"/>
                </a:moveTo>
                <a:lnTo>
                  <a:pt x="5467346" y="0"/>
                </a:lnTo>
                <a:cubicBezTo>
                  <a:pt x="5509432" y="0"/>
                  <a:pt x="5543550" y="34118"/>
                  <a:pt x="5543550" y="76204"/>
                </a:cubicBezTo>
                <a:lnTo>
                  <a:pt x="5543550" y="1047746"/>
                </a:lnTo>
                <a:cubicBezTo>
                  <a:pt x="5543550" y="1089832"/>
                  <a:pt x="5509432" y="1123950"/>
                  <a:pt x="5467346" y="1123950"/>
                </a:cubicBez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00050" y="5356225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3810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43" name="Shape 41"/>
          <p:cNvSpPr/>
          <p:nvPr/>
        </p:nvSpPr>
        <p:spPr>
          <a:xfrm>
            <a:off x="609600" y="5546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44" name="Text 42"/>
          <p:cNvSpPr/>
          <p:nvPr/>
        </p:nvSpPr>
        <p:spPr>
          <a:xfrm>
            <a:off x="706735" y="5622925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19200" y="5546725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Metrics &amp; KPIs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219200" y="5851525"/>
            <a:ext cx="461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Financial, operational, and customer metrics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67450" y="5356225"/>
            <a:ext cx="5543550" cy="1123950"/>
          </a:xfrm>
          <a:custGeom>
            <a:avLst/>
            <a:gdLst/>
            <a:ahLst/>
            <a:cxnLst/>
            <a:rect l="l" t="t" r="r" b="b"/>
            <a:pathLst>
              <a:path w="5543550" h="1123950">
                <a:moveTo>
                  <a:pt x="38100" y="0"/>
                </a:moveTo>
                <a:lnTo>
                  <a:pt x="5467346" y="0"/>
                </a:lnTo>
                <a:cubicBezTo>
                  <a:pt x="5509432" y="0"/>
                  <a:pt x="5543550" y="34118"/>
                  <a:pt x="5543550" y="76204"/>
                </a:cubicBezTo>
                <a:lnTo>
                  <a:pt x="5543550" y="1047746"/>
                </a:lnTo>
                <a:cubicBezTo>
                  <a:pt x="5543550" y="1089832"/>
                  <a:pt x="5509432" y="1123950"/>
                  <a:pt x="5467346" y="1123950"/>
                </a:cubicBez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67450" y="5356225"/>
            <a:ext cx="38100" cy="1123950"/>
          </a:xfrm>
          <a:custGeom>
            <a:avLst/>
            <a:gdLst/>
            <a:ahLst/>
            <a:cxnLst/>
            <a:rect l="l" t="t" r="r" b="b"/>
            <a:pathLst>
              <a:path w="38100" h="1123950">
                <a:moveTo>
                  <a:pt x="38100" y="0"/>
                </a:moveTo>
                <a:lnTo>
                  <a:pt x="38100" y="0"/>
                </a:lnTo>
                <a:lnTo>
                  <a:pt x="38100" y="1123950"/>
                </a:lnTo>
                <a:lnTo>
                  <a:pt x="38100" y="1123950"/>
                </a:lnTo>
                <a:cubicBezTo>
                  <a:pt x="17072" y="1123950"/>
                  <a:pt x="0" y="1106878"/>
                  <a:pt x="0" y="10858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49" name="Shape 47"/>
          <p:cNvSpPr/>
          <p:nvPr/>
        </p:nvSpPr>
        <p:spPr>
          <a:xfrm>
            <a:off x="6477000" y="55467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50" name="Text 48"/>
          <p:cNvSpPr/>
          <p:nvPr/>
        </p:nvSpPr>
        <p:spPr>
          <a:xfrm>
            <a:off x="6562427" y="5622925"/>
            <a:ext cx="4000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86600" y="5546725"/>
            <a:ext cx="462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Value &amp; Use Cases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086600" y="5851525"/>
            <a:ext cx="461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Real-world applications and ROI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175" y="384175"/>
            <a:ext cx="454025" cy="273050"/>
          </a:xfrm>
          <a:custGeom>
            <a:avLst/>
            <a:gdLst/>
            <a:ahLst/>
            <a:cxnLst/>
            <a:rect l="l" t="t" r="r" b="b"/>
            <a:pathLst>
              <a:path w="454025" h="273050">
                <a:moveTo>
                  <a:pt x="136525" y="0"/>
                </a:moveTo>
                <a:lnTo>
                  <a:pt x="317500" y="0"/>
                </a:lnTo>
                <a:cubicBezTo>
                  <a:pt x="392901" y="0"/>
                  <a:pt x="454025" y="61124"/>
                  <a:pt x="454025" y="136525"/>
                </a:cubicBezTo>
                <a:lnTo>
                  <a:pt x="454025" y="136525"/>
                </a:lnTo>
                <a:cubicBezTo>
                  <a:pt x="454025" y="211926"/>
                  <a:pt x="392901" y="273050"/>
                  <a:pt x="317500" y="273050"/>
                </a:cubicBezTo>
                <a:lnTo>
                  <a:pt x="136525" y="273050"/>
                </a:lnTo>
                <a:cubicBezTo>
                  <a:pt x="61175" y="273050"/>
                  <a:pt x="0" y="211875"/>
                  <a:pt x="0" y="136525"/>
                </a:cubicBezTo>
                <a:lnTo>
                  <a:pt x="0" y="136525"/>
                </a:lnTo>
                <a:cubicBezTo>
                  <a:pt x="0" y="61175"/>
                  <a:pt x="61175" y="0"/>
                  <a:pt x="136525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8467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750" y="425451"/>
            <a:ext cx="20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D8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74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 &amp; Purpose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3081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Insurance Data Warehouse ETL Pipeline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175" y="3041650"/>
            <a:ext cx="5559425" cy="2197100"/>
          </a:xfrm>
          <a:custGeom>
            <a:avLst/>
            <a:gdLst/>
            <a:ahLst/>
            <a:cxnLst/>
            <a:rect l="l" t="t" r="r" b="b"/>
            <a:pathLst>
              <a:path w="5559425" h="2197100">
                <a:moveTo>
                  <a:pt x="114293" y="0"/>
                </a:moveTo>
                <a:lnTo>
                  <a:pt x="5445132" y="0"/>
                </a:lnTo>
                <a:cubicBezTo>
                  <a:pt x="5508254" y="0"/>
                  <a:pt x="5559425" y="51171"/>
                  <a:pt x="5559425" y="114293"/>
                </a:cubicBezTo>
                <a:lnTo>
                  <a:pt x="5559425" y="2082807"/>
                </a:lnTo>
                <a:cubicBezTo>
                  <a:pt x="5559425" y="2145929"/>
                  <a:pt x="5508254" y="2197100"/>
                  <a:pt x="5445132" y="2197100"/>
                </a:cubicBezTo>
                <a:lnTo>
                  <a:pt x="114293" y="2197100"/>
                </a:lnTo>
                <a:cubicBezTo>
                  <a:pt x="51171" y="2197100"/>
                  <a:pt x="0" y="2145929"/>
                  <a:pt x="0" y="208280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5950" y="327342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8" name="Shape 6"/>
          <p:cNvSpPr/>
          <p:nvPr/>
        </p:nvSpPr>
        <p:spPr>
          <a:xfrm>
            <a:off x="730250" y="338772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" name="Text 7"/>
          <p:cNvSpPr/>
          <p:nvPr/>
        </p:nvSpPr>
        <p:spPr>
          <a:xfrm>
            <a:off x="1187450" y="3349626"/>
            <a:ext cx="1400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Goal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5950" y="3883026"/>
            <a:ext cx="51720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Centralize and analyze insurance claims data from multiple sources, transforming raw operational data into a structured dimensional model suitable for business intelligence and analytics.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000" y="481647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12" name="Text 10"/>
          <p:cNvSpPr/>
          <p:nvPr/>
        </p:nvSpPr>
        <p:spPr>
          <a:xfrm>
            <a:off x="882650" y="4778376"/>
            <a:ext cx="1704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D8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End-to-End ETL Solution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67450" y="2006601"/>
            <a:ext cx="5543550" cy="1066800"/>
          </a:xfrm>
          <a:custGeom>
            <a:avLst/>
            <a:gdLst/>
            <a:ahLst/>
            <a:cxnLst/>
            <a:rect l="l" t="t" r="r" b="b"/>
            <a:pathLst>
              <a:path w="5543550" h="1066800">
                <a:moveTo>
                  <a:pt x="38100" y="0"/>
                </a:moveTo>
                <a:lnTo>
                  <a:pt x="5467348" y="0"/>
                </a:lnTo>
                <a:cubicBezTo>
                  <a:pt x="5509433" y="0"/>
                  <a:pt x="5543550" y="34117"/>
                  <a:pt x="5543550" y="76202"/>
                </a:cubicBezTo>
                <a:lnTo>
                  <a:pt x="5543550" y="990598"/>
                </a:lnTo>
                <a:cubicBezTo>
                  <a:pt x="5543550" y="1032683"/>
                  <a:pt x="5509433" y="1066800"/>
                  <a:pt x="546734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6267450" y="2006601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38900" y="215900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6" name="Shape 14"/>
          <p:cNvSpPr/>
          <p:nvPr/>
        </p:nvSpPr>
        <p:spPr>
          <a:xfrm>
            <a:off x="6556772" y="2263776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E8E9EA"/>
          </a:solidFill>
          <a:ln/>
        </p:spPr>
      </p:sp>
      <p:sp>
        <p:nvSpPr>
          <p:cNvPr id="17" name="Text 15"/>
          <p:cNvSpPr/>
          <p:nvPr/>
        </p:nvSpPr>
        <p:spPr>
          <a:xfrm>
            <a:off x="6934200" y="2159001"/>
            <a:ext cx="481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Centralize Data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34200" y="2463801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Aggregate insurance claims data from disparate sources into a unified repository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67450" y="3225801"/>
            <a:ext cx="5543550" cy="838200"/>
          </a:xfrm>
          <a:custGeom>
            <a:avLst/>
            <a:gdLst/>
            <a:ahLst/>
            <a:cxnLst/>
            <a:rect l="l" t="t" r="r" b="b"/>
            <a:pathLst>
              <a:path w="5543550" h="838200">
                <a:moveTo>
                  <a:pt x="38100" y="0"/>
                </a:moveTo>
                <a:lnTo>
                  <a:pt x="5467349" y="0"/>
                </a:lnTo>
                <a:cubicBezTo>
                  <a:pt x="5509434" y="0"/>
                  <a:pt x="5543550" y="34116"/>
                  <a:pt x="5543550" y="76201"/>
                </a:cubicBezTo>
                <a:lnTo>
                  <a:pt x="5543550" y="761999"/>
                </a:lnTo>
                <a:cubicBezTo>
                  <a:pt x="5543550" y="804084"/>
                  <a:pt x="5509434" y="838200"/>
                  <a:pt x="54673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267450" y="3225801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21" name="Shape 19"/>
          <p:cNvSpPr/>
          <p:nvPr/>
        </p:nvSpPr>
        <p:spPr>
          <a:xfrm>
            <a:off x="6438900" y="337820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2" name="Shape 20"/>
          <p:cNvSpPr/>
          <p:nvPr/>
        </p:nvSpPr>
        <p:spPr>
          <a:xfrm>
            <a:off x="6546056" y="348297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42863" y="32147"/>
                </a:moveTo>
                <a:cubicBezTo>
                  <a:pt x="42863" y="26220"/>
                  <a:pt x="47651" y="21431"/>
                  <a:pt x="53578" y="21431"/>
                </a:cubicBezTo>
                <a:lnTo>
                  <a:pt x="117872" y="21431"/>
                </a:lnTo>
                <a:cubicBezTo>
                  <a:pt x="123799" y="21431"/>
                  <a:pt x="128588" y="26220"/>
                  <a:pt x="128588" y="32147"/>
                </a:cubicBezTo>
                <a:cubicBezTo>
                  <a:pt x="128588" y="38074"/>
                  <a:pt x="123799" y="42863"/>
                  <a:pt x="117872" y="42863"/>
                </a:cubicBezTo>
                <a:lnTo>
                  <a:pt x="53578" y="42863"/>
                </a:lnTo>
                <a:cubicBezTo>
                  <a:pt x="47651" y="42863"/>
                  <a:pt x="42863" y="38074"/>
                  <a:pt x="42863" y="32147"/>
                </a:cubicBezTo>
                <a:close/>
                <a:moveTo>
                  <a:pt x="53578" y="58936"/>
                </a:moveTo>
                <a:lnTo>
                  <a:pt x="96441" y="58936"/>
                </a:lnTo>
                <a:cubicBezTo>
                  <a:pt x="102368" y="58936"/>
                  <a:pt x="107156" y="63724"/>
                  <a:pt x="107156" y="69652"/>
                </a:cubicBezTo>
                <a:cubicBezTo>
                  <a:pt x="107156" y="75579"/>
                  <a:pt x="102368" y="80367"/>
                  <a:pt x="96441" y="80367"/>
                </a:cubicBezTo>
                <a:lnTo>
                  <a:pt x="53578" y="80367"/>
                </a:lnTo>
                <a:cubicBezTo>
                  <a:pt x="47651" y="80367"/>
                  <a:pt x="42863" y="75579"/>
                  <a:pt x="42863" y="69652"/>
                </a:cubicBezTo>
                <a:cubicBezTo>
                  <a:pt x="42863" y="63724"/>
                  <a:pt x="47651" y="58936"/>
                  <a:pt x="53578" y="58936"/>
                </a:cubicBezTo>
                <a:close/>
                <a:moveTo>
                  <a:pt x="53578" y="96441"/>
                </a:moveTo>
                <a:lnTo>
                  <a:pt x="139303" y="96441"/>
                </a:lnTo>
                <a:cubicBezTo>
                  <a:pt x="145230" y="96441"/>
                  <a:pt x="150019" y="101229"/>
                  <a:pt x="150019" y="107156"/>
                </a:cubicBezTo>
                <a:cubicBezTo>
                  <a:pt x="150019" y="113083"/>
                  <a:pt x="145230" y="117872"/>
                  <a:pt x="139303" y="117872"/>
                </a:cubicBezTo>
                <a:lnTo>
                  <a:pt x="53578" y="117872"/>
                </a:lnTo>
                <a:cubicBezTo>
                  <a:pt x="47651" y="117872"/>
                  <a:pt x="42863" y="113083"/>
                  <a:pt x="42863" y="107156"/>
                </a:cubicBezTo>
                <a:cubicBezTo>
                  <a:pt x="42863" y="101229"/>
                  <a:pt x="47651" y="96441"/>
                  <a:pt x="53578" y="96441"/>
                </a:cubicBezTo>
                <a:close/>
              </a:path>
            </a:pathLst>
          </a:custGeom>
          <a:solidFill>
            <a:srgbClr val="E8E9EA"/>
          </a:solidFill>
          <a:ln/>
        </p:spPr>
      </p:sp>
      <p:sp>
        <p:nvSpPr>
          <p:cNvPr id="23" name="Text 21"/>
          <p:cNvSpPr/>
          <p:nvPr/>
        </p:nvSpPr>
        <p:spPr>
          <a:xfrm>
            <a:off x="6934200" y="3378201"/>
            <a:ext cx="468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 Analytics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34200" y="3683001"/>
            <a:ext cx="4676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advanced analytics and BI reporting for data-driven decisions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67450" y="4216401"/>
            <a:ext cx="5543550" cy="1066800"/>
          </a:xfrm>
          <a:custGeom>
            <a:avLst/>
            <a:gdLst/>
            <a:ahLst/>
            <a:cxnLst/>
            <a:rect l="l" t="t" r="r" b="b"/>
            <a:pathLst>
              <a:path w="5543550" h="1066800">
                <a:moveTo>
                  <a:pt x="38100" y="0"/>
                </a:moveTo>
                <a:lnTo>
                  <a:pt x="5467348" y="0"/>
                </a:lnTo>
                <a:cubicBezTo>
                  <a:pt x="5509433" y="0"/>
                  <a:pt x="5543550" y="34117"/>
                  <a:pt x="5543550" y="76202"/>
                </a:cubicBezTo>
                <a:lnTo>
                  <a:pt x="5543550" y="990598"/>
                </a:lnTo>
                <a:cubicBezTo>
                  <a:pt x="5543550" y="1032683"/>
                  <a:pt x="5509433" y="1066800"/>
                  <a:pt x="5467348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267450" y="4216401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27" name="Shape 25"/>
          <p:cNvSpPr/>
          <p:nvPr/>
        </p:nvSpPr>
        <p:spPr>
          <a:xfrm>
            <a:off x="6438900" y="436880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8" name="Shape 26"/>
          <p:cNvSpPr/>
          <p:nvPr/>
        </p:nvSpPr>
        <p:spPr>
          <a:xfrm>
            <a:off x="6546056" y="447357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87265" y="0"/>
                  <a:pt x="88806" y="335"/>
                  <a:pt x="90212" y="971"/>
                </a:cubicBezTo>
                <a:lnTo>
                  <a:pt x="153300" y="27727"/>
                </a:lnTo>
                <a:cubicBezTo>
                  <a:pt x="160667" y="30841"/>
                  <a:pt x="166159" y="38107"/>
                  <a:pt x="166126" y="46881"/>
                </a:cubicBezTo>
                <a:cubicBezTo>
                  <a:pt x="165958" y="80099"/>
                  <a:pt x="152296" y="140877"/>
                  <a:pt x="94599" y="168503"/>
                </a:cubicBezTo>
                <a:cubicBezTo>
                  <a:pt x="89007" y="171182"/>
                  <a:pt x="82510" y="171182"/>
                  <a:pt x="76918" y="168503"/>
                </a:cubicBezTo>
                <a:cubicBezTo>
                  <a:pt x="19188" y="140877"/>
                  <a:pt x="5559" y="80099"/>
                  <a:pt x="5391" y="46881"/>
                </a:cubicBezTo>
                <a:cubicBezTo>
                  <a:pt x="5358" y="38107"/>
                  <a:pt x="10850" y="30841"/>
                  <a:pt x="18217" y="27727"/>
                </a:cubicBezTo>
                <a:lnTo>
                  <a:pt x="81271" y="971"/>
                </a:lnTo>
                <a:cubicBezTo>
                  <a:pt x="82678" y="335"/>
                  <a:pt x="84185" y="0"/>
                  <a:pt x="85725" y="0"/>
                </a:cubicBezTo>
                <a:close/>
                <a:moveTo>
                  <a:pt x="85725" y="22369"/>
                </a:moveTo>
                <a:lnTo>
                  <a:pt x="85725" y="148981"/>
                </a:lnTo>
                <a:cubicBezTo>
                  <a:pt x="131936" y="126612"/>
                  <a:pt x="144360" y="77052"/>
                  <a:pt x="144661" y="47383"/>
                </a:cubicBezTo>
                <a:lnTo>
                  <a:pt x="85725" y="22402"/>
                </a:lnTo>
                <a:lnTo>
                  <a:pt x="85725" y="22402"/>
                </a:lnTo>
                <a:close/>
              </a:path>
            </a:pathLst>
          </a:custGeom>
          <a:solidFill>
            <a:srgbClr val="E8E9EA"/>
          </a:solidFill>
          <a:ln/>
        </p:spPr>
      </p:sp>
      <p:sp>
        <p:nvSpPr>
          <p:cNvPr id="29" name="Text 27"/>
          <p:cNvSpPr/>
          <p:nvPr/>
        </p:nvSpPr>
        <p:spPr>
          <a:xfrm>
            <a:off x="6934200" y="4368801"/>
            <a:ext cx="481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 Fraud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34200" y="4673601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suspicious patterns and potential fraudulent claims automatically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67450" y="5435601"/>
            <a:ext cx="5543550" cy="838200"/>
          </a:xfrm>
          <a:custGeom>
            <a:avLst/>
            <a:gdLst/>
            <a:ahLst/>
            <a:cxnLst/>
            <a:rect l="l" t="t" r="r" b="b"/>
            <a:pathLst>
              <a:path w="5543550" h="838200">
                <a:moveTo>
                  <a:pt x="38100" y="0"/>
                </a:moveTo>
                <a:lnTo>
                  <a:pt x="5467349" y="0"/>
                </a:lnTo>
                <a:cubicBezTo>
                  <a:pt x="5509434" y="0"/>
                  <a:pt x="5543550" y="34116"/>
                  <a:pt x="5543550" y="76201"/>
                </a:cubicBezTo>
                <a:lnTo>
                  <a:pt x="5543550" y="761999"/>
                </a:lnTo>
                <a:cubicBezTo>
                  <a:pt x="5543550" y="804084"/>
                  <a:pt x="5509434" y="838200"/>
                  <a:pt x="5467349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267450" y="5435601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33" name="Shape 31"/>
          <p:cNvSpPr/>
          <p:nvPr/>
        </p:nvSpPr>
        <p:spPr>
          <a:xfrm>
            <a:off x="6438900" y="558800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4" name="Shape 32"/>
          <p:cNvSpPr/>
          <p:nvPr/>
        </p:nvSpPr>
        <p:spPr>
          <a:xfrm>
            <a:off x="6546056" y="5692776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96441" y="32147"/>
                </a:moveTo>
                <a:cubicBezTo>
                  <a:pt x="96441" y="26233"/>
                  <a:pt x="91639" y="21431"/>
                  <a:pt x="85725" y="21431"/>
                </a:cubicBezTo>
                <a:cubicBezTo>
                  <a:pt x="79811" y="21431"/>
                  <a:pt x="75009" y="26233"/>
                  <a:pt x="75009" y="32147"/>
                </a:cubicBezTo>
                <a:cubicBezTo>
                  <a:pt x="75009" y="38061"/>
                  <a:pt x="79811" y="42863"/>
                  <a:pt x="85725" y="42863"/>
                </a:cubicBezTo>
                <a:cubicBezTo>
                  <a:pt x="91639" y="42863"/>
                  <a:pt x="96441" y="38061"/>
                  <a:pt x="96441" y="32147"/>
                </a:cubicBezTo>
                <a:close/>
                <a:moveTo>
                  <a:pt x="85725" y="139303"/>
                </a:moveTo>
                <a:cubicBezTo>
                  <a:pt x="97546" y="139303"/>
                  <a:pt x="107156" y="129693"/>
                  <a:pt x="107156" y="117872"/>
                </a:cubicBezTo>
                <a:cubicBezTo>
                  <a:pt x="107156" y="112447"/>
                  <a:pt x="105147" y="107458"/>
                  <a:pt x="101798" y="103707"/>
                </a:cubicBezTo>
                <a:lnTo>
                  <a:pt x="125071" y="57195"/>
                </a:lnTo>
                <a:cubicBezTo>
                  <a:pt x="127047" y="53210"/>
                  <a:pt x="125440" y="48388"/>
                  <a:pt x="121488" y="46412"/>
                </a:cubicBezTo>
                <a:cubicBezTo>
                  <a:pt x="117537" y="44436"/>
                  <a:pt x="112681" y="46044"/>
                  <a:pt x="110706" y="49995"/>
                </a:cubicBezTo>
                <a:lnTo>
                  <a:pt x="87433" y="96508"/>
                </a:lnTo>
                <a:cubicBezTo>
                  <a:pt x="86864" y="96474"/>
                  <a:pt x="86294" y="96441"/>
                  <a:pt x="85725" y="96441"/>
                </a:cubicBezTo>
                <a:cubicBezTo>
                  <a:pt x="73904" y="96441"/>
                  <a:pt x="64294" y="106051"/>
                  <a:pt x="64294" y="117872"/>
                </a:cubicBezTo>
                <a:cubicBezTo>
                  <a:pt x="64294" y="129693"/>
                  <a:pt x="73904" y="139303"/>
                  <a:pt x="85725" y="139303"/>
                </a:cubicBezTo>
                <a:close/>
                <a:moveTo>
                  <a:pt x="58936" y="48220"/>
                </a:moveTo>
                <a:cubicBezTo>
                  <a:pt x="58936" y="42306"/>
                  <a:pt x="54134" y="37505"/>
                  <a:pt x="48220" y="37505"/>
                </a:cubicBezTo>
                <a:cubicBezTo>
                  <a:pt x="42306" y="37505"/>
                  <a:pt x="37505" y="42306"/>
                  <a:pt x="37505" y="48220"/>
                </a:cubicBezTo>
                <a:cubicBezTo>
                  <a:pt x="37505" y="54134"/>
                  <a:pt x="42306" y="58936"/>
                  <a:pt x="48220" y="58936"/>
                </a:cubicBezTo>
                <a:cubicBezTo>
                  <a:pt x="54134" y="58936"/>
                  <a:pt x="58936" y="54134"/>
                  <a:pt x="58936" y="48220"/>
                </a:cubicBezTo>
                <a:close/>
                <a:moveTo>
                  <a:pt x="32147" y="96441"/>
                </a:moveTo>
                <a:cubicBezTo>
                  <a:pt x="38061" y="96441"/>
                  <a:pt x="42863" y="91639"/>
                  <a:pt x="42863" y="85725"/>
                </a:cubicBezTo>
                <a:cubicBezTo>
                  <a:pt x="42863" y="79811"/>
                  <a:pt x="38061" y="75009"/>
                  <a:pt x="32147" y="75009"/>
                </a:cubicBezTo>
                <a:cubicBezTo>
                  <a:pt x="26233" y="75009"/>
                  <a:pt x="21431" y="79811"/>
                  <a:pt x="21431" y="85725"/>
                </a:cubicBezTo>
                <a:cubicBezTo>
                  <a:pt x="21431" y="91639"/>
                  <a:pt x="26233" y="96441"/>
                  <a:pt x="32147" y="96441"/>
                </a:cubicBezTo>
                <a:close/>
                <a:moveTo>
                  <a:pt x="150019" y="85725"/>
                </a:moveTo>
                <a:cubicBezTo>
                  <a:pt x="150019" y="79811"/>
                  <a:pt x="145217" y="75009"/>
                  <a:pt x="139303" y="75009"/>
                </a:cubicBezTo>
                <a:cubicBezTo>
                  <a:pt x="133389" y="75009"/>
                  <a:pt x="128588" y="79811"/>
                  <a:pt x="128588" y="85725"/>
                </a:cubicBezTo>
                <a:cubicBezTo>
                  <a:pt x="128588" y="91639"/>
                  <a:pt x="133389" y="96441"/>
                  <a:pt x="139303" y="96441"/>
                </a:cubicBezTo>
                <a:cubicBezTo>
                  <a:pt x="145217" y="96441"/>
                  <a:pt x="150019" y="91639"/>
                  <a:pt x="150019" y="85725"/>
                </a:cubicBezTo>
                <a:close/>
              </a:path>
            </a:pathLst>
          </a:custGeom>
          <a:solidFill>
            <a:srgbClr val="E8E9EA"/>
          </a:solidFill>
          <a:ln/>
        </p:spPr>
      </p:sp>
      <p:sp>
        <p:nvSpPr>
          <p:cNvPr id="35" name="Text 33"/>
          <p:cNvSpPr/>
          <p:nvPr/>
        </p:nvSpPr>
        <p:spPr>
          <a:xfrm>
            <a:off x="6934200" y="5588001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 KPIs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34200" y="5892801"/>
            <a:ext cx="475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real-time metrics for performance monitoring and optimization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175" y="384175"/>
            <a:ext cx="482600" cy="273050"/>
          </a:xfrm>
          <a:custGeom>
            <a:avLst/>
            <a:gdLst/>
            <a:ahLst/>
            <a:cxnLst/>
            <a:rect l="l" t="t" r="r" b="b"/>
            <a:pathLst>
              <a:path w="482600" h="273050">
                <a:moveTo>
                  <a:pt x="136525" y="0"/>
                </a:moveTo>
                <a:lnTo>
                  <a:pt x="346075" y="0"/>
                </a:lnTo>
                <a:cubicBezTo>
                  <a:pt x="421476" y="0"/>
                  <a:pt x="482600" y="61124"/>
                  <a:pt x="482600" y="136525"/>
                </a:cubicBezTo>
                <a:lnTo>
                  <a:pt x="482600" y="136525"/>
                </a:lnTo>
                <a:cubicBezTo>
                  <a:pt x="482600" y="211926"/>
                  <a:pt x="421476" y="273050"/>
                  <a:pt x="346075" y="273050"/>
                </a:cubicBezTo>
                <a:lnTo>
                  <a:pt x="136525" y="273050"/>
                </a:lnTo>
                <a:cubicBezTo>
                  <a:pt x="61175" y="273050"/>
                  <a:pt x="0" y="211875"/>
                  <a:pt x="0" y="136525"/>
                </a:cubicBezTo>
                <a:lnTo>
                  <a:pt x="0" y="136525"/>
                </a:lnTo>
                <a:cubicBezTo>
                  <a:pt x="0" y="61175"/>
                  <a:pt x="61175" y="0"/>
                  <a:pt x="136525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8467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750" y="425451"/>
            <a:ext cx="23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D8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74702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308102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 Schema Dimensional Modeling Approach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175" y="1806577"/>
            <a:ext cx="6369050" cy="4911725"/>
          </a:xfrm>
          <a:custGeom>
            <a:avLst/>
            <a:gdLst/>
            <a:ahLst/>
            <a:cxnLst/>
            <a:rect l="l" t="t" r="r" b="b"/>
            <a:pathLst>
              <a:path w="6369050" h="4911725">
                <a:moveTo>
                  <a:pt x="114296" y="0"/>
                </a:moveTo>
                <a:lnTo>
                  <a:pt x="6254754" y="0"/>
                </a:lnTo>
                <a:cubicBezTo>
                  <a:pt x="6317836" y="0"/>
                  <a:pt x="6369050" y="51214"/>
                  <a:pt x="6369050" y="114296"/>
                </a:cubicBezTo>
                <a:lnTo>
                  <a:pt x="6369050" y="4797429"/>
                </a:lnTo>
                <a:cubicBezTo>
                  <a:pt x="6369050" y="4860511"/>
                  <a:pt x="6317836" y="4911725"/>
                  <a:pt x="6254754" y="4911725"/>
                </a:cubicBezTo>
                <a:lnTo>
                  <a:pt x="114296" y="4911725"/>
                </a:lnTo>
                <a:cubicBezTo>
                  <a:pt x="51214" y="4911725"/>
                  <a:pt x="0" y="4860511"/>
                  <a:pt x="0" y="47974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8325" y="2038350"/>
            <a:ext cx="6000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Warehouse Schema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143" r="1143"/>
          <a:stretch/>
        </p:blipFill>
        <p:spPr>
          <a:xfrm>
            <a:off x="615950" y="2457450"/>
            <a:ext cx="5905500" cy="4029075"/>
          </a:xfrm>
          <a:prstGeom prst="roundRect">
            <a:avLst>
              <a:gd name="adj" fmla="val 0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7000875" y="1803402"/>
            <a:ext cx="4810125" cy="1943100"/>
          </a:xfrm>
          <a:custGeom>
            <a:avLst/>
            <a:gdLst/>
            <a:ahLst/>
            <a:cxnLst/>
            <a:rect l="l" t="t" r="r" b="b"/>
            <a:pathLst>
              <a:path w="4810125" h="1943100">
                <a:moveTo>
                  <a:pt x="38100" y="0"/>
                </a:moveTo>
                <a:lnTo>
                  <a:pt x="4733917" y="0"/>
                </a:lnTo>
                <a:cubicBezTo>
                  <a:pt x="4776005" y="0"/>
                  <a:pt x="4810125" y="34120"/>
                  <a:pt x="4810125" y="76208"/>
                </a:cubicBezTo>
                <a:lnTo>
                  <a:pt x="4810125" y="1866892"/>
                </a:lnTo>
                <a:cubicBezTo>
                  <a:pt x="4810125" y="1908980"/>
                  <a:pt x="4776005" y="1943100"/>
                  <a:pt x="4733917" y="1943100"/>
                </a:cubicBezTo>
                <a:lnTo>
                  <a:pt x="38100" y="1943100"/>
                </a:lnTo>
                <a:cubicBezTo>
                  <a:pt x="17072" y="1943100"/>
                  <a:pt x="0" y="1926028"/>
                  <a:pt x="0" y="1905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000875" y="1803402"/>
            <a:ext cx="38100" cy="1943100"/>
          </a:xfrm>
          <a:custGeom>
            <a:avLst/>
            <a:gdLst/>
            <a:ahLst/>
            <a:cxnLst/>
            <a:rect l="l" t="t" r="r" b="b"/>
            <a:pathLst>
              <a:path w="38100" h="1943100">
                <a:moveTo>
                  <a:pt x="38100" y="0"/>
                </a:moveTo>
                <a:lnTo>
                  <a:pt x="38100" y="0"/>
                </a:lnTo>
                <a:lnTo>
                  <a:pt x="38100" y="1943100"/>
                </a:lnTo>
                <a:lnTo>
                  <a:pt x="38100" y="1943100"/>
                </a:lnTo>
                <a:cubicBezTo>
                  <a:pt x="17072" y="1943100"/>
                  <a:pt x="0" y="1926028"/>
                  <a:pt x="0" y="1905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11" name="Shape 8"/>
          <p:cNvSpPr/>
          <p:nvPr/>
        </p:nvSpPr>
        <p:spPr>
          <a:xfrm>
            <a:off x="7185422" y="2003427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12" name="Text 9"/>
          <p:cNvSpPr/>
          <p:nvPr/>
        </p:nvSpPr>
        <p:spPr>
          <a:xfrm>
            <a:off x="7391400" y="1955802"/>
            <a:ext cx="4352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 Schema Benefits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196138" y="2336802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14" name="Text 11"/>
          <p:cNvSpPr/>
          <p:nvPr/>
        </p:nvSpPr>
        <p:spPr>
          <a:xfrm>
            <a:off x="7426127" y="2298702"/>
            <a:ext cx="4305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Query Performance:</a:t>
            </a:r>
            <a:r>
              <a:rPr lang="en-US" sz="120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Optimized for analytical queries with fewer joins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200900" y="2870202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16" name="Text 13"/>
          <p:cNvSpPr/>
          <p:nvPr/>
        </p:nvSpPr>
        <p:spPr>
          <a:xfrm>
            <a:off x="7434461" y="2832102"/>
            <a:ext cx="429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Simplicity:</a:t>
            </a:r>
            <a:r>
              <a:rPr lang="en-US" sz="120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Easy to understand and maintain dimensional structure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200900" y="3403602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18" name="Text 15"/>
          <p:cNvSpPr/>
          <p:nvPr/>
        </p:nvSpPr>
        <p:spPr>
          <a:xfrm>
            <a:off x="7439025" y="3365502"/>
            <a:ext cx="339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Scalability:</a:t>
            </a:r>
            <a:r>
              <a:rPr lang="en-US" sz="120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Efficient handling of large data volumes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985000" y="3902077"/>
            <a:ext cx="4826000" cy="1263650"/>
          </a:xfrm>
          <a:custGeom>
            <a:avLst/>
            <a:gdLst/>
            <a:ahLst/>
            <a:cxnLst/>
            <a:rect l="l" t="t" r="r" b="b"/>
            <a:pathLst>
              <a:path w="4826000" h="1263650">
                <a:moveTo>
                  <a:pt x="76198" y="0"/>
                </a:moveTo>
                <a:lnTo>
                  <a:pt x="4749802" y="0"/>
                </a:lnTo>
                <a:cubicBezTo>
                  <a:pt x="4791885" y="0"/>
                  <a:pt x="4826000" y="34115"/>
                  <a:pt x="4826000" y="76198"/>
                </a:cubicBezTo>
                <a:lnTo>
                  <a:pt x="4826000" y="1187452"/>
                </a:lnTo>
                <a:cubicBezTo>
                  <a:pt x="4826000" y="1229535"/>
                  <a:pt x="4791885" y="1263650"/>
                  <a:pt x="4749802" y="1263650"/>
                </a:cubicBezTo>
                <a:lnTo>
                  <a:pt x="76198" y="1263650"/>
                </a:lnTo>
                <a:cubicBezTo>
                  <a:pt x="34115" y="1263650"/>
                  <a:pt x="0" y="1229535"/>
                  <a:pt x="0" y="118745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40575" y="4057650"/>
            <a:ext cx="4600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Components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140575" y="44958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22" name="Text 19"/>
          <p:cNvSpPr/>
          <p:nvPr/>
        </p:nvSpPr>
        <p:spPr>
          <a:xfrm>
            <a:off x="7331075" y="4438650"/>
            <a:ext cx="828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Fact Table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9453563" y="44958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4" name="Text 21"/>
          <p:cNvSpPr/>
          <p:nvPr/>
        </p:nvSpPr>
        <p:spPr>
          <a:xfrm>
            <a:off x="9644063" y="4438650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Dimension Tables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140575" y="4838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26" name="Text 23"/>
          <p:cNvSpPr/>
          <p:nvPr/>
        </p:nvSpPr>
        <p:spPr>
          <a:xfrm>
            <a:off x="7331075" y="4781550"/>
            <a:ext cx="121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Foreign Key Links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9453563" y="48387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28" name="Text 25"/>
          <p:cNvSpPr/>
          <p:nvPr/>
        </p:nvSpPr>
        <p:spPr>
          <a:xfrm>
            <a:off x="9644063" y="4781550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 Views Layer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985000" y="5324476"/>
            <a:ext cx="4826000" cy="1397000"/>
          </a:xfrm>
          <a:custGeom>
            <a:avLst/>
            <a:gdLst/>
            <a:ahLst/>
            <a:cxnLst/>
            <a:rect l="l" t="t" r="r" b="b"/>
            <a:pathLst>
              <a:path w="4826000" h="1397000">
                <a:moveTo>
                  <a:pt x="76206" y="0"/>
                </a:moveTo>
                <a:lnTo>
                  <a:pt x="4749794" y="0"/>
                </a:lnTo>
                <a:cubicBezTo>
                  <a:pt x="4791881" y="0"/>
                  <a:pt x="4826000" y="34119"/>
                  <a:pt x="4826000" y="76206"/>
                </a:cubicBezTo>
                <a:lnTo>
                  <a:pt x="4826000" y="1320794"/>
                </a:lnTo>
                <a:cubicBezTo>
                  <a:pt x="4826000" y="1362881"/>
                  <a:pt x="4791881" y="1397000"/>
                  <a:pt x="4749794" y="1397000"/>
                </a:cubicBezTo>
                <a:lnTo>
                  <a:pt x="76206" y="1397000"/>
                </a:lnTo>
                <a:cubicBezTo>
                  <a:pt x="34119" y="1397000"/>
                  <a:pt x="0" y="1362881"/>
                  <a:pt x="0" y="1320794"/>
                </a:cubicBezTo>
                <a:lnTo>
                  <a:pt x="0" y="76206"/>
                </a:lnTo>
                <a:cubicBezTo>
                  <a:pt x="0" y="34119"/>
                  <a:pt x="34119" y="0"/>
                  <a:pt x="7620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140575" y="5480052"/>
            <a:ext cx="4600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Principle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140575" y="5822952"/>
            <a:ext cx="45910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star schema centralizes measurable business events in the fact table while surrounding dimensions provide rich descriptive context for analysis.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175" y="384175"/>
            <a:ext cx="482600" cy="273050"/>
          </a:xfrm>
          <a:custGeom>
            <a:avLst/>
            <a:gdLst/>
            <a:ahLst/>
            <a:cxnLst/>
            <a:rect l="l" t="t" r="r" b="b"/>
            <a:pathLst>
              <a:path w="482600" h="273050">
                <a:moveTo>
                  <a:pt x="136525" y="0"/>
                </a:moveTo>
                <a:lnTo>
                  <a:pt x="346075" y="0"/>
                </a:lnTo>
                <a:cubicBezTo>
                  <a:pt x="421476" y="0"/>
                  <a:pt x="482600" y="61124"/>
                  <a:pt x="482600" y="136525"/>
                </a:cubicBezTo>
                <a:lnTo>
                  <a:pt x="482600" y="136525"/>
                </a:lnTo>
                <a:cubicBezTo>
                  <a:pt x="482600" y="211926"/>
                  <a:pt x="421476" y="273050"/>
                  <a:pt x="346075" y="273050"/>
                </a:cubicBezTo>
                <a:lnTo>
                  <a:pt x="136525" y="273050"/>
                </a:lnTo>
                <a:cubicBezTo>
                  <a:pt x="61175" y="273050"/>
                  <a:pt x="0" y="211875"/>
                  <a:pt x="0" y="136525"/>
                </a:cubicBezTo>
                <a:lnTo>
                  <a:pt x="0" y="136525"/>
                </a:lnTo>
                <a:cubicBezTo>
                  <a:pt x="0" y="61175"/>
                  <a:pt x="61175" y="0"/>
                  <a:pt x="136525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8467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750" y="425451"/>
            <a:ext cx="23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D8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74702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Model: Dimension Tables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308102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Descriptive Context for Business Analysis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803402"/>
            <a:ext cx="5600700" cy="1485900"/>
          </a:xfrm>
          <a:custGeom>
            <a:avLst/>
            <a:gdLst/>
            <a:ahLst/>
            <a:cxnLst/>
            <a:rect l="l" t="t" r="r" b="b"/>
            <a:pathLst>
              <a:path w="5600700" h="1485900">
                <a:moveTo>
                  <a:pt x="38100" y="0"/>
                </a:moveTo>
                <a:lnTo>
                  <a:pt x="5524503" y="0"/>
                </a:lnTo>
                <a:cubicBezTo>
                  <a:pt x="5566585" y="0"/>
                  <a:pt x="5600700" y="34115"/>
                  <a:pt x="5600700" y="76197"/>
                </a:cubicBezTo>
                <a:lnTo>
                  <a:pt x="5600700" y="1409703"/>
                </a:lnTo>
                <a:cubicBezTo>
                  <a:pt x="5600700" y="1451785"/>
                  <a:pt x="5566585" y="1485900"/>
                  <a:pt x="5524503" y="1485900"/>
                </a:cubicBez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803402"/>
            <a:ext cx="38100" cy="1485900"/>
          </a:xfrm>
          <a:custGeom>
            <a:avLst/>
            <a:gdLst/>
            <a:ahLst/>
            <a:cxnLst/>
            <a:rect l="l" t="t" r="r" b="b"/>
            <a:pathLst>
              <a:path w="38100" h="1485900">
                <a:moveTo>
                  <a:pt x="38100" y="0"/>
                </a:moveTo>
                <a:lnTo>
                  <a:pt x="38100" y="0"/>
                </a:lnTo>
                <a:lnTo>
                  <a:pt x="38100" y="1485900"/>
                </a:ln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" y="19939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9" name="Shape 7"/>
          <p:cNvSpPr/>
          <p:nvPr/>
        </p:nvSpPr>
        <p:spPr>
          <a:xfrm>
            <a:off x="695325" y="2098677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5358"/>
                </a:moveTo>
                <a:cubicBezTo>
                  <a:pt x="126377" y="5358"/>
                  <a:pt x="141982" y="20963"/>
                  <a:pt x="141982" y="40184"/>
                </a:cubicBezTo>
                <a:cubicBezTo>
                  <a:pt x="141982" y="59404"/>
                  <a:pt x="126377" y="75009"/>
                  <a:pt x="107156" y="75009"/>
                </a:cubicBezTo>
                <a:cubicBezTo>
                  <a:pt x="87935" y="75009"/>
                  <a:pt x="72330" y="59404"/>
                  <a:pt x="72330" y="40184"/>
                </a:cubicBezTo>
                <a:cubicBezTo>
                  <a:pt x="72330" y="20963"/>
                  <a:pt x="87935" y="5358"/>
                  <a:pt x="107156" y="5358"/>
                </a:cubicBezTo>
                <a:close/>
                <a:moveTo>
                  <a:pt x="32147" y="29468"/>
                </a:moveTo>
                <a:cubicBezTo>
                  <a:pt x="45454" y="29468"/>
                  <a:pt x="56257" y="40271"/>
                  <a:pt x="56257" y="53578"/>
                </a:cubicBezTo>
                <a:cubicBezTo>
                  <a:pt x="56257" y="66885"/>
                  <a:pt x="45454" y="77688"/>
                  <a:pt x="32147" y="77688"/>
                </a:cubicBezTo>
                <a:cubicBezTo>
                  <a:pt x="18840" y="77688"/>
                  <a:pt x="8037" y="66885"/>
                  <a:pt x="8037" y="53578"/>
                </a:cubicBezTo>
                <a:cubicBezTo>
                  <a:pt x="8037" y="40271"/>
                  <a:pt x="18840" y="29468"/>
                  <a:pt x="32147" y="29468"/>
                </a:cubicBezTo>
                <a:close/>
                <a:moveTo>
                  <a:pt x="0" y="139303"/>
                </a:moveTo>
                <a:cubicBezTo>
                  <a:pt x="0" y="115628"/>
                  <a:pt x="19188" y="96441"/>
                  <a:pt x="42863" y="96441"/>
                </a:cubicBezTo>
                <a:cubicBezTo>
                  <a:pt x="47149" y="96441"/>
                  <a:pt x="51301" y="97077"/>
                  <a:pt x="55219" y="98249"/>
                </a:cubicBezTo>
                <a:cubicBezTo>
                  <a:pt x="44202" y="110572"/>
                  <a:pt x="37505" y="126846"/>
                  <a:pt x="37505" y="144661"/>
                </a:cubicBezTo>
                <a:lnTo>
                  <a:pt x="37505" y="150019"/>
                </a:lnTo>
                <a:cubicBezTo>
                  <a:pt x="37505" y="153836"/>
                  <a:pt x="38308" y="157453"/>
                  <a:pt x="39748" y="160734"/>
                </a:cubicBezTo>
                <a:lnTo>
                  <a:pt x="10716" y="160734"/>
                </a:lnTo>
                <a:cubicBezTo>
                  <a:pt x="4789" y="160734"/>
                  <a:pt x="0" y="155946"/>
                  <a:pt x="0" y="150019"/>
                </a:cubicBezTo>
                <a:lnTo>
                  <a:pt x="0" y="139303"/>
                </a:lnTo>
                <a:close/>
                <a:moveTo>
                  <a:pt x="174564" y="160734"/>
                </a:moveTo>
                <a:cubicBezTo>
                  <a:pt x="176004" y="157453"/>
                  <a:pt x="176808" y="153836"/>
                  <a:pt x="176808" y="150019"/>
                </a:cubicBezTo>
                <a:lnTo>
                  <a:pt x="176808" y="144661"/>
                </a:lnTo>
                <a:cubicBezTo>
                  <a:pt x="176808" y="126846"/>
                  <a:pt x="170111" y="110572"/>
                  <a:pt x="159094" y="98249"/>
                </a:cubicBezTo>
                <a:cubicBezTo>
                  <a:pt x="163011" y="97077"/>
                  <a:pt x="167164" y="96441"/>
                  <a:pt x="171450" y="96441"/>
                </a:cubicBezTo>
                <a:cubicBezTo>
                  <a:pt x="195125" y="96441"/>
                  <a:pt x="214313" y="115628"/>
                  <a:pt x="214313" y="139303"/>
                </a:cubicBezTo>
                <a:lnTo>
                  <a:pt x="214313" y="150019"/>
                </a:lnTo>
                <a:cubicBezTo>
                  <a:pt x="214313" y="155946"/>
                  <a:pt x="209524" y="160734"/>
                  <a:pt x="203597" y="160734"/>
                </a:cubicBezTo>
                <a:lnTo>
                  <a:pt x="174564" y="160734"/>
                </a:lnTo>
                <a:close/>
                <a:moveTo>
                  <a:pt x="158055" y="53578"/>
                </a:moveTo>
                <a:cubicBezTo>
                  <a:pt x="158055" y="40271"/>
                  <a:pt x="168859" y="29468"/>
                  <a:pt x="182166" y="29468"/>
                </a:cubicBezTo>
                <a:cubicBezTo>
                  <a:pt x="195472" y="29468"/>
                  <a:pt x="206276" y="40271"/>
                  <a:pt x="206276" y="53578"/>
                </a:cubicBezTo>
                <a:cubicBezTo>
                  <a:pt x="206276" y="66885"/>
                  <a:pt x="195472" y="77688"/>
                  <a:pt x="182166" y="77688"/>
                </a:cubicBezTo>
                <a:cubicBezTo>
                  <a:pt x="168859" y="77688"/>
                  <a:pt x="158055" y="66885"/>
                  <a:pt x="158055" y="53578"/>
                </a:cubicBezTo>
                <a:close/>
                <a:moveTo>
                  <a:pt x="53578" y="144661"/>
                </a:moveTo>
                <a:cubicBezTo>
                  <a:pt x="53578" y="115059"/>
                  <a:pt x="77554" y="91083"/>
                  <a:pt x="107156" y="91083"/>
                </a:cubicBezTo>
                <a:cubicBezTo>
                  <a:pt x="136758" y="91083"/>
                  <a:pt x="160734" y="115059"/>
                  <a:pt x="160734" y="144661"/>
                </a:cubicBezTo>
                <a:lnTo>
                  <a:pt x="160734" y="150019"/>
                </a:lnTo>
                <a:cubicBezTo>
                  <a:pt x="160734" y="155946"/>
                  <a:pt x="155946" y="160734"/>
                  <a:pt x="150019" y="160734"/>
                </a:cubicBezTo>
                <a:lnTo>
                  <a:pt x="64294" y="160734"/>
                </a:lnTo>
                <a:cubicBezTo>
                  <a:pt x="58367" y="160734"/>
                  <a:pt x="53578" y="155946"/>
                  <a:pt x="53578" y="150019"/>
                </a:cubicBezTo>
                <a:lnTo>
                  <a:pt x="53578" y="144661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0" name="Text 8"/>
          <p:cNvSpPr/>
          <p:nvPr/>
        </p:nvSpPr>
        <p:spPr>
          <a:xfrm>
            <a:off x="1104900" y="2051052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Dim_Customer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489202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demographics and attributes for segmentation analysis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600" y="2832102"/>
            <a:ext cx="447675" cy="266700"/>
          </a:xfrm>
          <a:custGeom>
            <a:avLst/>
            <a:gdLst/>
            <a:ahLst/>
            <a:cxnLst/>
            <a:rect l="l" t="t" r="r" b="b"/>
            <a:pathLst>
              <a:path w="447675" h="266700">
                <a:moveTo>
                  <a:pt x="133350" y="0"/>
                </a:moveTo>
                <a:lnTo>
                  <a:pt x="314325" y="0"/>
                </a:lnTo>
                <a:cubicBezTo>
                  <a:pt x="387923" y="0"/>
                  <a:pt x="447675" y="59752"/>
                  <a:pt x="447675" y="133350"/>
                </a:cubicBezTo>
                <a:lnTo>
                  <a:pt x="447675" y="133350"/>
                </a:lnTo>
                <a:cubicBezTo>
                  <a:pt x="447675" y="206948"/>
                  <a:pt x="387923" y="266700"/>
                  <a:pt x="3143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09600" y="2832102"/>
            <a:ext cx="5143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36749" y="2832102"/>
            <a:ext cx="657225" cy="266700"/>
          </a:xfrm>
          <a:custGeom>
            <a:avLst/>
            <a:gdLst/>
            <a:ahLst/>
            <a:cxnLst/>
            <a:rect l="l" t="t" r="r" b="b"/>
            <a:pathLst>
              <a:path w="657225" h="266700">
                <a:moveTo>
                  <a:pt x="133350" y="0"/>
                </a:moveTo>
                <a:lnTo>
                  <a:pt x="523875" y="0"/>
                </a:lnTo>
                <a:cubicBezTo>
                  <a:pt x="597473" y="0"/>
                  <a:pt x="657225" y="59752"/>
                  <a:pt x="657225" y="133350"/>
                </a:cubicBezTo>
                <a:lnTo>
                  <a:pt x="657225" y="133350"/>
                </a:lnTo>
                <a:cubicBezTo>
                  <a:pt x="657225" y="206948"/>
                  <a:pt x="597473" y="266700"/>
                  <a:pt x="5238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136749" y="2832102"/>
            <a:ext cx="7239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Gender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866007" y="2832102"/>
            <a:ext cx="857250" cy="266700"/>
          </a:xfrm>
          <a:custGeom>
            <a:avLst/>
            <a:gdLst/>
            <a:ahLst/>
            <a:cxnLst/>
            <a:rect l="l" t="t" r="r" b="b"/>
            <a:pathLst>
              <a:path w="857250" h="266700">
                <a:moveTo>
                  <a:pt x="133350" y="0"/>
                </a:moveTo>
                <a:lnTo>
                  <a:pt x="723900" y="0"/>
                </a:lnTo>
                <a:cubicBezTo>
                  <a:pt x="797498" y="0"/>
                  <a:pt x="857250" y="59752"/>
                  <a:pt x="857250" y="133350"/>
                </a:cubicBezTo>
                <a:lnTo>
                  <a:pt x="857250" y="133350"/>
                </a:lnTo>
                <a:cubicBezTo>
                  <a:pt x="857250" y="206948"/>
                  <a:pt x="797498" y="266700"/>
                  <a:pt x="7239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866007" y="2832102"/>
            <a:ext cx="9239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Profile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98366" y="2832102"/>
            <a:ext cx="723900" cy="266700"/>
          </a:xfrm>
          <a:custGeom>
            <a:avLst/>
            <a:gdLst/>
            <a:ahLst/>
            <a:cxnLst/>
            <a:rect l="l" t="t" r="r" b="b"/>
            <a:pathLst>
              <a:path w="723900" h="266700">
                <a:moveTo>
                  <a:pt x="133350" y="0"/>
                </a:moveTo>
                <a:lnTo>
                  <a:pt x="590550" y="0"/>
                </a:lnTo>
                <a:cubicBezTo>
                  <a:pt x="664148" y="0"/>
                  <a:pt x="723900" y="59752"/>
                  <a:pt x="723900" y="133350"/>
                </a:cubicBezTo>
                <a:lnTo>
                  <a:pt x="723900" y="133350"/>
                </a:lnTo>
                <a:cubicBezTo>
                  <a:pt x="723900" y="206948"/>
                  <a:pt x="664148" y="266700"/>
                  <a:pt x="5905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798366" y="2832102"/>
            <a:ext cx="7905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95291" y="2832102"/>
            <a:ext cx="628650" cy="266700"/>
          </a:xfrm>
          <a:custGeom>
            <a:avLst/>
            <a:gdLst/>
            <a:ahLst/>
            <a:cxnLst/>
            <a:rect l="l" t="t" r="r" b="b"/>
            <a:pathLst>
              <a:path w="628650" h="266700">
                <a:moveTo>
                  <a:pt x="133350" y="0"/>
                </a:moveTo>
                <a:lnTo>
                  <a:pt x="495300" y="0"/>
                </a:lnTo>
                <a:cubicBezTo>
                  <a:pt x="568898" y="0"/>
                  <a:pt x="628650" y="59752"/>
                  <a:pt x="628650" y="133350"/>
                </a:cubicBezTo>
                <a:lnTo>
                  <a:pt x="628650" y="133350"/>
                </a:lnTo>
                <a:cubicBezTo>
                  <a:pt x="628650" y="206948"/>
                  <a:pt x="568898" y="266700"/>
                  <a:pt x="4953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595291" y="2832102"/>
            <a:ext cx="6953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Tenure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0300" y="1803402"/>
            <a:ext cx="5600700" cy="1485900"/>
          </a:xfrm>
          <a:custGeom>
            <a:avLst/>
            <a:gdLst/>
            <a:ahLst/>
            <a:cxnLst/>
            <a:rect l="l" t="t" r="r" b="b"/>
            <a:pathLst>
              <a:path w="5600700" h="1485900">
                <a:moveTo>
                  <a:pt x="38100" y="0"/>
                </a:moveTo>
                <a:lnTo>
                  <a:pt x="5524503" y="0"/>
                </a:lnTo>
                <a:cubicBezTo>
                  <a:pt x="5566585" y="0"/>
                  <a:pt x="5600700" y="34115"/>
                  <a:pt x="5600700" y="76197"/>
                </a:cubicBezTo>
                <a:lnTo>
                  <a:pt x="5600700" y="1409703"/>
                </a:lnTo>
                <a:cubicBezTo>
                  <a:pt x="5600700" y="1451785"/>
                  <a:pt x="5566585" y="1485900"/>
                  <a:pt x="5524503" y="1485900"/>
                </a:cubicBez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210300" y="1803402"/>
            <a:ext cx="38100" cy="1485900"/>
          </a:xfrm>
          <a:custGeom>
            <a:avLst/>
            <a:gdLst/>
            <a:ahLst/>
            <a:cxnLst/>
            <a:rect l="l" t="t" r="r" b="b"/>
            <a:pathLst>
              <a:path w="38100" h="1485900">
                <a:moveTo>
                  <a:pt x="38100" y="0"/>
                </a:moveTo>
                <a:lnTo>
                  <a:pt x="38100" y="0"/>
                </a:lnTo>
                <a:lnTo>
                  <a:pt x="38100" y="1485900"/>
                </a:ln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24" name="Shape 22"/>
          <p:cNvSpPr/>
          <p:nvPr/>
        </p:nvSpPr>
        <p:spPr>
          <a:xfrm>
            <a:off x="6419850" y="19939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25" name="Shape 23"/>
          <p:cNvSpPr/>
          <p:nvPr/>
        </p:nvSpPr>
        <p:spPr>
          <a:xfrm>
            <a:off x="6537722" y="2098677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75009" y="83046"/>
                </a:moveTo>
                <a:cubicBezTo>
                  <a:pt x="52831" y="83046"/>
                  <a:pt x="34826" y="65040"/>
                  <a:pt x="34826" y="42863"/>
                </a:cubicBezTo>
                <a:cubicBezTo>
                  <a:pt x="34826" y="20685"/>
                  <a:pt x="52831" y="2679"/>
                  <a:pt x="75009" y="2679"/>
                </a:cubicBezTo>
                <a:cubicBezTo>
                  <a:pt x="97187" y="2679"/>
                  <a:pt x="115193" y="20685"/>
                  <a:pt x="115193" y="42862"/>
                </a:cubicBezTo>
                <a:cubicBezTo>
                  <a:pt x="115193" y="65040"/>
                  <a:pt x="97187" y="83046"/>
                  <a:pt x="75009" y="83046"/>
                </a:cubicBezTo>
                <a:close/>
                <a:moveTo>
                  <a:pt x="64796" y="101798"/>
                </a:moveTo>
                <a:lnTo>
                  <a:pt x="85223" y="101798"/>
                </a:lnTo>
                <a:cubicBezTo>
                  <a:pt x="88471" y="101798"/>
                  <a:pt x="91083" y="104410"/>
                  <a:pt x="91083" y="107659"/>
                </a:cubicBezTo>
                <a:cubicBezTo>
                  <a:pt x="91083" y="109065"/>
                  <a:pt x="90581" y="110404"/>
                  <a:pt x="89676" y="111476"/>
                </a:cubicBezTo>
                <a:lnTo>
                  <a:pt x="80501" y="122192"/>
                </a:lnTo>
                <a:lnTo>
                  <a:pt x="90882" y="160734"/>
                </a:lnTo>
                <a:lnTo>
                  <a:pt x="91083" y="160734"/>
                </a:lnTo>
                <a:lnTo>
                  <a:pt x="102669" y="114356"/>
                </a:lnTo>
                <a:cubicBezTo>
                  <a:pt x="103406" y="111443"/>
                  <a:pt x="106386" y="109668"/>
                  <a:pt x="109199" y="110739"/>
                </a:cubicBezTo>
                <a:cubicBezTo>
                  <a:pt x="129927" y="118642"/>
                  <a:pt x="144661" y="138734"/>
                  <a:pt x="144661" y="162241"/>
                </a:cubicBezTo>
                <a:cubicBezTo>
                  <a:pt x="144661" y="167298"/>
                  <a:pt x="140542" y="171417"/>
                  <a:pt x="135486" y="171417"/>
                </a:cubicBezTo>
                <a:lnTo>
                  <a:pt x="14533" y="171450"/>
                </a:lnTo>
                <a:cubicBezTo>
                  <a:pt x="9477" y="171450"/>
                  <a:pt x="5358" y="167331"/>
                  <a:pt x="5358" y="162275"/>
                </a:cubicBezTo>
                <a:cubicBezTo>
                  <a:pt x="5358" y="138767"/>
                  <a:pt x="20092" y="118676"/>
                  <a:pt x="40820" y="110773"/>
                </a:cubicBezTo>
                <a:cubicBezTo>
                  <a:pt x="43633" y="109701"/>
                  <a:pt x="46613" y="111476"/>
                  <a:pt x="47350" y="114389"/>
                </a:cubicBezTo>
                <a:lnTo>
                  <a:pt x="58936" y="160768"/>
                </a:lnTo>
                <a:lnTo>
                  <a:pt x="59137" y="160768"/>
                </a:lnTo>
                <a:lnTo>
                  <a:pt x="69518" y="122225"/>
                </a:lnTo>
                <a:lnTo>
                  <a:pt x="60342" y="111509"/>
                </a:lnTo>
                <a:cubicBezTo>
                  <a:pt x="59438" y="110438"/>
                  <a:pt x="58936" y="109098"/>
                  <a:pt x="58936" y="107692"/>
                </a:cubicBezTo>
                <a:cubicBezTo>
                  <a:pt x="58936" y="104444"/>
                  <a:pt x="61548" y="101832"/>
                  <a:pt x="64796" y="101832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6" name="Text 24"/>
          <p:cNvSpPr/>
          <p:nvPr/>
        </p:nvSpPr>
        <p:spPr>
          <a:xfrm>
            <a:off x="6915150" y="2051052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Dim_Agent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19850" y="2489202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Insurance agent information for performance tracking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19850" y="2832102"/>
            <a:ext cx="942975" cy="266700"/>
          </a:xfrm>
          <a:custGeom>
            <a:avLst/>
            <a:gdLst/>
            <a:ahLst/>
            <a:cxnLst/>
            <a:rect l="l" t="t" r="r" b="b"/>
            <a:pathLst>
              <a:path w="942975" h="266700">
                <a:moveTo>
                  <a:pt x="133350" y="0"/>
                </a:moveTo>
                <a:lnTo>
                  <a:pt x="809625" y="0"/>
                </a:lnTo>
                <a:cubicBezTo>
                  <a:pt x="883223" y="0"/>
                  <a:pt x="942975" y="59752"/>
                  <a:pt x="942975" y="133350"/>
                </a:cubicBezTo>
                <a:lnTo>
                  <a:pt x="942975" y="133350"/>
                </a:lnTo>
                <a:cubicBezTo>
                  <a:pt x="942975" y="206948"/>
                  <a:pt x="883223" y="266700"/>
                  <a:pt x="8096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419850" y="2832102"/>
            <a:ext cx="10096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Name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437834" y="2832102"/>
            <a:ext cx="914400" cy="266700"/>
          </a:xfrm>
          <a:custGeom>
            <a:avLst/>
            <a:gdLst/>
            <a:ahLst/>
            <a:cxnLst/>
            <a:rect l="l" t="t" r="r" b="b"/>
            <a:pathLst>
              <a:path w="914400" h="266700">
                <a:moveTo>
                  <a:pt x="133350" y="0"/>
                </a:moveTo>
                <a:lnTo>
                  <a:pt x="781050" y="0"/>
                </a:lnTo>
                <a:cubicBezTo>
                  <a:pt x="854648" y="0"/>
                  <a:pt x="914400" y="59752"/>
                  <a:pt x="914400" y="133350"/>
                </a:cubicBezTo>
                <a:lnTo>
                  <a:pt x="914400" y="133350"/>
                </a:lnTo>
                <a:cubicBezTo>
                  <a:pt x="914400" y="206948"/>
                  <a:pt x="854648" y="266700"/>
                  <a:pt x="7810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437834" y="2832102"/>
            <a:ext cx="9810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Joining Date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430816" y="2832102"/>
            <a:ext cx="628650" cy="266700"/>
          </a:xfrm>
          <a:custGeom>
            <a:avLst/>
            <a:gdLst/>
            <a:ahLst/>
            <a:cxnLst/>
            <a:rect l="l" t="t" r="r" b="b"/>
            <a:pathLst>
              <a:path w="628650" h="266700">
                <a:moveTo>
                  <a:pt x="133350" y="0"/>
                </a:moveTo>
                <a:lnTo>
                  <a:pt x="495300" y="0"/>
                </a:lnTo>
                <a:cubicBezTo>
                  <a:pt x="568898" y="0"/>
                  <a:pt x="628650" y="59752"/>
                  <a:pt x="628650" y="133350"/>
                </a:cubicBezTo>
                <a:lnTo>
                  <a:pt x="628650" y="133350"/>
                </a:lnTo>
                <a:cubicBezTo>
                  <a:pt x="628650" y="206948"/>
                  <a:pt x="568898" y="266700"/>
                  <a:pt x="4953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430816" y="2832102"/>
            <a:ext cx="6953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Tenure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137452" y="2832102"/>
            <a:ext cx="723900" cy="266700"/>
          </a:xfrm>
          <a:custGeom>
            <a:avLst/>
            <a:gdLst/>
            <a:ahLst/>
            <a:cxnLst/>
            <a:rect l="l" t="t" r="r" b="b"/>
            <a:pathLst>
              <a:path w="723900" h="266700">
                <a:moveTo>
                  <a:pt x="133350" y="0"/>
                </a:moveTo>
                <a:lnTo>
                  <a:pt x="590550" y="0"/>
                </a:lnTo>
                <a:cubicBezTo>
                  <a:pt x="664148" y="0"/>
                  <a:pt x="723900" y="59752"/>
                  <a:pt x="723900" y="133350"/>
                </a:cubicBezTo>
                <a:lnTo>
                  <a:pt x="723900" y="133350"/>
                </a:lnTo>
                <a:cubicBezTo>
                  <a:pt x="723900" y="206948"/>
                  <a:pt x="664148" y="266700"/>
                  <a:pt x="5905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9137452" y="2832102"/>
            <a:ext cx="7905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00050" y="3479802"/>
            <a:ext cx="5600700" cy="1485900"/>
          </a:xfrm>
          <a:custGeom>
            <a:avLst/>
            <a:gdLst/>
            <a:ahLst/>
            <a:cxnLst/>
            <a:rect l="l" t="t" r="r" b="b"/>
            <a:pathLst>
              <a:path w="5600700" h="1485900">
                <a:moveTo>
                  <a:pt x="38100" y="0"/>
                </a:moveTo>
                <a:lnTo>
                  <a:pt x="5524503" y="0"/>
                </a:lnTo>
                <a:cubicBezTo>
                  <a:pt x="5566585" y="0"/>
                  <a:pt x="5600700" y="34115"/>
                  <a:pt x="5600700" y="76197"/>
                </a:cubicBezTo>
                <a:lnTo>
                  <a:pt x="5600700" y="1409703"/>
                </a:lnTo>
                <a:cubicBezTo>
                  <a:pt x="5600700" y="1451785"/>
                  <a:pt x="5566585" y="1485900"/>
                  <a:pt x="5524503" y="1485900"/>
                </a:cubicBez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00050" y="3479802"/>
            <a:ext cx="38100" cy="1485900"/>
          </a:xfrm>
          <a:custGeom>
            <a:avLst/>
            <a:gdLst/>
            <a:ahLst/>
            <a:cxnLst/>
            <a:rect l="l" t="t" r="r" b="b"/>
            <a:pathLst>
              <a:path w="38100" h="1485900">
                <a:moveTo>
                  <a:pt x="38100" y="0"/>
                </a:moveTo>
                <a:lnTo>
                  <a:pt x="38100" y="0"/>
                </a:lnTo>
                <a:lnTo>
                  <a:pt x="38100" y="1485900"/>
                </a:ln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38" name="Shape 36"/>
          <p:cNvSpPr/>
          <p:nvPr/>
        </p:nvSpPr>
        <p:spPr>
          <a:xfrm>
            <a:off x="609600" y="36703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39" name="Shape 37"/>
          <p:cNvSpPr/>
          <p:nvPr/>
        </p:nvSpPr>
        <p:spPr>
          <a:xfrm>
            <a:off x="706041" y="3775077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90045" y="28530"/>
                </a:moveTo>
                <a:lnTo>
                  <a:pt x="51000" y="71929"/>
                </a:lnTo>
                <a:cubicBezTo>
                  <a:pt x="49459" y="73636"/>
                  <a:pt x="49526" y="76282"/>
                  <a:pt x="51167" y="77923"/>
                </a:cubicBezTo>
                <a:cubicBezTo>
                  <a:pt x="61380" y="88136"/>
                  <a:pt x="77956" y="88136"/>
                  <a:pt x="88170" y="77923"/>
                </a:cubicBezTo>
                <a:lnTo>
                  <a:pt x="98818" y="67274"/>
                </a:lnTo>
                <a:cubicBezTo>
                  <a:pt x="100225" y="65868"/>
                  <a:pt x="101999" y="65097"/>
                  <a:pt x="103808" y="64963"/>
                </a:cubicBezTo>
                <a:cubicBezTo>
                  <a:pt x="106085" y="64763"/>
                  <a:pt x="108429" y="65533"/>
                  <a:pt x="110170" y="67274"/>
                </a:cubicBezTo>
                <a:lnTo>
                  <a:pt x="169307" y="125909"/>
                </a:lnTo>
                <a:lnTo>
                  <a:pt x="192881" y="107156"/>
                </a:lnTo>
                <a:lnTo>
                  <a:pt x="192881" y="10716"/>
                </a:lnTo>
                <a:lnTo>
                  <a:pt x="155377" y="32147"/>
                </a:lnTo>
                <a:lnTo>
                  <a:pt x="147407" y="26823"/>
                </a:lnTo>
                <a:cubicBezTo>
                  <a:pt x="142116" y="23306"/>
                  <a:pt x="135921" y="21431"/>
                  <a:pt x="129559" y="21431"/>
                </a:cubicBezTo>
                <a:lnTo>
                  <a:pt x="105984" y="21431"/>
                </a:lnTo>
                <a:cubicBezTo>
                  <a:pt x="105616" y="21431"/>
                  <a:pt x="105214" y="21431"/>
                  <a:pt x="104846" y="21465"/>
                </a:cubicBezTo>
                <a:cubicBezTo>
                  <a:pt x="99187" y="21766"/>
                  <a:pt x="93862" y="24311"/>
                  <a:pt x="90045" y="28530"/>
                </a:cubicBezTo>
                <a:close/>
                <a:moveTo>
                  <a:pt x="39045" y="61180"/>
                </a:moveTo>
                <a:lnTo>
                  <a:pt x="74808" y="21431"/>
                </a:lnTo>
                <a:lnTo>
                  <a:pt x="61548" y="21431"/>
                </a:lnTo>
                <a:cubicBezTo>
                  <a:pt x="53009" y="21431"/>
                  <a:pt x="44838" y="24813"/>
                  <a:pt x="38811" y="30841"/>
                </a:cubicBezTo>
                <a:lnTo>
                  <a:pt x="37505" y="32147"/>
                </a:lnTo>
                <a:lnTo>
                  <a:pt x="0" y="10716"/>
                </a:lnTo>
                <a:lnTo>
                  <a:pt x="0" y="107156"/>
                </a:lnTo>
                <a:lnTo>
                  <a:pt x="52373" y="150789"/>
                </a:lnTo>
                <a:cubicBezTo>
                  <a:pt x="60074" y="157218"/>
                  <a:pt x="69786" y="160734"/>
                  <a:pt x="79798" y="160734"/>
                </a:cubicBezTo>
                <a:lnTo>
                  <a:pt x="85055" y="160734"/>
                </a:lnTo>
                <a:lnTo>
                  <a:pt x="82711" y="158390"/>
                </a:lnTo>
                <a:cubicBezTo>
                  <a:pt x="79564" y="155243"/>
                  <a:pt x="79564" y="150153"/>
                  <a:pt x="82711" y="147038"/>
                </a:cubicBezTo>
                <a:cubicBezTo>
                  <a:pt x="85859" y="143924"/>
                  <a:pt x="90949" y="143891"/>
                  <a:pt x="94063" y="147038"/>
                </a:cubicBezTo>
                <a:lnTo>
                  <a:pt x="107792" y="160768"/>
                </a:lnTo>
                <a:lnTo>
                  <a:pt x="110806" y="160768"/>
                </a:lnTo>
                <a:cubicBezTo>
                  <a:pt x="117202" y="160768"/>
                  <a:pt x="123464" y="159328"/>
                  <a:pt x="129157" y="156649"/>
                </a:cubicBezTo>
                <a:lnTo>
                  <a:pt x="120216" y="147675"/>
                </a:lnTo>
                <a:cubicBezTo>
                  <a:pt x="117068" y="144527"/>
                  <a:pt x="117068" y="139437"/>
                  <a:pt x="120216" y="136323"/>
                </a:cubicBezTo>
                <a:cubicBezTo>
                  <a:pt x="123364" y="133209"/>
                  <a:pt x="128454" y="133175"/>
                  <a:pt x="131568" y="136323"/>
                </a:cubicBezTo>
                <a:lnTo>
                  <a:pt x="142283" y="147038"/>
                </a:lnTo>
                <a:lnTo>
                  <a:pt x="148144" y="141178"/>
                </a:lnTo>
                <a:cubicBezTo>
                  <a:pt x="151124" y="138198"/>
                  <a:pt x="151994" y="133878"/>
                  <a:pt x="150688" y="130094"/>
                </a:cubicBezTo>
                <a:lnTo>
                  <a:pt x="104511" y="84285"/>
                </a:lnTo>
                <a:lnTo>
                  <a:pt x="99521" y="89275"/>
                </a:lnTo>
                <a:cubicBezTo>
                  <a:pt x="83013" y="105783"/>
                  <a:pt x="56291" y="105783"/>
                  <a:pt x="39782" y="89275"/>
                </a:cubicBezTo>
                <a:cubicBezTo>
                  <a:pt x="32080" y="81573"/>
                  <a:pt x="31779" y="69216"/>
                  <a:pt x="39045" y="61146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0" name="Text 38"/>
          <p:cNvSpPr/>
          <p:nvPr/>
        </p:nvSpPr>
        <p:spPr>
          <a:xfrm>
            <a:off x="1104900" y="3727452"/>
            <a:ext cx="1143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Dim_Vendor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09600" y="4165602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 vendor and service provider data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09600" y="4508502"/>
            <a:ext cx="1028700" cy="266700"/>
          </a:xfrm>
          <a:custGeom>
            <a:avLst/>
            <a:gdLst/>
            <a:ahLst/>
            <a:cxnLst/>
            <a:rect l="l" t="t" r="r" b="b"/>
            <a:pathLst>
              <a:path w="1028700" h="266700">
                <a:moveTo>
                  <a:pt x="133350" y="0"/>
                </a:moveTo>
                <a:lnTo>
                  <a:pt x="895350" y="0"/>
                </a:lnTo>
                <a:cubicBezTo>
                  <a:pt x="968948" y="0"/>
                  <a:pt x="1028700" y="59752"/>
                  <a:pt x="1028700" y="133350"/>
                </a:cubicBezTo>
                <a:lnTo>
                  <a:pt x="1028700" y="133350"/>
                </a:lnTo>
                <a:cubicBezTo>
                  <a:pt x="1028700" y="206948"/>
                  <a:pt x="968948" y="266700"/>
                  <a:pt x="895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09600" y="4508502"/>
            <a:ext cx="10953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Vendor Name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717477" y="4508502"/>
            <a:ext cx="723900" cy="266700"/>
          </a:xfrm>
          <a:custGeom>
            <a:avLst/>
            <a:gdLst/>
            <a:ahLst/>
            <a:cxnLst/>
            <a:rect l="l" t="t" r="r" b="b"/>
            <a:pathLst>
              <a:path w="723900" h="266700">
                <a:moveTo>
                  <a:pt x="133350" y="0"/>
                </a:moveTo>
                <a:lnTo>
                  <a:pt x="590550" y="0"/>
                </a:lnTo>
                <a:cubicBezTo>
                  <a:pt x="664148" y="0"/>
                  <a:pt x="723900" y="59752"/>
                  <a:pt x="723900" y="133350"/>
                </a:cubicBezTo>
                <a:lnTo>
                  <a:pt x="723900" y="133350"/>
                </a:lnTo>
                <a:cubicBezTo>
                  <a:pt x="723900" y="206948"/>
                  <a:pt x="664148" y="266700"/>
                  <a:pt x="5905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1717477" y="4508502"/>
            <a:ext cx="7905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514402" y="4508502"/>
            <a:ext cx="971550" cy="266700"/>
          </a:xfrm>
          <a:custGeom>
            <a:avLst/>
            <a:gdLst/>
            <a:ahLst/>
            <a:cxnLst/>
            <a:rect l="l" t="t" r="r" b="b"/>
            <a:pathLst>
              <a:path w="971550" h="266700">
                <a:moveTo>
                  <a:pt x="133350" y="0"/>
                </a:moveTo>
                <a:lnTo>
                  <a:pt x="838200" y="0"/>
                </a:lnTo>
                <a:cubicBezTo>
                  <a:pt x="911798" y="0"/>
                  <a:pt x="971550" y="59752"/>
                  <a:pt x="971550" y="133350"/>
                </a:cubicBezTo>
                <a:lnTo>
                  <a:pt x="971550" y="133350"/>
                </a:lnTo>
                <a:cubicBezTo>
                  <a:pt x="971550" y="206948"/>
                  <a:pt x="911798" y="266700"/>
                  <a:pt x="8382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2514402" y="4508502"/>
            <a:ext cx="10382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Service Type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210300" y="3479802"/>
            <a:ext cx="5600700" cy="1485900"/>
          </a:xfrm>
          <a:custGeom>
            <a:avLst/>
            <a:gdLst/>
            <a:ahLst/>
            <a:cxnLst/>
            <a:rect l="l" t="t" r="r" b="b"/>
            <a:pathLst>
              <a:path w="5600700" h="1485900">
                <a:moveTo>
                  <a:pt x="38100" y="0"/>
                </a:moveTo>
                <a:lnTo>
                  <a:pt x="5524503" y="0"/>
                </a:lnTo>
                <a:cubicBezTo>
                  <a:pt x="5566585" y="0"/>
                  <a:pt x="5600700" y="34115"/>
                  <a:pt x="5600700" y="76197"/>
                </a:cubicBezTo>
                <a:lnTo>
                  <a:pt x="5600700" y="1409703"/>
                </a:lnTo>
                <a:cubicBezTo>
                  <a:pt x="5600700" y="1451785"/>
                  <a:pt x="5566585" y="1485900"/>
                  <a:pt x="5524503" y="1485900"/>
                </a:cubicBez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210300" y="3479802"/>
            <a:ext cx="38100" cy="1485900"/>
          </a:xfrm>
          <a:custGeom>
            <a:avLst/>
            <a:gdLst/>
            <a:ahLst/>
            <a:cxnLst/>
            <a:rect l="l" t="t" r="r" b="b"/>
            <a:pathLst>
              <a:path w="38100" h="1485900">
                <a:moveTo>
                  <a:pt x="38100" y="0"/>
                </a:moveTo>
                <a:lnTo>
                  <a:pt x="38100" y="0"/>
                </a:lnTo>
                <a:lnTo>
                  <a:pt x="38100" y="1485900"/>
                </a:ln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50" name="Shape 48"/>
          <p:cNvSpPr/>
          <p:nvPr/>
        </p:nvSpPr>
        <p:spPr>
          <a:xfrm>
            <a:off x="6419850" y="36703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51" name="Shape 49"/>
          <p:cNvSpPr/>
          <p:nvPr/>
        </p:nvSpPr>
        <p:spPr>
          <a:xfrm>
            <a:off x="6548438" y="3775077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0" y="21431"/>
                </a:moveTo>
                <a:cubicBezTo>
                  <a:pt x="0" y="9611"/>
                  <a:pt x="9611" y="0"/>
                  <a:pt x="21431" y="0"/>
                </a:cubicBezTo>
                <a:lnTo>
                  <a:pt x="71493" y="0"/>
                </a:lnTo>
                <a:cubicBezTo>
                  <a:pt x="77186" y="0"/>
                  <a:pt x="82644" y="2244"/>
                  <a:pt x="86663" y="6262"/>
                </a:cubicBezTo>
                <a:lnTo>
                  <a:pt x="122326" y="41958"/>
                </a:lnTo>
                <a:cubicBezTo>
                  <a:pt x="126344" y="45977"/>
                  <a:pt x="128588" y="51435"/>
                  <a:pt x="128588" y="57128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21431"/>
                </a:lnTo>
                <a:close/>
                <a:moveTo>
                  <a:pt x="69652" y="19590"/>
                </a:moveTo>
                <a:lnTo>
                  <a:pt x="69652" y="50899"/>
                </a:lnTo>
                <a:cubicBezTo>
                  <a:pt x="69652" y="55353"/>
                  <a:pt x="73235" y="58936"/>
                  <a:pt x="77688" y="58936"/>
                </a:cubicBezTo>
                <a:lnTo>
                  <a:pt x="108998" y="58936"/>
                </a:lnTo>
                <a:lnTo>
                  <a:pt x="69652" y="19590"/>
                </a:lnTo>
                <a:close/>
                <a:moveTo>
                  <a:pt x="29468" y="21431"/>
                </a:moveTo>
                <a:cubicBezTo>
                  <a:pt x="25014" y="21431"/>
                  <a:pt x="21431" y="25014"/>
                  <a:pt x="21431" y="29468"/>
                </a:cubicBezTo>
                <a:cubicBezTo>
                  <a:pt x="21431" y="33922"/>
                  <a:pt x="25014" y="37505"/>
                  <a:pt x="29468" y="37505"/>
                </a:cubicBezTo>
                <a:lnTo>
                  <a:pt x="45541" y="37505"/>
                </a:lnTo>
                <a:cubicBezTo>
                  <a:pt x="49995" y="37505"/>
                  <a:pt x="53578" y="33922"/>
                  <a:pt x="53578" y="29468"/>
                </a:cubicBezTo>
                <a:cubicBezTo>
                  <a:pt x="53578" y="25014"/>
                  <a:pt x="49995" y="21431"/>
                  <a:pt x="45541" y="21431"/>
                </a:cubicBezTo>
                <a:lnTo>
                  <a:pt x="29468" y="21431"/>
                </a:lnTo>
                <a:close/>
                <a:moveTo>
                  <a:pt x="29468" y="53578"/>
                </a:moveTo>
                <a:cubicBezTo>
                  <a:pt x="25014" y="53578"/>
                  <a:pt x="21431" y="57161"/>
                  <a:pt x="21431" y="61615"/>
                </a:cubicBezTo>
                <a:cubicBezTo>
                  <a:pt x="21431" y="66069"/>
                  <a:pt x="25014" y="69652"/>
                  <a:pt x="29468" y="69652"/>
                </a:cubicBezTo>
                <a:lnTo>
                  <a:pt x="45541" y="69652"/>
                </a:lnTo>
                <a:cubicBezTo>
                  <a:pt x="49995" y="69652"/>
                  <a:pt x="53578" y="66069"/>
                  <a:pt x="53578" y="61615"/>
                </a:cubicBezTo>
                <a:cubicBezTo>
                  <a:pt x="53578" y="57161"/>
                  <a:pt x="49995" y="53578"/>
                  <a:pt x="45541" y="53578"/>
                </a:cubicBezTo>
                <a:lnTo>
                  <a:pt x="29468" y="53578"/>
                </a:lnTo>
                <a:close/>
                <a:moveTo>
                  <a:pt x="53009" y="107156"/>
                </a:moveTo>
                <a:cubicBezTo>
                  <a:pt x="49225" y="107156"/>
                  <a:pt x="45675" y="108864"/>
                  <a:pt x="43331" y="111811"/>
                </a:cubicBezTo>
                <a:lnTo>
                  <a:pt x="23206" y="136959"/>
                </a:lnTo>
                <a:cubicBezTo>
                  <a:pt x="20427" y="140408"/>
                  <a:pt x="20996" y="145498"/>
                  <a:pt x="24445" y="148244"/>
                </a:cubicBezTo>
                <a:cubicBezTo>
                  <a:pt x="27894" y="150990"/>
                  <a:pt x="32984" y="150454"/>
                  <a:pt x="35730" y="146971"/>
                </a:cubicBezTo>
                <a:lnTo>
                  <a:pt x="51502" y="127282"/>
                </a:lnTo>
                <a:lnTo>
                  <a:pt x="56592" y="144259"/>
                </a:lnTo>
                <a:cubicBezTo>
                  <a:pt x="57596" y="147675"/>
                  <a:pt x="60744" y="149985"/>
                  <a:pt x="64294" y="149985"/>
                </a:cubicBezTo>
                <a:lnTo>
                  <a:pt x="99120" y="149985"/>
                </a:lnTo>
                <a:cubicBezTo>
                  <a:pt x="103573" y="149985"/>
                  <a:pt x="107156" y="146402"/>
                  <a:pt x="107156" y="141949"/>
                </a:cubicBezTo>
                <a:cubicBezTo>
                  <a:pt x="107156" y="137495"/>
                  <a:pt x="103573" y="133912"/>
                  <a:pt x="99120" y="133912"/>
                </a:cubicBezTo>
                <a:lnTo>
                  <a:pt x="70288" y="133912"/>
                </a:lnTo>
                <a:lnTo>
                  <a:pt x="64897" y="115963"/>
                </a:lnTo>
                <a:cubicBezTo>
                  <a:pt x="63323" y="110706"/>
                  <a:pt x="58501" y="107123"/>
                  <a:pt x="53009" y="107123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2" name="Text 50"/>
          <p:cNvSpPr/>
          <p:nvPr/>
        </p:nvSpPr>
        <p:spPr>
          <a:xfrm>
            <a:off x="6915150" y="3727452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Dim_Policy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419850" y="4165602"/>
            <a:ext cx="527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Insurance policy details and coverage information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419850" y="4508502"/>
            <a:ext cx="1076325" cy="266700"/>
          </a:xfrm>
          <a:custGeom>
            <a:avLst/>
            <a:gdLst/>
            <a:ahLst/>
            <a:cxnLst/>
            <a:rect l="l" t="t" r="r" b="b"/>
            <a:pathLst>
              <a:path w="1076325" h="266700">
                <a:moveTo>
                  <a:pt x="133350" y="0"/>
                </a:moveTo>
                <a:lnTo>
                  <a:pt x="942975" y="0"/>
                </a:lnTo>
                <a:cubicBezTo>
                  <a:pt x="1016573" y="0"/>
                  <a:pt x="1076325" y="59752"/>
                  <a:pt x="1076325" y="133350"/>
                </a:cubicBezTo>
                <a:lnTo>
                  <a:pt x="1076325" y="133350"/>
                </a:lnTo>
                <a:cubicBezTo>
                  <a:pt x="1076325" y="206948"/>
                  <a:pt x="1016573" y="266700"/>
                  <a:pt x="9429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6419850" y="4508502"/>
            <a:ext cx="11430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 Number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574657" y="4508502"/>
            <a:ext cx="1114425" cy="266700"/>
          </a:xfrm>
          <a:custGeom>
            <a:avLst/>
            <a:gdLst/>
            <a:ahLst/>
            <a:cxnLst/>
            <a:rect l="l" t="t" r="r" b="b"/>
            <a:pathLst>
              <a:path w="1114425" h="266700">
                <a:moveTo>
                  <a:pt x="133350" y="0"/>
                </a:moveTo>
                <a:lnTo>
                  <a:pt x="981075" y="0"/>
                </a:lnTo>
                <a:cubicBezTo>
                  <a:pt x="1054673" y="0"/>
                  <a:pt x="1114425" y="59752"/>
                  <a:pt x="1114425" y="133350"/>
                </a:cubicBezTo>
                <a:lnTo>
                  <a:pt x="1114425" y="133350"/>
                </a:lnTo>
                <a:cubicBezTo>
                  <a:pt x="1114425" y="206948"/>
                  <a:pt x="1054673" y="266700"/>
                  <a:pt x="9810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7574657" y="4508502"/>
            <a:ext cx="11811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Insurance Type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760818" y="4508502"/>
            <a:ext cx="742950" cy="266700"/>
          </a:xfrm>
          <a:custGeom>
            <a:avLst/>
            <a:gdLst/>
            <a:ahLst/>
            <a:cxnLst/>
            <a:rect l="l" t="t" r="r" b="b"/>
            <a:pathLst>
              <a:path w="742950" h="266700">
                <a:moveTo>
                  <a:pt x="133350" y="0"/>
                </a:moveTo>
                <a:lnTo>
                  <a:pt x="609600" y="0"/>
                </a:lnTo>
                <a:cubicBezTo>
                  <a:pt x="683198" y="0"/>
                  <a:pt x="742950" y="59752"/>
                  <a:pt x="742950" y="133350"/>
                </a:cubicBezTo>
                <a:lnTo>
                  <a:pt x="742950" y="133350"/>
                </a:lnTo>
                <a:cubicBezTo>
                  <a:pt x="742950" y="206948"/>
                  <a:pt x="683198" y="266700"/>
                  <a:pt x="6096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8760818" y="4508502"/>
            <a:ext cx="8096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584531" y="4508502"/>
            <a:ext cx="1028700" cy="266700"/>
          </a:xfrm>
          <a:custGeom>
            <a:avLst/>
            <a:gdLst/>
            <a:ahLst/>
            <a:cxnLst/>
            <a:rect l="l" t="t" r="r" b="b"/>
            <a:pathLst>
              <a:path w="1028700" h="266700">
                <a:moveTo>
                  <a:pt x="133350" y="0"/>
                </a:moveTo>
                <a:lnTo>
                  <a:pt x="895350" y="0"/>
                </a:lnTo>
                <a:cubicBezTo>
                  <a:pt x="968948" y="0"/>
                  <a:pt x="1028700" y="59752"/>
                  <a:pt x="1028700" y="133350"/>
                </a:cubicBezTo>
                <a:lnTo>
                  <a:pt x="1028700" y="133350"/>
                </a:lnTo>
                <a:cubicBezTo>
                  <a:pt x="1028700" y="206948"/>
                  <a:pt x="968948" y="266700"/>
                  <a:pt x="895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9584531" y="4508502"/>
            <a:ext cx="10953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Effective Date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00050" y="5156202"/>
            <a:ext cx="11410950" cy="1485900"/>
          </a:xfrm>
          <a:custGeom>
            <a:avLst/>
            <a:gdLst/>
            <a:ahLst/>
            <a:cxnLst/>
            <a:rect l="l" t="t" r="r" b="b"/>
            <a:pathLst>
              <a:path w="11410950" h="1485900">
                <a:moveTo>
                  <a:pt x="38100" y="0"/>
                </a:moveTo>
                <a:lnTo>
                  <a:pt x="11334753" y="0"/>
                </a:lnTo>
                <a:cubicBezTo>
                  <a:pt x="11376835" y="0"/>
                  <a:pt x="11410950" y="34115"/>
                  <a:pt x="11410950" y="76197"/>
                </a:cubicBezTo>
                <a:lnTo>
                  <a:pt x="11410950" y="1409703"/>
                </a:lnTo>
                <a:cubicBezTo>
                  <a:pt x="11410950" y="1451785"/>
                  <a:pt x="11376835" y="1485900"/>
                  <a:pt x="11334753" y="1485900"/>
                </a:cubicBez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400050" y="5156202"/>
            <a:ext cx="38100" cy="1485900"/>
          </a:xfrm>
          <a:custGeom>
            <a:avLst/>
            <a:gdLst/>
            <a:ahLst/>
            <a:cxnLst/>
            <a:rect l="l" t="t" r="r" b="b"/>
            <a:pathLst>
              <a:path w="38100" h="1485900">
                <a:moveTo>
                  <a:pt x="38100" y="0"/>
                </a:moveTo>
                <a:lnTo>
                  <a:pt x="38100" y="0"/>
                </a:lnTo>
                <a:lnTo>
                  <a:pt x="38100" y="1485900"/>
                </a:lnTo>
                <a:lnTo>
                  <a:pt x="38100" y="1485900"/>
                </a:lnTo>
                <a:cubicBezTo>
                  <a:pt x="17072" y="1485900"/>
                  <a:pt x="0" y="1468828"/>
                  <a:pt x="0" y="1447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64" name="Shape 62"/>
          <p:cNvSpPr/>
          <p:nvPr/>
        </p:nvSpPr>
        <p:spPr>
          <a:xfrm>
            <a:off x="609600" y="53467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65" name="Shape 63"/>
          <p:cNvSpPr/>
          <p:nvPr/>
        </p:nvSpPr>
        <p:spPr>
          <a:xfrm>
            <a:off x="727472" y="5451477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48790" y="0"/>
                  <a:pt x="53578" y="4789"/>
                  <a:pt x="53578" y="10716"/>
                </a:cubicBezTo>
                <a:lnTo>
                  <a:pt x="53578" y="21431"/>
                </a:lnTo>
                <a:lnTo>
                  <a:pt x="96441" y="21431"/>
                </a:lnTo>
                <a:lnTo>
                  <a:pt x="96441" y="10716"/>
                </a:lnTo>
                <a:cubicBezTo>
                  <a:pt x="96441" y="4789"/>
                  <a:pt x="101229" y="0"/>
                  <a:pt x="107156" y="0"/>
                </a:cubicBezTo>
                <a:cubicBezTo>
                  <a:pt x="113083" y="0"/>
                  <a:pt x="117872" y="4789"/>
                  <a:pt x="117872" y="10716"/>
                </a:cubicBezTo>
                <a:lnTo>
                  <a:pt x="117872" y="21431"/>
                </a:lnTo>
                <a:lnTo>
                  <a:pt x="128588" y="21431"/>
                </a:lnTo>
                <a:cubicBezTo>
                  <a:pt x="140408" y="21431"/>
                  <a:pt x="150019" y="31042"/>
                  <a:pt x="150019" y="42863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2863"/>
                </a:lnTo>
                <a:cubicBezTo>
                  <a:pt x="0" y="31042"/>
                  <a:pt x="9611" y="21431"/>
                  <a:pt x="21431" y="21431"/>
                </a:cubicBezTo>
                <a:lnTo>
                  <a:pt x="32147" y="21431"/>
                </a:lnTo>
                <a:lnTo>
                  <a:pt x="32147" y="10716"/>
                </a:lnTo>
                <a:cubicBezTo>
                  <a:pt x="32147" y="4789"/>
                  <a:pt x="36935" y="0"/>
                  <a:pt x="42863" y="0"/>
                </a:cubicBezTo>
                <a:close/>
                <a:moveTo>
                  <a:pt x="21431" y="80367"/>
                </a:moveTo>
                <a:lnTo>
                  <a:pt x="21431" y="91083"/>
                </a:lnTo>
                <a:cubicBezTo>
                  <a:pt x="21431" y="94030"/>
                  <a:pt x="23842" y="96441"/>
                  <a:pt x="26789" y="96441"/>
                </a:cubicBezTo>
                <a:lnTo>
                  <a:pt x="37505" y="96441"/>
                </a:lnTo>
                <a:cubicBezTo>
                  <a:pt x="40451" y="96441"/>
                  <a:pt x="42863" y="94030"/>
                  <a:pt x="42863" y="91083"/>
                </a:cubicBezTo>
                <a:lnTo>
                  <a:pt x="42863" y="80367"/>
                </a:lnTo>
                <a:cubicBezTo>
                  <a:pt x="42863" y="77420"/>
                  <a:pt x="40451" y="75009"/>
                  <a:pt x="37505" y="75009"/>
                </a:cubicBezTo>
                <a:lnTo>
                  <a:pt x="26789" y="75009"/>
                </a:lnTo>
                <a:cubicBezTo>
                  <a:pt x="23842" y="75009"/>
                  <a:pt x="21431" y="77420"/>
                  <a:pt x="21431" y="80367"/>
                </a:cubicBezTo>
                <a:close/>
                <a:moveTo>
                  <a:pt x="64294" y="80367"/>
                </a:moveTo>
                <a:lnTo>
                  <a:pt x="64294" y="91083"/>
                </a:lnTo>
                <a:cubicBezTo>
                  <a:pt x="64294" y="94030"/>
                  <a:pt x="66705" y="96441"/>
                  <a:pt x="69652" y="96441"/>
                </a:cubicBezTo>
                <a:lnTo>
                  <a:pt x="80367" y="96441"/>
                </a:lnTo>
                <a:cubicBezTo>
                  <a:pt x="83314" y="96441"/>
                  <a:pt x="85725" y="94030"/>
                  <a:pt x="85725" y="91083"/>
                </a:cubicBezTo>
                <a:lnTo>
                  <a:pt x="85725" y="80367"/>
                </a:lnTo>
                <a:cubicBezTo>
                  <a:pt x="85725" y="77420"/>
                  <a:pt x="83314" y="75009"/>
                  <a:pt x="80367" y="75009"/>
                </a:cubicBezTo>
                <a:lnTo>
                  <a:pt x="69652" y="75009"/>
                </a:lnTo>
                <a:cubicBezTo>
                  <a:pt x="66705" y="75009"/>
                  <a:pt x="64294" y="77420"/>
                  <a:pt x="64294" y="80367"/>
                </a:cubicBezTo>
                <a:close/>
                <a:moveTo>
                  <a:pt x="112514" y="75009"/>
                </a:moveTo>
                <a:cubicBezTo>
                  <a:pt x="109567" y="75009"/>
                  <a:pt x="107156" y="77420"/>
                  <a:pt x="107156" y="80367"/>
                </a:cubicBezTo>
                <a:lnTo>
                  <a:pt x="107156" y="91083"/>
                </a:lnTo>
                <a:cubicBezTo>
                  <a:pt x="107156" y="94030"/>
                  <a:pt x="109567" y="96441"/>
                  <a:pt x="112514" y="96441"/>
                </a:cubicBezTo>
                <a:lnTo>
                  <a:pt x="123230" y="96441"/>
                </a:lnTo>
                <a:cubicBezTo>
                  <a:pt x="126176" y="96441"/>
                  <a:pt x="128588" y="94030"/>
                  <a:pt x="128588" y="91083"/>
                </a:cubicBezTo>
                <a:lnTo>
                  <a:pt x="128588" y="80367"/>
                </a:lnTo>
                <a:cubicBezTo>
                  <a:pt x="128588" y="77420"/>
                  <a:pt x="126176" y="75009"/>
                  <a:pt x="123230" y="75009"/>
                </a:cubicBezTo>
                <a:lnTo>
                  <a:pt x="112514" y="75009"/>
                </a:lnTo>
                <a:close/>
                <a:moveTo>
                  <a:pt x="21431" y="123230"/>
                </a:move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37505" y="139303"/>
                </a:lnTo>
                <a:cubicBezTo>
                  <a:pt x="40451" y="139303"/>
                  <a:pt x="42863" y="136892"/>
                  <a:pt x="42863" y="133945"/>
                </a:cubicBezTo>
                <a:lnTo>
                  <a:pt x="42863" y="123230"/>
                </a:lnTo>
                <a:cubicBezTo>
                  <a:pt x="42863" y="120283"/>
                  <a:pt x="40451" y="117872"/>
                  <a:pt x="37505" y="117872"/>
                </a:cubicBezTo>
                <a:lnTo>
                  <a:pt x="26789" y="117872"/>
                </a:lnTo>
                <a:cubicBezTo>
                  <a:pt x="23842" y="117872"/>
                  <a:pt x="21431" y="120283"/>
                  <a:pt x="21431" y="123230"/>
                </a:cubicBezTo>
                <a:close/>
                <a:moveTo>
                  <a:pt x="69652" y="117872"/>
                </a:moveTo>
                <a:cubicBezTo>
                  <a:pt x="66705" y="117872"/>
                  <a:pt x="64294" y="120283"/>
                  <a:pt x="64294" y="123230"/>
                </a:cubicBezTo>
                <a:lnTo>
                  <a:pt x="64294" y="133945"/>
                </a:lnTo>
                <a:cubicBezTo>
                  <a:pt x="64294" y="136892"/>
                  <a:pt x="66705" y="139303"/>
                  <a:pt x="69652" y="139303"/>
                </a:cubicBezTo>
                <a:lnTo>
                  <a:pt x="80367" y="139303"/>
                </a:lnTo>
                <a:cubicBezTo>
                  <a:pt x="83314" y="139303"/>
                  <a:pt x="85725" y="136892"/>
                  <a:pt x="85725" y="133945"/>
                </a:cubicBezTo>
                <a:lnTo>
                  <a:pt x="85725" y="123230"/>
                </a:lnTo>
                <a:cubicBezTo>
                  <a:pt x="85725" y="120283"/>
                  <a:pt x="83314" y="117872"/>
                  <a:pt x="80367" y="117872"/>
                </a:cubicBezTo>
                <a:lnTo>
                  <a:pt x="69652" y="117872"/>
                </a:lnTo>
                <a:close/>
                <a:moveTo>
                  <a:pt x="107156" y="123230"/>
                </a:moveTo>
                <a:lnTo>
                  <a:pt x="107156" y="133945"/>
                </a:lnTo>
                <a:cubicBezTo>
                  <a:pt x="107156" y="136892"/>
                  <a:pt x="109567" y="139303"/>
                  <a:pt x="112514" y="139303"/>
                </a:cubicBezTo>
                <a:lnTo>
                  <a:pt x="123230" y="139303"/>
                </a:lnTo>
                <a:cubicBezTo>
                  <a:pt x="126176" y="139303"/>
                  <a:pt x="128588" y="136892"/>
                  <a:pt x="128588" y="133945"/>
                </a:cubicBezTo>
                <a:lnTo>
                  <a:pt x="128588" y="123230"/>
                </a:lnTo>
                <a:cubicBezTo>
                  <a:pt x="128588" y="120283"/>
                  <a:pt x="126176" y="117872"/>
                  <a:pt x="123230" y="117872"/>
                </a:cubicBezTo>
                <a:lnTo>
                  <a:pt x="112514" y="117872"/>
                </a:lnTo>
                <a:cubicBezTo>
                  <a:pt x="109567" y="117872"/>
                  <a:pt x="107156" y="120283"/>
                  <a:pt x="107156" y="12323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6" name="Text 64"/>
          <p:cNvSpPr/>
          <p:nvPr/>
        </p:nvSpPr>
        <p:spPr>
          <a:xfrm>
            <a:off x="1104900" y="5403852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Dim_Time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09600" y="5842002"/>
            <a:ext cx="11087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 dimension enabling time-based analysis and trend identification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09600" y="6184902"/>
            <a:ext cx="485775" cy="266700"/>
          </a:xfrm>
          <a:custGeom>
            <a:avLst/>
            <a:gdLst/>
            <a:ahLst/>
            <a:cxnLst/>
            <a:rect l="l" t="t" r="r" b="b"/>
            <a:pathLst>
              <a:path w="485775" h="266700">
                <a:moveTo>
                  <a:pt x="133350" y="0"/>
                </a:moveTo>
                <a:lnTo>
                  <a:pt x="352425" y="0"/>
                </a:lnTo>
                <a:cubicBezTo>
                  <a:pt x="426023" y="0"/>
                  <a:pt x="485775" y="59752"/>
                  <a:pt x="485775" y="133350"/>
                </a:cubicBezTo>
                <a:lnTo>
                  <a:pt x="485775" y="133350"/>
                </a:lnTo>
                <a:cubicBezTo>
                  <a:pt x="485775" y="206948"/>
                  <a:pt x="426023" y="266700"/>
                  <a:pt x="3524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609600" y="6184902"/>
            <a:ext cx="5524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1172865" y="6184902"/>
            <a:ext cx="676275" cy="266700"/>
          </a:xfrm>
          <a:custGeom>
            <a:avLst/>
            <a:gdLst/>
            <a:ahLst/>
            <a:cxnLst/>
            <a:rect l="l" t="t" r="r" b="b"/>
            <a:pathLst>
              <a:path w="676275" h="266700">
                <a:moveTo>
                  <a:pt x="133350" y="0"/>
                </a:moveTo>
                <a:lnTo>
                  <a:pt x="542925" y="0"/>
                </a:lnTo>
                <a:cubicBezTo>
                  <a:pt x="616523" y="0"/>
                  <a:pt x="676275" y="59752"/>
                  <a:pt x="676275" y="133350"/>
                </a:cubicBezTo>
                <a:lnTo>
                  <a:pt x="676275" y="133350"/>
                </a:lnTo>
                <a:cubicBezTo>
                  <a:pt x="676275" y="206948"/>
                  <a:pt x="616523" y="266700"/>
                  <a:pt x="5429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1172865" y="6184902"/>
            <a:ext cx="7429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Quarter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923752" y="6184902"/>
            <a:ext cx="600075" cy="266700"/>
          </a:xfrm>
          <a:custGeom>
            <a:avLst/>
            <a:gdLst/>
            <a:ahLst/>
            <a:cxnLst/>
            <a:rect l="l" t="t" r="r" b="b"/>
            <a:pathLst>
              <a:path w="600075" h="266700">
                <a:moveTo>
                  <a:pt x="133350" y="0"/>
                </a:moveTo>
                <a:lnTo>
                  <a:pt x="466725" y="0"/>
                </a:lnTo>
                <a:cubicBezTo>
                  <a:pt x="540323" y="0"/>
                  <a:pt x="600075" y="59752"/>
                  <a:pt x="600075" y="133350"/>
                </a:cubicBezTo>
                <a:lnTo>
                  <a:pt x="600075" y="133350"/>
                </a:lnTo>
                <a:cubicBezTo>
                  <a:pt x="600075" y="206948"/>
                  <a:pt x="540323" y="266700"/>
                  <a:pt x="4667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923752" y="6184902"/>
            <a:ext cx="6667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2602905" y="6184902"/>
            <a:ext cx="457200" cy="266700"/>
          </a:xfrm>
          <a:custGeom>
            <a:avLst/>
            <a:gdLst/>
            <a:ahLst/>
            <a:cxnLst/>
            <a:rect l="l" t="t" r="r" b="b"/>
            <a:pathLst>
              <a:path w="457200" h="266700">
                <a:moveTo>
                  <a:pt x="133350" y="0"/>
                </a:moveTo>
                <a:lnTo>
                  <a:pt x="323850" y="0"/>
                </a:lnTo>
                <a:cubicBezTo>
                  <a:pt x="397448" y="0"/>
                  <a:pt x="457200" y="59752"/>
                  <a:pt x="457200" y="133350"/>
                </a:cubicBezTo>
                <a:lnTo>
                  <a:pt x="457200" y="133350"/>
                </a:lnTo>
                <a:cubicBezTo>
                  <a:pt x="457200" y="206948"/>
                  <a:pt x="397448" y="266700"/>
                  <a:pt x="3238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2602905" y="6184902"/>
            <a:ext cx="5238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3137297" y="6184902"/>
            <a:ext cx="1057275" cy="266700"/>
          </a:xfrm>
          <a:custGeom>
            <a:avLst/>
            <a:gdLst/>
            <a:ahLst/>
            <a:cxnLst/>
            <a:rect l="l" t="t" r="r" b="b"/>
            <a:pathLst>
              <a:path w="1057275" h="266700">
                <a:moveTo>
                  <a:pt x="133350" y="0"/>
                </a:moveTo>
                <a:lnTo>
                  <a:pt x="923925" y="0"/>
                </a:lnTo>
                <a:cubicBezTo>
                  <a:pt x="997523" y="0"/>
                  <a:pt x="1057275" y="59752"/>
                  <a:pt x="1057275" y="133350"/>
                </a:cubicBezTo>
                <a:lnTo>
                  <a:pt x="1057275" y="133350"/>
                </a:lnTo>
                <a:cubicBezTo>
                  <a:pt x="1057275" y="206948"/>
                  <a:pt x="997523" y="266700"/>
                  <a:pt x="9239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3137297" y="6184902"/>
            <a:ext cx="11239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Weekend Flag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4268292" y="6184902"/>
            <a:ext cx="952500" cy="266700"/>
          </a:xfrm>
          <a:custGeom>
            <a:avLst/>
            <a:gdLst/>
            <a:ahLst/>
            <a:cxnLst/>
            <a:rect l="l" t="t" r="r" b="b"/>
            <a:pathLst>
              <a:path w="952500" h="266700">
                <a:moveTo>
                  <a:pt x="133350" y="0"/>
                </a:moveTo>
                <a:lnTo>
                  <a:pt x="819150" y="0"/>
                </a:lnTo>
                <a:cubicBezTo>
                  <a:pt x="892748" y="0"/>
                  <a:pt x="952500" y="59752"/>
                  <a:pt x="952500" y="133350"/>
                </a:cubicBezTo>
                <a:lnTo>
                  <a:pt x="952500" y="133350"/>
                </a:lnTo>
                <a:cubicBezTo>
                  <a:pt x="952500" y="206948"/>
                  <a:pt x="892748" y="266700"/>
                  <a:pt x="8191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4268292" y="6184902"/>
            <a:ext cx="10191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Fiscal Period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8265" y="378265"/>
            <a:ext cx="475175" cy="268849"/>
          </a:xfrm>
          <a:custGeom>
            <a:avLst/>
            <a:gdLst/>
            <a:ahLst/>
            <a:cxnLst/>
            <a:rect l="l" t="t" r="r" b="b"/>
            <a:pathLst>
              <a:path w="475175" h="268849">
                <a:moveTo>
                  <a:pt x="134425" y="0"/>
                </a:moveTo>
                <a:lnTo>
                  <a:pt x="340751" y="0"/>
                </a:lnTo>
                <a:cubicBezTo>
                  <a:pt x="414942" y="0"/>
                  <a:pt x="475175" y="60234"/>
                  <a:pt x="475175" y="134425"/>
                </a:cubicBezTo>
                <a:lnTo>
                  <a:pt x="475175" y="134425"/>
                </a:lnTo>
                <a:cubicBezTo>
                  <a:pt x="475175" y="208616"/>
                  <a:pt x="414942" y="268849"/>
                  <a:pt x="340751" y="268849"/>
                </a:cubicBezTo>
                <a:lnTo>
                  <a:pt x="134425" y="268849"/>
                </a:lnTo>
                <a:cubicBezTo>
                  <a:pt x="60234" y="268849"/>
                  <a:pt x="0" y="208616"/>
                  <a:pt x="0" y="134425"/>
                </a:cubicBezTo>
                <a:lnTo>
                  <a:pt x="0" y="134425"/>
                </a:lnTo>
                <a:cubicBezTo>
                  <a:pt x="0" y="60234"/>
                  <a:pt x="60234" y="0"/>
                  <a:pt x="134425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8467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1446" y="418905"/>
            <a:ext cx="234462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b="1" kern="0" spc="52" dirty="0">
                <a:solidFill>
                  <a:srgbClr val="D8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75138" y="762783"/>
            <a:ext cx="11666806" cy="450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45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Model: Fact Table &amp; Measures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5138" y="1287977"/>
            <a:ext cx="11535508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7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 Transactional Repository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517" y="1785035"/>
            <a:ext cx="5833403" cy="5064369"/>
          </a:xfrm>
          <a:custGeom>
            <a:avLst/>
            <a:gdLst/>
            <a:ahLst/>
            <a:cxnLst/>
            <a:rect l="l" t="t" r="r" b="b"/>
            <a:pathLst>
              <a:path w="5833403" h="5064369">
                <a:moveTo>
                  <a:pt x="112530" y="0"/>
                </a:moveTo>
                <a:lnTo>
                  <a:pt x="5720873" y="0"/>
                </a:lnTo>
                <a:cubicBezTo>
                  <a:pt x="5783022" y="0"/>
                  <a:pt x="5833403" y="50382"/>
                  <a:pt x="5833403" y="112530"/>
                </a:cubicBezTo>
                <a:lnTo>
                  <a:pt x="5833403" y="4951839"/>
                </a:lnTo>
                <a:cubicBezTo>
                  <a:pt x="5833403" y="5013988"/>
                  <a:pt x="5783022" y="5064369"/>
                  <a:pt x="5720873" y="5064369"/>
                </a:cubicBezTo>
                <a:lnTo>
                  <a:pt x="112530" y="5064369"/>
                </a:lnTo>
                <a:cubicBezTo>
                  <a:pt x="50423" y="5064369"/>
                  <a:pt x="0" y="5013946"/>
                  <a:pt x="0" y="4951839"/>
                </a:cubicBezTo>
                <a:lnTo>
                  <a:pt x="0" y="112530"/>
                </a:lnTo>
                <a:cubicBezTo>
                  <a:pt x="0" y="50423"/>
                  <a:pt x="50423" y="0"/>
                  <a:pt x="112530" y="0"/>
                </a:cubicBezTo>
                <a:close/>
              </a:path>
            </a:pathLst>
          </a:custGeom>
          <a:solidFill>
            <a:srgbClr val="D8A25A">
              <a:alpha val="20000"/>
            </a:srgbClr>
          </a:solidFill>
          <a:ln w="25400">
            <a:solidFill>
              <a:srgbClr val="D8A2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8978" y="2019497"/>
            <a:ext cx="525194" cy="525194"/>
          </a:xfrm>
          <a:custGeom>
            <a:avLst/>
            <a:gdLst/>
            <a:ahLst/>
            <a:cxnLst/>
            <a:rect l="l" t="t" r="r" b="b"/>
            <a:pathLst>
              <a:path w="525194" h="525194">
                <a:moveTo>
                  <a:pt x="112544" y="0"/>
                </a:moveTo>
                <a:lnTo>
                  <a:pt x="412650" y="0"/>
                </a:lnTo>
                <a:cubicBezTo>
                  <a:pt x="474806" y="0"/>
                  <a:pt x="525194" y="50388"/>
                  <a:pt x="525194" y="112544"/>
                </a:cubicBezTo>
                <a:lnTo>
                  <a:pt x="525194" y="412650"/>
                </a:lnTo>
                <a:cubicBezTo>
                  <a:pt x="525194" y="474806"/>
                  <a:pt x="474806" y="525194"/>
                  <a:pt x="412650" y="525194"/>
                </a:cubicBezTo>
                <a:lnTo>
                  <a:pt x="112544" y="525194"/>
                </a:lnTo>
                <a:cubicBezTo>
                  <a:pt x="50388" y="525194"/>
                  <a:pt x="0" y="474806"/>
                  <a:pt x="0" y="412650"/>
                </a:cubicBezTo>
                <a:lnTo>
                  <a:pt x="0" y="112544"/>
                </a:lnTo>
                <a:cubicBezTo>
                  <a:pt x="0" y="50429"/>
                  <a:pt x="50429" y="0"/>
                  <a:pt x="112544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8" name="Shape 6"/>
          <p:cNvSpPr/>
          <p:nvPr/>
        </p:nvSpPr>
        <p:spPr>
          <a:xfrm>
            <a:off x="783102" y="2169552"/>
            <a:ext cx="196948" cy="225083"/>
          </a:xfrm>
          <a:custGeom>
            <a:avLst/>
            <a:gdLst/>
            <a:ahLst/>
            <a:cxnLst/>
            <a:rect l="l" t="t" r="r" b="b"/>
            <a:pathLst>
              <a:path w="196948" h="225083">
                <a:moveTo>
                  <a:pt x="112542" y="70338"/>
                </a:moveTo>
                <a:lnTo>
                  <a:pt x="112542" y="112542"/>
                </a:lnTo>
                <a:lnTo>
                  <a:pt x="168812" y="112542"/>
                </a:lnTo>
                <a:lnTo>
                  <a:pt x="168812" y="70338"/>
                </a:lnTo>
                <a:lnTo>
                  <a:pt x="112542" y="70338"/>
                </a:lnTo>
                <a:close/>
                <a:moveTo>
                  <a:pt x="84406" y="70338"/>
                </a:moveTo>
                <a:lnTo>
                  <a:pt x="28135" y="70338"/>
                </a:lnTo>
                <a:lnTo>
                  <a:pt x="28135" y="112542"/>
                </a:lnTo>
                <a:lnTo>
                  <a:pt x="84406" y="112542"/>
                </a:lnTo>
                <a:lnTo>
                  <a:pt x="84406" y="70338"/>
                </a:lnTo>
                <a:close/>
                <a:moveTo>
                  <a:pt x="0" y="140677"/>
                </a:moveTo>
                <a:lnTo>
                  <a:pt x="0" y="42203"/>
                </a:lnTo>
                <a:cubicBezTo>
                  <a:pt x="0" y="26685"/>
                  <a:pt x="12617" y="14068"/>
                  <a:pt x="28135" y="14068"/>
                </a:cubicBezTo>
                <a:lnTo>
                  <a:pt x="168812" y="14068"/>
                </a:lnTo>
                <a:cubicBezTo>
                  <a:pt x="184331" y="14068"/>
                  <a:pt x="196948" y="26685"/>
                  <a:pt x="196948" y="42203"/>
                </a:cubicBezTo>
                <a:lnTo>
                  <a:pt x="196948" y="182880"/>
                </a:lnTo>
                <a:cubicBezTo>
                  <a:pt x="196948" y="198398"/>
                  <a:pt x="184331" y="211015"/>
                  <a:pt x="168812" y="211015"/>
                </a:cubicBezTo>
                <a:lnTo>
                  <a:pt x="28135" y="211015"/>
                </a:lnTo>
                <a:cubicBezTo>
                  <a:pt x="12617" y="211015"/>
                  <a:pt x="0" y="198398"/>
                  <a:pt x="0" y="182880"/>
                </a:cubicBezTo>
                <a:lnTo>
                  <a:pt x="0" y="140677"/>
                </a:lnTo>
                <a:close/>
                <a:moveTo>
                  <a:pt x="168812" y="140677"/>
                </a:moveTo>
                <a:lnTo>
                  <a:pt x="112542" y="140677"/>
                </a:lnTo>
                <a:lnTo>
                  <a:pt x="112542" y="182880"/>
                </a:lnTo>
                <a:lnTo>
                  <a:pt x="168812" y="182880"/>
                </a:lnTo>
                <a:lnTo>
                  <a:pt x="168812" y="140677"/>
                </a:lnTo>
                <a:close/>
                <a:moveTo>
                  <a:pt x="84406" y="182880"/>
                </a:moveTo>
                <a:lnTo>
                  <a:pt x="84406" y="140677"/>
                </a:lnTo>
                <a:lnTo>
                  <a:pt x="28135" y="140677"/>
                </a:lnTo>
                <a:lnTo>
                  <a:pt x="28135" y="182880"/>
                </a:lnTo>
                <a:lnTo>
                  <a:pt x="84406" y="18288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" name="Text 7"/>
          <p:cNvSpPr/>
          <p:nvPr/>
        </p:nvSpPr>
        <p:spPr>
          <a:xfrm>
            <a:off x="1256714" y="2019497"/>
            <a:ext cx="1341120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2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Fact_Claims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56714" y="2319608"/>
            <a:ext cx="1303606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 Fact Table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8978" y="2694746"/>
            <a:ext cx="54395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2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core transactional table containing measurable business events. Each record represents a single insurance claim with quantitative metrics and foreign key references to all dimension tables.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8978" y="3576322"/>
            <a:ext cx="5364480" cy="675249"/>
          </a:xfrm>
          <a:custGeom>
            <a:avLst/>
            <a:gdLst/>
            <a:ahLst/>
            <a:cxnLst/>
            <a:rect l="l" t="t" r="r" b="b"/>
            <a:pathLst>
              <a:path w="5364480" h="675249">
                <a:moveTo>
                  <a:pt x="75027" y="0"/>
                </a:moveTo>
                <a:lnTo>
                  <a:pt x="5289453" y="0"/>
                </a:lnTo>
                <a:cubicBezTo>
                  <a:pt x="5330889" y="0"/>
                  <a:pt x="5364480" y="33591"/>
                  <a:pt x="5364480" y="75027"/>
                </a:cubicBezTo>
                <a:lnTo>
                  <a:pt x="5364480" y="600222"/>
                </a:lnTo>
                <a:cubicBezTo>
                  <a:pt x="5364480" y="641659"/>
                  <a:pt x="5330889" y="675249"/>
                  <a:pt x="5289453" y="675249"/>
                </a:cubicBezTo>
                <a:lnTo>
                  <a:pt x="75027" y="675249"/>
                </a:lnTo>
                <a:cubicBezTo>
                  <a:pt x="33591" y="675249"/>
                  <a:pt x="0" y="641659"/>
                  <a:pt x="0" y="600222"/>
                </a:cubicBezTo>
                <a:lnTo>
                  <a:pt x="0" y="75027"/>
                </a:lnTo>
                <a:cubicBezTo>
                  <a:pt x="0" y="33591"/>
                  <a:pt x="33591" y="0"/>
                  <a:pt x="7502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88863"/>
            <a:ext cx="1219200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 Amount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28091" y="3726377"/>
            <a:ext cx="93785" cy="150055"/>
          </a:xfrm>
          <a:custGeom>
            <a:avLst/>
            <a:gdLst/>
            <a:ahLst/>
            <a:cxnLst/>
            <a:rect l="l" t="t" r="r" b="b"/>
            <a:pathLst>
              <a:path w="93785" h="150055">
                <a:moveTo>
                  <a:pt x="39858" y="7034"/>
                </a:moveTo>
                <a:cubicBezTo>
                  <a:pt x="39858" y="3136"/>
                  <a:pt x="42994" y="0"/>
                  <a:pt x="46892" y="0"/>
                </a:cubicBezTo>
                <a:cubicBezTo>
                  <a:pt x="50790" y="0"/>
                  <a:pt x="53926" y="3136"/>
                  <a:pt x="53926" y="7034"/>
                </a:cubicBezTo>
                <a:lnTo>
                  <a:pt x="53926" y="18757"/>
                </a:lnTo>
                <a:lnTo>
                  <a:pt x="70338" y="18757"/>
                </a:lnTo>
                <a:cubicBezTo>
                  <a:pt x="75526" y="18757"/>
                  <a:pt x="79717" y="22948"/>
                  <a:pt x="79717" y="28135"/>
                </a:cubicBezTo>
                <a:cubicBezTo>
                  <a:pt x="79717" y="33323"/>
                  <a:pt x="75526" y="37514"/>
                  <a:pt x="70338" y="37514"/>
                </a:cubicBezTo>
                <a:lnTo>
                  <a:pt x="36664" y="37514"/>
                </a:lnTo>
                <a:cubicBezTo>
                  <a:pt x="29366" y="37514"/>
                  <a:pt x="23446" y="43434"/>
                  <a:pt x="23446" y="50732"/>
                </a:cubicBezTo>
                <a:cubicBezTo>
                  <a:pt x="23446" y="57326"/>
                  <a:pt x="28282" y="62894"/>
                  <a:pt x="34788" y="63832"/>
                </a:cubicBezTo>
                <a:lnTo>
                  <a:pt x="61634" y="67671"/>
                </a:lnTo>
                <a:cubicBezTo>
                  <a:pt x="77402" y="69928"/>
                  <a:pt x="89095" y="83410"/>
                  <a:pt x="89095" y="99324"/>
                </a:cubicBezTo>
                <a:cubicBezTo>
                  <a:pt x="89095" y="116996"/>
                  <a:pt x="74764" y="131298"/>
                  <a:pt x="57121" y="131298"/>
                </a:cubicBezTo>
                <a:lnTo>
                  <a:pt x="53926" y="131298"/>
                </a:lnTo>
                <a:lnTo>
                  <a:pt x="53926" y="143022"/>
                </a:lnTo>
                <a:cubicBezTo>
                  <a:pt x="53926" y="146919"/>
                  <a:pt x="50790" y="150055"/>
                  <a:pt x="46892" y="150055"/>
                </a:cubicBezTo>
                <a:cubicBezTo>
                  <a:pt x="42994" y="150055"/>
                  <a:pt x="39858" y="146919"/>
                  <a:pt x="39858" y="143022"/>
                </a:cubicBezTo>
                <a:lnTo>
                  <a:pt x="39858" y="131298"/>
                </a:lnTo>
                <a:lnTo>
                  <a:pt x="18757" y="131298"/>
                </a:lnTo>
                <a:cubicBezTo>
                  <a:pt x="13569" y="131298"/>
                  <a:pt x="9378" y="127107"/>
                  <a:pt x="9378" y="121920"/>
                </a:cubicBezTo>
                <a:cubicBezTo>
                  <a:pt x="9378" y="116733"/>
                  <a:pt x="13569" y="112542"/>
                  <a:pt x="18757" y="112542"/>
                </a:cubicBezTo>
                <a:lnTo>
                  <a:pt x="57121" y="112542"/>
                </a:lnTo>
                <a:cubicBezTo>
                  <a:pt x="64418" y="112542"/>
                  <a:pt x="70338" y="106621"/>
                  <a:pt x="70338" y="99324"/>
                </a:cubicBezTo>
                <a:cubicBezTo>
                  <a:pt x="70338" y="92730"/>
                  <a:pt x="65503" y="87161"/>
                  <a:pt x="58996" y="86223"/>
                </a:cubicBezTo>
                <a:lnTo>
                  <a:pt x="32151" y="82384"/>
                </a:lnTo>
                <a:cubicBezTo>
                  <a:pt x="16383" y="80157"/>
                  <a:pt x="4689" y="66646"/>
                  <a:pt x="4689" y="50732"/>
                </a:cubicBezTo>
                <a:cubicBezTo>
                  <a:pt x="4689" y="33088"/>
                  <a:pt x="19021" y="18757"/>
                  <a:pt x="36664" y="18757"/>
                </a:cubicBezTo>
                <a:lnTo>
                  <a:pt x="39858" y="18757"/>
                </a:lnTo>
                <a:lnTo>
                  <a:pt x="39858" y="7034"/>
                </a:ln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951460"/>
            <a:ext cx="5205046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Insurance premium paid by customer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8978" y="4364112"/>
            <a:ext cx="5364480" cy="675249"/>
          </a:xfrm>
          <a:custGeom>
            <a:avLst/>
            <a:gdLst/>
            <a:ahLst/>
            <a:cxnLst/>
            <a:rect l="l" t="t" r="r" b="b"/>
            <a:pathLst>
              <a:path w="5364480" h="675249">
                <a:moveTo>
                  <a:pt x="75027" y="0"/>
                </a:moveTo>
                <a:lnTo>
                  <a:pt x="5289453" y="0"/>
                </a:lnTo>
                <a:cubicBezTo>
                  <a:pt x="5330889" y="0"/>
                  <a:pt x="5364480" y="33591"/>
                  <a:pt x="5364480" y="75027"/>
                </a:cubicBezTo>
                <a:lnTo>
                  <a:pt x="5364480" y="600222"/>
                </a:lnTo>
                <a:cubicBezTo>
                  <a:pt x="5364480" y="641659"/>
                  <a:pt x="5330889" y="675249"/>
                  <a:pt x="5289453" y="675249"/>
                </a:cubicBezTo>
                <a:lnTo>
                  <a:pt x="75027" y="675249"/>
                </a:lnTo>
                <a:cubicBezTo>
                  <a:pt x="33591" y="675249"/>
                  <a:pt x="0" y="641659"/>
                  <a:pt x="0" y="600222"/>
                </a:cubicBezTo>
                <a:lnTo>
                  <a:pt x="0" y="75027"/>
                </a:lnTo>
                <a:cubicBezTo>
                  <a:pt x="0" y="33591"/>
                  <a:pt x="33591" y="0"/>
                  <a:pt x="7502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476654"/>
            <a:ext cx="1003495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Claim Amount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690577" y="4514168"/>
            <a:ext cx="168812" cy="150055"/>
          </a:xfrm>
          <a:custGeom>
            <a:avLst/>
            <a:gdLst/>
            <a:ahLst/>
            <a:cxnLst/>
            <a:rect l="l" t="t" r="r" b="b"/>
            <a:pathLst>
              <a:path w="168812" h="150055">
                <a:moveTo>
                  <a:pt x="84406" y="-4689"/>
                </a:moveTo>
                <a:cubicBezTo>
                  <a:pt x="80508" y="-4689"/>
                  <a:pt x="77372" y="-1553"/>
                  <a:pt x="77372" y="2345"/>
                </a:cubicBezTo>
                <a:lnTo>
                  <a:pt x="77372" y="5862"/>
                </a:lnTo>
                <a:lnTo>
                  <a:pt x="76845" y="5862"/>
                </a:lnTo>
                <a:cubicBezTo>
                  <a:pt x="66118" y="5862"/>
                  <a:pt x="57443" y="14566"/>
                  <a:pt x="57443" y="25263"/>
                </a:cubicBezTo>
                <a:cubicBezTo>
                  <a:pt x="57443" y="35052"/>
                  <a:pt x="64741" y="43317"/>
                  <a:pt x="74442" y="44518"/>
                </a:cubicBezTo>
                <a:lnTo>
                  <a:pt x="92319" y="46746"/>
                </a:lnTo>
                <a:cubicBezTo>
                  <a:pt x="93814" y="46922"/>
                  <a:pt x="94957" y="48211"/>
                  <a:pt x="94957" y="49735"/>
                </a:cubicBezTo>
                <a:cubicBezTo>
                  <a:pt x="94957" y="51406"/>
                  <a:pt x="93609" y="52725"/>
                  <a:pt x="91968" y="52725"/>
                </a:cubicBezTo>
                <a:lnTo>
                  <a:pt x="70338" y="52754"/>
                </a:lnTo>
                <a:cubicBezTo>
                  <a:pt x="65796" y="52754"/>
                  <a:pt x="62132" y="56417"/>
                  <a:pt x="62132" y="60960"/>
                </a:cubicBezTo>
                <a:cubicBezTo>
                  <a:pt x="62132" y="65503"/>
                  <a:pt x="65796" y="69166"/>
                  <a:pt x="70338" y="69166"/>
                </a:cubicBezTo>
                <a:lnTo>
                  <a:pt x="77372" y="69166"/>
                </a:lnTo>
                <a:lnTo>
                  <a:pt x="77372" y="72683"/>
                </a:lnTo>
                <a:cubicBezTo>
                  <a:pt x="77372" y="76581"/>
                  <a:pt x="80508" y="79717"/>
                  <a:pt x="84406" y="79717"/>
                </a:cubicBezTo>
                <a:cubicBezTo>
                  <a:pt x="88304" y="79717"/>
                  <a:pt x="91440" y="76581"/>
                  <a:pt x="91440" y="72683"/>
                </a:cubicBezTo>
                <a:lnTo>
                  <a:pt x="91440" y="69166"/>
                </a:lnTo>
                <a:lnTo>
                  <a:pt x="91968" y="69166"/>
                </a:lnTo>
                <a:cubicBezTo>
                  <a:pt x="102694" y="69166"/>
                  <a:pt x="111369" y="60462"/>
                  <a:pt x="111369" y="49764"/>
                </a:cubicBezTo>
                <a:cubicBezTo>
                  <a:pt x="111369" y="39976"/>
                  <a:pt x="104072" y="31711"/>
                  <a:pt x="94371" y="30509"/>
                </a:cubicBezTo>
                <a:lnTo>
                  <a:pt x="76493" y="28282"/>
                </a:lnTo>
                <a:cubicBezTo>
                  <a:pt x="74998" y="28106"/>
                  <a:pt x="73855" y="26817"/>
                  <a:pt x="73855" y="25293"/>
                </a:cubicBezTo>
                <a:cubicBezTo>
                  <a:pt x="73855" y="23622"/>
                  <a:pt x="75204" y="22303"/>
                  <a:pt x="76845" y="22303"/>
                </a:cubicBezTo>
                <a:lnTo>
                  <a:pt x="96129" y="22274"/>
                </a:lnTo>
                <a:cubicBezTo>
                  <a:pt x="100672" y="22274"/>
                  <a:pt x="104335" y="18610"/>
                  <a:pt x="104335" y="14068"/>
                </a:cubicBezTo>
                <a:cubicBezTo>
                  <a:pt x="104335" y="9525"/>
                  <a:pt x="100672" y="5862"/>
                  <a:pt x="96129" y="5862"/>
                </a:cubicBezTo>
                <a:lnTo>
                  <a:pt x="91440" y="5862"/>
                </a:lnTo>
                <a:lnTo>
                  <a:pt x="91440" y="2345"/>
                </a:lnTo>
                <a:cubicBezTo>
                  <a:pt x="91440" y="-1553"/>
                  <a:pt x="88304" y="-4689"/>
                  <a:pt x="84406" y="-4689"/>
                </a:cubicBezTo>
                <a:close/>
                <a:moveTo>
                  <a:pt x="32033" y="100086"/>
                </a:moveTo>
                <a:lnTo>
                  <a:pt x="19548" y="112542"/>
                </a:lnTo>
                <a:lnTo>
                  <a:pt x="9378" y="112542"/>
                </a:lnTo>
                <a:cubicBezTo>
                  <a:pt x="4191" y="112542"/>
                  <a:pt x="0" y="116733"/>
                  <a:pt x="0" y="121920"/>
                </a:cubicBezTo>
                <a:lnTo>
                  <a:pt x="0" y="140677"/>
                </a:lnTo>
                <a:cubicBezTo>
                  <a:pt x="0" y="145864"/>
                  <a:pt x="4191" y="150055"/>
                  <a:pt x="9378" y="150055"/>
                </a:cubicBezTo>
                <a:lnTo>
                  <a:pt x="103310" y="150055"/>
                </a:lnTo>
                <a:cubicBezTo>
                  <a:pt x="111809" y="150055"/>
                  <a:pt x="120103" y="147330"/>
                  <a:pt x="126961" y="142289"/>
                </a:cubicBezTo>
                <a:lnTo>
                  <a:pt x="164064" y="114945"/>
                </a:lnTo>
                <a:cubicBezTo>
                  <a:pt x="169281" y="111105"/>
                  <a:pt x="170395" y="103779"/>
                  <a:pt x="166556" y="98562"/>
                </a:cubicBezTo>
                <a:cubicBezTo>
                  <a:pt x="162716" y="93345"/>
                  <a:pt x="155389" y="92231"/>
                  <a:pt x="150173" y="96071"/>
                </a:cubicBezTo>
                <a:lnTo>
                  <a:pt x="115062" y="121920"/>
                </a:lnTo>
                <a:lnTo>
                  <a:pt x="82062" y="121920"/>
                </a:lnTo>
                <a:cubicBezTo>
                  <a:pt x="78164" y="121920"/>
                  <a:pt x="75028" y="118784"/>
                  <a:pt x="75028" y="114886"/>
                </a:cubicBezTo>
                <a:cubicBezTo>
                  <a:pt x="75028" y="110988"/>
                  <a:pt x="78164" y="107852"/>
                  <a:pt x="82062" y="107852"/>
                </a:cubicBezTo>
                <a:lnTo>
                  <a:pt x="103163" y="107852"/>
                </a:lnTo>
                <a:cubicBezTo>
                  <a:pt x="108351" y="107852"/>
                  <a:pt x="112542" y="103661"/>
                  <a:pt x="112542" y="98474"/>
                </a:cubicBezTo>
                <a:cubicBezTo>
                  <a:pt x="112542" y="93286"/>
                  <a:pt x="108351" y="89095"/>
                  <a:pt x="103163" y="89095"/>
                </a:cubicBezTo>
                <a:lnTo>
                  <a:pt x="58557" y="89095"/>
                </a:lnTo>
                <a:cubicBezTo>
                  <a:pt x="48621" y="89095"/>
                  <a:pt x="39067" y="93052"/>
                  <a:pt x="32033" y="100086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739251"/>
            <a:ext cx="5205046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amount claimed by customer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8978" y="5151903"/>
            <a:ext cx="5364480" cy="675249"/>
          </a:xfrm>
          <a:custGeom>
            <a:avLst/>
            <a:gdLst/>
            <a:ahLst/>
            <a:cxnLst/>
            <a:rect l="l" t="t" r="r" b="b"/>
            <a:pathLst>
              <a:path w="5364480" h="675249">
                <a:moveTo>
                  <a:pt x="75027" y="0"/>
                </a:moveTo>
                <a:lnTo>
                  <a:pt x="5289453" y="0"/>
                </a:lnTo>
                <a:cubicBezTo>
                  <a:pt x="5330889" y="0"/>
                  <a:pt x="5364480" y="33591"/>
                  <a:pt x="5364480" y="75027"/>
                </a:cubicBezTo>
                <a:lnTo>
                  <a:pt x="5364480" y="600222"/>
                </a:lnTo>
                <a:cubicBezTo>
                  <a:pt x="5364480" y="641659"/>
                  <a:pt x="5330889" y="675249"/>
                  <a:pt x="5289453" y="675249"/>
                </a:cubicBezTo>
                <a:lnTo>
                  <a:pt x="75027" y="675249"/>
                </a:lnTo>
                <a:cubicBezTo>
                  <a:pt x="33591" y="675249"/>
                  <a:pt x="0" y="641659"/>
                  <a:pt x="0" y="600222"/>
                </a:cubicBezTo>
                <a:lnTo>
                  <a:pt x="0" y="75027"/>
                </a:lnTo>
                <a:cubicBezTo>
                  <a:pt x="0" y="33591"/>
                  <a:pt x="33591" y="0"/>
                  <a:pt x="7502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264445"/>
            <a:ext cx="1134794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Settlement Days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99956" y="5301958"/>
            <a:ext cx="150055" cy="150055"/>
          </a:xfrm>
          <a:custGeom>
            <a:avLst/>
            <a:gdLst/>
            <a:ahLst/>
            <a:cxnLst/>
            <a:rect l="l" t="t" r="r" b="b"/>
            <a:pathLst>
              <a:path w="150055" h="150055">
                <a:moveTo>
                  <a:pt x="75028" y="0"/>
                </a:moveTo>
                <a:cubicBezTo>
                  <a:pt x="116437" y="0"/>
                  <a:pt x="150055" y="33619"/>
                  <a:pt x="150055" y="75028"/>
                </a:cubicBezTo>
                <a:cubicBezTo>
                  <a:pt x="150055" y="116437"/>
                  <a:pt x="116437" y="150055"/>
                  <a:pt x="75028" y="150055"/>
                </a:cubicBezTo>
                <a:cubicBezTo>
                  <a:pt x="33619" y="150055"/>
                  <a:pt x="0" y="116437"/>
                  <a:pt x="0" y="75028"/>
                </a:cubicBezTo>
                <a:cubicBezTo>
                  <a:pt x="0" y="33619"/>
                  <a:pt x="33619" y="0"/>
                  <a:pt x="75028" y="0"/>
                </a:cubicBezTo>
                <a:close/>
                <a:moveTo>
                  <a:pt x="67994" y="35169"/>
                </a:moveTo>
                <a:lnTo>
                  <a:pt x="67994" y="75028"/>
                </a:lnTo>
                <a:cubicBezTo>
                  <a:pt x="67994" y="77372"/>
                  <a:pt x="69166" y="79570"/>
                  <a:pt x="71130" y="80889"/>
                </a:cubicBezTo>
                <a:lnTo>
                  <a:pt x="99265" y="99646"/>
                </a:lnTo>
                <a:cubicBezTo>
                  <a:pt x="102489" y="101815"/>
                  <a:pt x="106856" y="100936"/>
                  <a:pt x="109025" y="97683"/>
                </a:cubicBezTo>
                <a:cubicBezTo>
                  <a:pt x="111193" y="94429"/>
                  <a:pt x="110314" y="90092"/>
                  <a:pt x="107061" y="87923"/>
                </a:cubicBezTo>
                <a:lnTo>
                  <a:pt x="82062" y="71276"/>
                </a:lnTo>
                <a:lnTo>
                  <a:pt x="82062" y="35169"/>
                </a:lnTo>
                <a:cubicBezTo>
                  <a:pt x="82062" y="31271"/>
                  <a:pt x="78926" y="28135"/>
                  <a:pt x="75028" y="28135"/>
                </a:cubicBezTo>
                <a:cubicBezTo>
                  <a:pt x="71130" y="28135"/>
                  <a:pt x="67994" y="31271"/>
                  <a:pt x="67994" y="35169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527042"/>
            <a:ext cx="5205046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 between loss date and report date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8978" y="5939694"/>
            <a:ext cx="5364480" cy="675249"/>
          </a:xfrm>
          <a:custGeom>
            <a:avLst/>
            <a:gdLst/>
            <a:ahLst/>
            <a:cxnLst/>
            <a:rect l="l" t="t" r="r" b="b"/>
            <a:pathLst>
              <a:path w="5364480" h="675249">
                <a:moveTo>
                  <a:pt x="75027" y="0"/>
                </a:moveTo>
                <a:lnTo>
                  <a:pt x="5289453" y="0"/>
                </a:lnTo>
                <a:cubicBezTo>
                  <a:pt x="5330889" y="0"/>
                  <a:pt x="5364480" y="33591"/>
                  <a:pt x="5364480" y="75027"/>
                </a:cubicBezTo>
                <a:lnTo>
                  <a:pt x="5364480" y="600222"/>
                </a:lnTo>
                <a:cubicBezTo>
                  <a:pt x="5364480" y="641659"/>
                  <a:pt x="5330889" y="675249"/>
                  <a:pt x="5289453" y="675249"/>
                </a:cubicBezTo>
                <a:lnTo>
                  <a:pt x="75027" y="675249"/>
                </a:lnTo>
                <a:cubicBezTo>
                  <a:pt x="33591" y="675249"/>
                  <a:pt x="0" y="641659"/>
                  <a:pt x="0" y="600222"/>
                </a:cubicBezTo>
                <a:lnTo>
                  <a:pt x="0" y="75027"/>
                </a:lnTo>
                <a:cubicBezTo>
                  <a:pt x="0" y="33591"/>
                  <a:pt x="33591" y="0"/>
                  <a:pt x="7502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6052235"/>
            <a:ext cx="806548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Fraud Flags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99956" y="6089749"/>
            <a:ext cx="150055" cy="150055"/>
          </a:xfrm>
          <a:custGeom>
            <a:avLst/>
            <a:gdLst/>
            <a:ahLst/>
            <a:cxnLst/>
            <a:rect l="l" t="t" r="r" b="b"/>
            <a:pathLst>
              <a:path w="150055" h="150055">
                <a:moveTo>
                  <a:pt x="75028" y="0"/>
                </a:moveTo>
                <a:cubicBezTo>
                  <a:pt x="79336" y="0"/>
                  <a:pt x="83292" y="2374"/>
                  <a:pt x="85344" y="6155"/>
                </a:cubicBezTo>
                <a:lnTo>
                  <a:pt x="148649" y="123385"/>
                </a:lnTo>
                <a:cubicBezTo>
                  <a:pt x="150612" y="127020"/>
                  <a:pt x="150524" y="131416"/>
                  <a:pt x="148414" y="134962"/>
                </a:cubicBezTo>
                <a:cubicBezTo>
                  <a:pt x="146304" y="138508"/>
                  <a:pt x="142465" y="140677"/>
                  <a:pt x="138332" y="140677"/>
                </a:cubicBezTo>
                <a:lnTo>
                  <a:pt x="11723" y="140677"/>
                </a:lnTo>
                <a:cubicBezTo>
                  <a:pt x="7591" y="140677"/>
                  <a:pt x="3781" y="138508"/>
                  <a:pt x="1641" y="134962"/>
                </a:cubicBezTo>
                <a:cubicBezTo>
                  <a:pt x="-498" y="131416"/>
                  <a:pt x="-557" y="127020"/>
                  <a:pt x="1407" y="123385"/>
                </a:cubicBezTo>
                <a:lnTo>
                  <a:pt x="64711" y="6155"/>
                </a:lnTo>
                <a:cubicBezTo>
                  <a:pt x="66763" y="2374"/>
                  <a:pt x="70719" y="0"/>
                  <a:pt x="75028" y="0"/>
                </a:cubicBezTo>
                <a:close/>
                <a:moveTo>
                  <a:pt x="75028" y="49237"/>
                </a:moveTo>
                <a:cubicBezTo>
                  <a:pt x="71130" y="49237"/>
                  <a:pt x="67994" y="52373"/>
                  <a:pt x="67994" y="56271"/>
                </a:cubicBezTo>
                <a:lnTo>
                  <a:pt x="67994" y="89095"/>
                </a:lnTo>
                <a:cubicBezTo>
                  <a:pt x="67994" y="92993"/>
                  <a:pt x="71130" y="96129"/>
                  <a:pt x="75028" y="96129"/>
                </a:cubicBezTo>
                <a:cubicBezTo>
                  <a:pt x="78926" y="96129"/>
                  <a:pt x="82062" y="92993"/>
                  <a:pt x="82062" y="89095"/>
                </a:cubicBezTo>
                <a:lnTo>
                  <a:pt x="82062" y="56271"/>
                </a:lnTo>
                <a:cubicBezTo>
                  <a:pt x="82062" y="52373"/>
                  <a:pt x="78926" y="49237"/>
                  <a:pt x="75028" y="49237"/>
                </a:cubicBezTo>
                <a:close/>
                <a:moveTo>
                  <a:pt x="82853" y="112542"/>
                </a:moveTo>
                <a:cubicBezTo>
                  <a:pt x="83031" y="109637"/>
                  <a:pt x="81582" y="106873"/>
                  <a:pt x="79092" y="105367"/>
                </a:cubicBezTo>
                <a:cubicBezTo>
                  <a:pt x="76602" y="103861"/>
                  <a:pt x="73482" y="103861"/>
                  <a:pt x="70992" y="105367"/>
                </a:cubicBezTo>
                <a:cubicBezTo>
                  <a:pt x="68502" y="106873"/>
                  <a:pt x="67054" y="109637"/>
                  <a:pt x="67232" y="112542"/>
                </a:cubicBezTo>
                <a:cubicBezTo>
                  <a:pt x="67054" y="115446"/>
                  <a:pt x="68502" y="118210"/>
                  <a:pt x="70992" y="119716"/>
                </a:cubicBezTo>
                <a:cubicBezTo>
                  <a:pt x="73482" y="121222"/>
                  <a:pt x="76602" y="121222"/>
                  <a:pt x="79092" y="119716"/>
                </a:cubicBezTo>
                <a:cubicBezTo>
                  <a:pt x="81582" y="118210"/>
                  <a:pt x="83031" y="115446"/>
                  <a:pt x="82853" y="112542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6314832"/>
            <a:ext cx="5205046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4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Indicators of potentially fraudulent claims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53359" y="1850683"/>
            <a:ext cx="5351975" cy="2594708"/>
          </a:xfrm>
          <a:custGeom>
            <a:avLst/>
            <a:gdLst/>
            <a:ahLst/>
            <a:cxnLst/>
            <a:rect l="l" t="t" r="r" b="b"/>
            <a:pathLst>
              <a:path w="5351975" h="2594708">
                <a:moveTo>
                  <a:pt x="75039" y="0"/>
                </a:moveTo>
                <a:lnTo>
                  <a:pt x="5276936" y="0"/>
                </a:lnTo>
                <a:cubicBezTo>
                  <a:pt x="5318379" y="0"/>
                  <a:pt x="5351975" y="33596"/>
                  <a:pt x="5351975" y="75039"/>
                </a:cubicBezTo>
                <a:lnTo>
                  <a:pt x="5351975" y="2519669"/>
                </a:lnTo>
                <a:cubicBezTo>
                  <a:pt x="5351975" y="2561112"/>
                  <a:pt x="5318379" y="2594708"/>
                  <a:pt x="5276936" y="2594708"/>
                </a:cubicBezTo>
                <a:lnTo>
                  <a:pt x="75039" y="2594708"/>
                </a:lnTo>
                <a:cubicBezTo>
                  <a:pt x="33596" y="2594708"/>
                  <a:pt x="0" y="2561112"/>
                  <a:pt x="0" y="2519669"/>
                </a:cubicBezTo>
                <a:lnTo>
                  <a:pt x="0" y="75039"/>
                </a:lnTo>
                <a:cubicBezTo>
                  <a:pt x="0" y="33624"/>
                  <a:pt x="33624" y="0"/>
                  <a:pt x="7503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67500" y="2078893"/>
            <a:ext cx="187569" cy="187569"/>
          </a:xfrm>
          <a:custGeom>
            <a:avLst/>
            <a:gdLst/>
            <a:ahLst/>
            <a:cxnLst/>
            <a:rect l="l" t="t" r="r" b="b"/>
            <a:pathLst>
              <a:path w="187569" h="187569">
                <a:moveTo>
                  <a:pt x="123092" y="128954"/>
                </a:moveTo>
                <a:cubicBezTo>
                  <a:pt x="158701" y="128954"/>
                  <a:pt x="187569" y="100086"/>
                  <a:pt x="187569" y="64477"/>
                </a:cubicBezTo>
                <a:cubicBezTo>
                  <a:pt x="187569" y="28868"/>
                  <a:pt x="158701" y="0"/>
                  <a:pt x="123092" y="0"/>
                </a:cubicBezTo>
                <a:cubicBezTo>
                  <a:pt x="87483" y="0"/>
                  <a:pt x="58615" y="28868"/>
                  <a:pt x="58615" y="64477"/>
                </a:cubicBezTo>
                <a:cubicBezTo>
                  <a:pt x="58615" y="71328"/>
                  <a:pt x="59678" y="77958"/>
                  <a:pt x="61656" y="84150"/>
                </a:cubicBezTo>
                <a:lnTo>
                  <a:pt x="2564" y="143241"/>
                </a:lnTo>
                <a:cubicBezTo>
                  <a:pt x="916" y="144890"/>
                  <a:pt x="0" y="147125"/>
                  <a:pt x="0" y="149469"/>
                </a:cubicBezTo>
                <a:lnTo>
                  <a:pt x="0" y="178777"/>
                </a:lnTo>
                <a:cubicBezTo>
                  <a:pt x="0" y="183649"/>
                  <a:pt x="3920" y="187569"/>
                  <a:pt x="8792" y="187569"/>
                </a:cubicBezTo>
                <a:lnTo>
                  <a:pt x="38100" y="187569"/>
                </a:lnTo>
                <a:cubicBezTo>
                  <a:pt x="42972" y="187569"/>
                  <a:pt x="46892" y="183649"/>
                  <a:pt x="46892" y="178777"/>
                </a:cubicBezTo>
                <a:lnTo>
                  <a:pt x="46892" y="164123"/>
                </a:lnTo>
                <a:lnTo>
                  <a:pt x="61546" y="164123"/>
                </a:lnTo>
                <a:cubicBezTo>
                  <a:pt x="66419" y="164123"/>
                  <a:pt x="70338" y="160203"/>
                  <a:pt x="70338" y="155331"/>
                </a:cubicBezTo>
                <a:lnTo>
                  <a:pt x="70338" y="140677"/>
                </a:lnTo>
                <a:lnTo>
                  <a:pt x="84992" y="140677"/>
                </a:lnTo>
                <a:cubicBezTo>
                  <a:pt x="87337" y="140677"/>
                  <a:pt x="89572" y="139761"/>
                  <a:pt x="91220" y="138113"/>
                </a:cubicBezTo>
                <a:lnTo>
                  <a:pt x="103420" y="125913"/>
                </a:lnTo>
                <a:cubicBezTo>
                  <a:pt x="109611" y="127891"/>
                  <a:pt x="116242" y="128954"/>
                  <a:pt x="123092" y="128954"/>
                </a:cubicBezTo>
                <a:close/>
                <a:moveTo>
                  <a:pt x="137746" y="35169"/>
                </a:moveTo>
                <a:cubicBezTo>
                  <a:pt x="145834" y="35169"/>
                  <a:pt x="152400" y="41735"/>
                  <a:pt x="152400" y="49823"/>
                </a:cubicBezTo>
                <a:cubicBezTo>
                  <a:pt x="152400" y="57911"/>
                  <a:pt x="145834" y="64477"/>
                  <a:pt x="137746" y="64477"/>
                </a:cubicBezTo>
                <a:cubicBezTo>
                  <a:pt x="129658" y="64477"/>
                  <a:pt x="123092" y="57911"/>
                  <a:pt x="123092" y="49823"/>
                </a:cubicBezTo>
                <a:cubicBezTo>
                  <a:pt x="123092" y="41735"/>
                  <a:pt x="129658" y="35169"/>
                  <a:pt x="137746" y="35169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30" name="Text 28"/>
          <p:cNvSpPr/>
          <p:nvPr/>
        </p:nvSpPr>
        <p:spPr>
          <a:xfrm>
            <a:off x="6878515" y="2041379"/>
            <a:ext cx="4829908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7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Foreign Key Relationships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644054" y="2454032"/>
            <a:ext cx="300111" cy="300111"/>
          </a:xfrm>
          <a:custGeom>
            <a:avLst/>
            <a:gdLst/>
            <a:ahLst/>
            <a:cxnLst/>
            <a:rect l="l" t="t" r="r" b="b"/>
            <a:pathLst>
              <a:path w="300111" h="300111">
                <a:moveTo>
                  <a:pt x="37514" y="0"/>
                </a:moveTo>
                <a:lnTo>
                  <a:pt x="262597" y="0"/>
                </a:lnTo>
                <a:cubicBezTo>
                  <a:pt x="283315" y="0"/>
                  <a:pt x="300111" y="16796"/>
                  <a:pt x="300111" y="37514"/>
                </a:cubicBezTo>
                <a:lnTo>
                  <a:pt x="300111" y="262597"/>
                </a:lnTo>
                <a:cubicBezTo>
                  <a:pt x="300111" y="283315"/>
                  <a:pt x="283315" y="300111"/>
                  <a:pt x="262597" y="300111"/>
                </a:cubicBezTo>
                <a:lnTo>
                  <a:pt x="37514" y="300111"/>
                </a:lnTo>
                <a:cubicBezTo>
                  <a:pt x="16796" y="300111"/>
                  <a:pt x="0" y="283315"/>
                  <a:pt x="0" y="262597"/>
                </a:cubicBezTo>
                <a:lnTo>
                  <a:pt x="0" y="37514"/>
                </a:lnTo>
                <a:cubicBezTo>
                  <a:pt x="0" y="16809"/>
                  <a:pt x="16809" y="0"/>
                  <a:pt x="37514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2" name="Text 30"/>
          <p:cNvSpPr/>
          <p:nvPr/>
        </p:nvSpPr>
        <p:spPr>
          <a:xfrm>
            <a:off x="6611229" y="2454032"/>
            <a:ext cx="365760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4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FK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56706" y="2491548"/>
            <a:ext cx="2232074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Customer_Key → Dim_Customer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644054" y="2829172"/>
            <a:ext cx="300111" cy="300111"/>
          </a:xfrm>
          <a:custGeom>
            <a:avLst/>
            <a:gdLst/>
            <a:ahLst/>
            <a:cxnLst/>
            <a:rect l="l" t="t" r="r" b="b"/>
            <a:pathLst>
              <a:path w="300111" h="300111">
                <a:moveTo>
                  <a:pt x="37514" y="0"/>
                </a:moveTo>
                <a:lnTo>
                  <a:pt x="262597" y="0"/>
                </a:lnTo>
                <a:cubicBezTo>
                  <a:pt x="283315" y="0"/>
                  <a:pt x="300111" y="16796"/>
                  <a:pt x="300111" y="37514"/>
                </a:cubicBezTo>
                <a:lnTo>
                  <a:pt x="300111" y="262597"/>
                </a:lnTo>
                <a:cubicBezTo>
                  <a:pt x="300111" y="283315"/>
                  <a:pt x="283315" y="300111"/>
                  <a:pt x="262597" y="300111"/>
                </a:cubicBezTo>
                <a:lnTo>
                  <a:pt x="37514" y="300111"/>
                </a:lnTo>
                <a:cubicBezTo>
                  <a:pt x="16796" y="300111"/>
                  <a:pt x="0" y="283315"/>
                  <a:pt x="0" y="262597"/>
                </a:cubicBezTo>
                <a:lnTo>
                  <a:pt x="0" y="37514"/>
                </a:lnTo>
                <a:cubicBezTo>
                  <a:pt x="0" y="16809"/>
                  <a:pt x="16809" y="0"/>
                  <a:pt x="37514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5" name="Text 33"/>
          <p:cNvSpPr/>
          <p:nvPr/>
        </p:nvSpPr>
        <p:spPr>
          <a:xfrm>
            <a:off x="6611229" y="2829172"/>
            <a:ext cx="365760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4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FK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056706" y="2866686"/>
            <a:ext cx="1716258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Agent_Key → Dim_Agent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644054" y="3204311"/>
            <a:ext cx="300111" cy="300111"/>
          </a:xfrm>
          <a:custGeom>
            <a:avLst/>
            <a:gdLst/>
            <a:ahLst/>
            <a:cxnLst/>
            <a:rect l="l" t="t" r="r" b="b"/>
            <a:pathLst>
              <a:path w="300111" h="300111">
                <a:moveTo>
                  <a:pt x="37514" y="0"/>
                </a:moveTo>
                <a:lnTo>
                  <a:pt x="262597" y="0"/>
                </a:lnTo>
                <a:cubicBezTo>
                  <a:pt x="283315" y="0"/>
                  <a:pt x="300111" y="16796"/>
                  <a:pt x="300111" y="37514"/>
                </a:cubicBezTo>
                <a:lnTo>
                  <a:pt x="300111" y="262597"/>
                </a:lnTo>
                <a:cubicBezTo>
                  <a:pt x="300111" y="283315"/>
                  <a:pt x="283315" y="300111"/>
                  <a:pt x="262597" y="300111"/>
                </a:cubicBezTo>
                <a:lnTo>
                  <a:pt x="37514" y="300111"/>
                </a:lnTo>
                <a:cubicBezTo>
                  <a:pt x="16796" y="300111"/>
                  <a:pt x="0" y="283315"/>
                  <a:pt x="0" y="262597"/>
                </a:cubicBezTo>
                <a:lnTo>
                  <a:pt x="0" y="37514"/>
                </a:lnTo>
                <a:cubicBezTo>
                  <a:pt x="0" y="16809"/>
                  <a:pt x="16809" y="0"/>
                  <a:pt x="37514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8" name="Text 36"/>
          <p:cNvSpPr/>
          <p:nvPr/>
        </p:nvSpPr>
        <p:spPr>
          <a:xfrm>
            <a:off x="6611229" y="3204311"/>
            <a:ext cx="365760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4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FK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56706" y="3241825"/>
            <a:ext cx="1922585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Vendor_Key → Dim_Vendor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644054" y="3579449"/>
            <a:ext cx="300111" cy="300111"/>
          </a:xfrm>
          <a:custGeom>
            <a:avLst/>
            <a:gdLst/>
            <a:ahLst/>
            <a:cxnLst/>
            <a:rect l="l" t="t" r="r" b="b"/>
            <a:pathLst>
              <a:path w="300111" h="300111">
                <a:moveTo>
                  <a:pt x="37514" y="0"/>
                </a:moveTo>
                <a:lnTo>
                  <a:pt x="262597" y="0"/>
                </a:lnTo>
                <a:cubicBezTo>
                  <a:pt x="283315" y="0"/>
                  <a:pt x="300111" y="16796"/>
                  <a:pt x="300111" y="37514"/>
                </a:cubicBezTo>
                <a:lnTo>
                  <a:pt x="300111" y="262597"/>
                </a:lnTo>
                <a:cubicBezTo>
                  <a:pt x="300111" y="283315"/>
                  <a:pt x="283315" y="300111"/>
                  <a:pt x="262597" y="300111"/>
                </a:cubicBezTo>
                <a:lnTo>
                  <a:pt x="37514" y="300111"/>
                </a:lnTo>
                <a:cubicBezTo>
                  <a:pt x="16796" y="300111"/>
                  <a:pt x="0" y="283315"/>
                  <a:pt x="0" y="262597"/>
                </a:cubicBezTo>
                <a:lnTo>
                  <a:pt x="0" y="37514"/>
                </a:lnTo>
                <a:cubicBezTo>
                  <a:pt x="0" y="16809"/>
                  <a:pt x="16809" y="0"/>
                  <a:pt x="37514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1" name="Text 39"/>
          <p:cNvSpPr/>
          <p:nvPr/>
        </p:nvSpPr>
        <p:spPr>
          <a:xfrm>
            <a:off x="6611229" y="3579449"/>
            <a:ext cx="365760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4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FK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056706" y="3616963"/>
            <a:ext cx="1735015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Policy_Key → Dim_Policy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644054" y="3954588"/>
            <a:ext cx="300111" cy="300111"/>
          </a:xfrm>
          <a:custGeom>
            <a:avLst/>
            <a:gdLst/>
            <a:ahLst/>
            <a:cxnLst/>
            <a:rect l="l" t="t" r="r" b="b"/>
            <a:pathLst>
              <a:path w="300111" h="300111">
                <a:moveTo>
                  <a:pt x="37514" y="0"/>
                </a:moveTo>
                <a:lnTo>
                  <a:pt x="262597" y="0"/>
                </a:lnTo>
                <a:cubicBezTo>
                  <a:pt x="283315" y="0"/>
                  <a:pt x="300111" y="16796"/>
                  <a:pt x="300111" y="37514"/>
                </a:cubicBezTo>
                <a:lnTo>
                  <a:pt x="300111" y="262597"/>
                </a:lnTo>
                <a:cubicBezTo>
                  <a:pt x="300111" y="283315"/>
                  <a:pt x="283315" y="300111"/>
                  <a:pt x="262597" y="300111"/>
                </a:cubicBezTo>
                <a:lnTo>
                  <a:pt x="37514" y="300111"/>
                </a:lnTo>
                <a:cubicBezTo>
                  <a:pt x="16796" y="300111"/>
                  <a:pt x="0" y="283315"/>
                  <a:pt x="0" y="262597"/>
                </a:cubicBezTo>
                <a:lnTo>
                  <a:pt x="0" y="37514"/>
                </a:lnTo>
                <a:cubicBezTo>
                  <a:pt x="0" y="16809"/>
                  <a:pt x="16809" y="0"/>
                  <a:pt x="37514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4" name="Text 42"/>
          <p:cNvSpPr/>
          <p:nvPr/>
        </p:nvSpPr>
        <p:spPr>
          <a:xfrm>
            <a:off x="6611229" y="3954588"/>
            <a:ext cx="365760" cy="300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4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FK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056706" y="3992102"/>
            <a:ext cx="1603717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Time_Key → Dim_Time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53359" y="4601700"/>
            <a:ext cx="5351975" cy="2182055"/>
          </a:xfrm>
          <a:custGeom>
            <a:avLst/>
            <a:gdLst/>
            <a:ahLst/>
            <a:cxnLst/>
            <a:rect l="l" t="t" r="r" b="b"/>
            <a:pathLst>
              <a:path w="5351975" h="2182055">
                <a:moveTo>
                  <a:pt x="75019" y="0"/>
                </a:moveTo>
                <a:lnTo>
                  <a:pt x="5276956" y="0"/>
                </a:lnTo>
                <a:cubicBezTo>
                  <a:pt x="5318388" y="0"/>
                  <a:pt x="5351975" y="33587"/>
                  <a:pt x="5351975" y="75019"/>
                </a:cubicBezTo>
                <a:lnTo>
                  <a:pt x="5351975" y="2107036"/>
                </a:lnTo>
                <a:cubicBezTo>
                  <a:pt x="5351975" y="2148468"/>
                  <a:pt x="5318388" y="2182055"/>
                  <a:pt x="5276956" y="2182055"/>
                </a:cubicBezTo>
                <a:lnTo>
                  <a:pt x="75019" y="2182055"/>
                </a:lnTo>
                <a:cubicBezTo>
                  <a:pt x="33587" y="2182055"/>
                  <a:pt x="0" y="2148468"/>
                  <a:pt x="0" y="2107036"/>
                </a:cubicBezTo>
                <a:lnTo>
                  <a:pt x="0" y="75019"/>
                </a:lnTo>
                <a:cubicBezTo>
                  <a:pt x="0" y="33587"/>
                  <a:pt x="33587" y="0"/>
                  <a:pt x="7501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44054" y="4792394"/>
            <a:ext cx="5064369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7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Aggregation Support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644054" y="5167532"/>
            <a:ext cx="504561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fact table design enables efficient aggregation across multiple dimensions: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662811" y="5805268"/>
            <a:ext cx="150055" cy="150055"/>
          </a:xfrm>
          <a:custGeom>
            <a:avLst/>
            <a:gdLst/>
            <a:ahLst/>
            <a:cxnLst/>
            <a:rect l="l" t="t" r="r" b="b"/>
            <a:pathLst>
              <a:path w="150055" h="150055">
                <a:moveTo>
                  <a:pt x="75028" y="150055"/>
                </a:moveTo>
                <a:cubicBezTo>
                  <a:pt x="116437" y="150055"/>
                  <a:pt x="150055" y="116437"/>
                  <a:pt x="150055" y="75028"/>
                </a:cubicBezTo>
                <a:cubicBezTo>
                  <a:pt x="150055" y="33619"/>
                  <a:pt x="116437" y="0"/>
                  <a:pt x="75028" y="0"/>
                </a:cubicBezTo>
                <a:cubicBezTo>
                  <a:pt x="33619" y="0"/>
                  <a:pt x="0" y="33619"/>
                  <a:pt x="0" y="75028"/>
                </a:cubicBezTo>
                <a:cubicBezTo>
                  <a:pt x="0" y="116437"/>
                  <a:pt x="33619" y="150055"/>
                  <a:pt x="75028" y="150055"/>
                </a:cubicBezTo>
                <a:close/>
                <a:moveTo>
                  <a:pt x="99763" y="62337"/>
                </a:moveTo>
                <a:lnTo>
                  <a:pt x="76317" y="99851"/>
                </a:lnTo>
                <a:cubicBezTo>
                  <a:pt x="75086" y="101815"/>
                  <a:pt x="72976" y="103046"/>
                  <a:pt x="70661" y="103163"/>
                </a:cubicBezTo>
                <a:cubicBezTo>
                  <a:pt x="68346" y="103280"/>
                  <a:pt x="66118" y="102225"/>
                  <a:pt x="64741" y="100350"/>
                </a:cubicBezTo>
                <a:lnTo>
                  <a:pt x="50673" y="81593"/>
                </a:lnTo>
                <a:cubicBezTo>
                  <a:pt x="48328" y="78486"/>
                  <a:pt x="48973" y="74090"/>
                  <a:pt x="52080" y="71745"/>
                </a:cubicBezTo>
                <a:cubicBezTo>
                  <a:pt x="55186" y="69401"/>
                  <a:pt x="59583" y="70045"/>
                  <a:pt x="61927" y="73152"/>
                </a:cubicBezTo>
                <a:lnTo>
                  <a:pt x="69840" y="83703"/>
                </a:lnTo>
                <a:lnTo>
                  <a:pt x="87835" y="54893"/>
                </a:lnTo>
                <a:cubicBezTo>
                  <a:pt x="89887" y="51611"/>
                  <a:pt x="94224" y="50585"/>
                  <a:pt x="97536" y="52666"/>
                </a:cubicBezTo>
                <a:cubicBezTo>
                  <a:pt x="100848" y="54747"/>
                  <a:pt x="101844" y="59055"/>
                  <a:pt x="99763" y="62367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50" name="Text 48"/>
          <p:cNvSpPr/>
          <p:nvPr/>
        </p:nvSpPr>
        <p:spPr>
          <a:xfrm>
            <a:off x="6906651" y="5767754"/>
            <a:ext cx="2916702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SUM, AVG, COUNT operations on measures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662811" y="6105378"/>
            <a:ext cx="150055" cy="150055"/>
          </a:xfrm>
          <a:custGeom>
            <a:avLst/>
            <a:gdLst/>
            <a:ahLst/>
            <a:cxnLst/>
            <a:rect l="l" t="t" r="r" b="b"/>
            <a:pathLst>
              <a:path w="150055" h="150055">
                <a:moveTo>
                  <a:pt x="75028" y="150055"/>
                </a:moveTo>
                <a:cubicBezTo>
                  <a:pt x="116437" y="150055"/>
                  <a:pt x="150055" y="116437"/>
                  <a:pt x="150055" y="75028"/>
                </a:cubicBezTo>
                <a:cubicBezTo>
                  <a:pt x="150055" y="33619"/>
                  <a:pt x="116437" y="0"/>
                  <a:pt x="75028" y="0"/>
                </a:cubicBezTo>
                <a:cubicBezTo>
                  <a:pt x="33619" y="0"/>
                  <a:pt x="0" y="33619"/>
                  <a:pt x="0" y="75028"/>
                </a:cubicBezTo>
                <a:cubicBezTo>
                  <a:pt x="0" y="116437"/>
                  <a:pt x="33619" y="150055"/>
                  <a:pt x="75028" y="150055"/>
                </a:cubicBezTo>
                <a:close/>
                <a:moveTo>
                  <a:pt x="99763" y="62337"/>
                </a:moveTo>
                <a:lnTo>
                  <a:pt x="76317" y="99851"/>
                </a:lnTo>
                <a:cubicBezTo>
                  <a:pt x="75086" y="101815"/>
                  <a:pt x="72976" y="103046"/>
                  <a:pt x="70661" y="103163"/>
                </a:cubicBezTo>
                <a:cubicBezTo>
                  <a:pt x="68346" y="103280"/>
                  <a:pt x="66118" y="102225"/>
                  <a:pt x="64741" y="100350"/>
                </a:cubicBezTo>
                <a:lnTo>
                  <a:pt x="50673" y="81593"/>
                </a:lnTo>
                <a:cubicBezTo>
                  <a:pt x="48328" y="78486"/>
                  <a:pt x="48973" y="74090"/>
                  <a:pt x="52080" y="71745"/>
                </a:cubicBezTo>
                <a:cubicBezTo>
                  <a:pt x="55186" y="69401"/>
                  <a:pt x="59583" y="70045"/>
                  <a:pt x="61927" y="73152"/>
                </a:cubicBezTo>
                <a:lnTo>
                  <a:pt x="69840" y="83703"/>
                </a:lnTo>
                <a:lnTo>
                  <a:pt x="87835" y="54893"/>
                </a:lnTo>
                <a:cubicBezTo>
                  <a:pt x="89887" y="51611"/>
                  <a:pt x="94224" y="50585"/>
                  <a:pt x="97536" y="52666"/>
                </a:cubicBezTo>
                <a:cubicBezTo>
                  <a:pt x="100848" y="54747"/>
                  <a:pt x="101844" y="59055"/>
                  <a:pt x="99763" y="62367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52" name="Text 50"/>
          <p:cNvSpPr/>
          <p:nvPr/>
        </p:nvSpPr>
        <p:spPr>
          <a:xfrm>
            <a:off x="6906651" y="6067865"/>
            <a:ext cx="2597834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BY any dimension combination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662811" y="6405489"/>
            <a:ext cx="150055" cy="150055"/>
          </a:xfrm>
          <a:custGeom>
            <a:avLst/>
            <a:gdLst/>
            <a:ahLst/>
            <a:cxnLst/>
            <a:rect l="l" t="t" r="r" b="b"/>
            <a:pathLst>
              <a:path w="150055" h="150055">
                <a:moveTo>
                  <a:pt x="75028" y="150055"/>
                </a:moveTo>
                <a:cubicBezTo>
                  <a:pt x="116437" y="150055"/>
                  <a:pt x="150055" y="116437"/>
                  <a:pt x="150055" y="75028"/>
                </a:cubicBezTo>
                <a:cubicBezTo>
                  <a:pt x="150055" y="33619"/>
                  <a:pt x="116437" y="0"/>
                  <a:pt x="75028" y="0"/>
                </a:cubicBezTo>
                <a:cubicBezTo>
                  <a:pt x="33619" y="0"/>
                  <a:pt x="0" y="33619"/>
                  <a:pt x="0" y="75028"/>
                </a:cubicBezTo>
                <a:cubicBezTo>
                  <a:pt x="0" y="116437"/>
                  <a:pt x="33619" y="150055"/>
                  <a:pt x="75028" y="150055"/>
                </a:cubicBezTo>
                <a:close/>
                <a:moveTo>
                  <a:pt x="99763" y="62337"/>
                </a:moveTo>
                <a:lnTo>
                  <a:pt x="76317" y="99851"/>
                </a:lnTo>
                <a:cubicBezTo>
                  <a:pt x="75086" y="101815"/>
                  <a:pt x="72976" y="103046"/>
                  <a:pt x="70661" y="103163"/>
                </a:cubicBezTo>
                <a:cubicBezTo>
                  <a:pt x="68346" y="103280"/>
                  <a:pt x="66118" y="102225"/>
                  <a:pt x="64741" y="100350"/>
                </a:cubicBezTo>
                <a:lnTo>
                  <a:pt x="50673" y="81593"/>
                </a:lnTo>
                <a:cubicBezTo>
                  <a:pt x="48328" y="78486"/>
                  <a:pt x="48973" y="74090"/>
                  <a:pt x="52080" y="71745"/>
                </a:cubicBezTo>
                <a:cubicBezTo>
                  <a:pt x="55186" y="69401"/>
                  <a:pt x="59583" y="70045"/>
                  <a:pt x="61927" y="73152"/>
                </a:cubicBezTo>
                <a:lnTo>
                  <a:pt x="69840" y="83703"/>
                </a:lnTo>
                <a:lnTo>
                  <a:pt x="87835" y="54893"/>
                </a:lnTo>
                <a:cubicBezTo>
                  <a:pt x="89887" y="51611"/>
                  <a:pt x="94224" y="50585"/>
                  <a:pt x="97536" y="52666"/>
                </a:cubicBezTo>
                <a:cubicBezTo>
                  <a:pt x="100848" y="54747"/>
                  <a:pt x="101844" y="59055"/>
                  <a:pt x="99763" y="62367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54" name="Text 52"/>
          <p:cNvSpPr/>
          <p:nvPr/>
        </p:nvSpPr>
        <p:spPr>
          <a:xfrm>
            <a:off x="6906651" y="6367975"/>
            <a:ext cx="2241452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Time-series analysis and trending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175" y="384175"/>
            <a:ext cx="482600" cy="273050"/>
          </a:xfrm>
          <a:custGeom>
            <a:avLst/>
            <a:gdLst/>
            <a:ahLst/>
            <a:cxnLst/>
            <a:rect l="l" t="t" r="r" b="b"/>
            <a:pathLst>
              <a:path w="482600" h="273050">
                <a:moveTo>
                  <a:pt x="136525" y="0"/>
                </a:moveTo>
                <a:lnTo>
                  <a:pt x="346075" y="0"/>
                </a:lnTo>
                <a:cubicBezTo>
                  <a:pt x="421476" y="0"/>
                  <a:pt x="482600" y="61124"/>
                  <a:pt x="482600" y="136525"/>
                </a:cubicBezTo>
                <a:lnTo>
                  <a:pt x="482600" y="136525"/>
                </a:lnTo>
                <a:cubicBezTo>
                  <a:pt x="482600" y="211926"/>
                  <a:pt x="421476" y="273050"/>
                  <a:pt x="346075" y="273050"/>
                </a:cubicBezTo>
                <a:lnTo>
                  <a:pt x="136525" y="273050"/>
                </a:lnTo>
                <a:cubicBezTo>
                  <a:pt x="61175" y="273050"/>
                  <a:pt x="0" y="211875"/>
                  <a:pt x="0" y="136525"/>
                </a:cubicBezTo>
                <a:lnTo>
                  <a:pt x="0" y="136525"/>
                </a:lnTo>
                <a:cubicBezTo>
                  <a:pt x="0" y="61175"/>
                  <a:pt x="61175" y="0"/>
                  <a:pt x="136525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8467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750" y="425453"/>
            <a:ext cx="23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D8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74702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ETL Process: Extract &amp; Transform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308102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Ingestion and Transformation Pipeline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803402"/>
            <a:ext cx="5581650" cy="3733800"/>
          </a:xfrm>
          <a:custGeom>
            <a:avLst/>
            <a:gdLst/>
            <a:ahLst/>
            <a:cxnLst/>
            <a:rect l="l" t="t" r="r" b="b"/>
            <a:pathLst>
              <a:path w="5581650" h="3733800">
                <a:moveTo>
                  <a:pt x="38100" y="0"/>
                </a:moveTo>
                <a:lnTo>
                  <a:pt x="5505443" y="0"/>
                </a:lnTo>
                <a:cubicBezTo>
                  <a:pt x="5547531" y="0"/>
                  <a:pt x="5581650" y="34119"/>
                  <a:pt x="5581650" y="76207"/>
                </a:cubicBezTo>
                <a:lnTo>
                  <a:pt x="5581650" y="3657593"/>
                </a:lnTo>
                <a:cubicBezTo>
                  <a:pt x="5581650" y="3699681"/>
                  <a:pt x="5547531" y="3733800"/>
                  <a:pt x="5505443" y="3733800"/>
                </a:cubicBezTo>
                <a:lnTo>
                  <a:pt x="38100" y="3733800"/>
                </a:lnTo>
                <a:cubicBezTo>
                  <a:pt x="17072" y="3733800"/>
                  <a:pt x="0" y="3716728"/>
                  <a:pt x="0" y="3695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803402"/>
            <a:ext cx="38100" cy="3733800"/>
          </a:xfrm>
          <a:custGeom>
            <a:avLst/>
            <a:gdLst/>
            <a:ahLst/>
            <a:cxnLst/>
            <a:rect l="l" t="t" r="r" b="b"/>
            <a:pathLst>
              <a:path w="38100" h="3733800">
                <a:moveTo>
                  <a:pt x="38100" y="0"/>
                </a:moveTo>
                <a:lnTo>
                  <a:pt x="38100" y="0"/>
                </a:lnTo>
                <a:lnTo>
                  <a:pt x="38100" y="3733800"/>
                </a:lnTo>
                <a:lnTo>
                  <a:pt x="38100" y="3733800"/>
                </a:lnTo>
                <a:cubicBezTo>
                  <a:pt x="17072" y="3733800"/>
                  <a:pt x="0" y="3716728"/>
                  <a:pt x="0" y="3695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" y="199390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9" name="Text 7"/>
          <p:cNvSpPr/>
          <p:nvPr/>
        </p:nvSpPr>
        <p:spPr>
          <a:xfrm>
            <a:off x="719534" y="2070102"/>
            <a:ext cx="352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1100" y="2070102"/>
            <a:ext cx="1123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603502"/>
            <a:ext cx="5257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Reads data from three CSV source files with UTF-8 encoding and validates data integrity on input.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600" y="3251202"/>
            <a:ext cx="5181600" cy="647700"/>
          </a:xfrm>
          <a:custGeom>
            <a:avLst/>
            <a:gdLst/>
            <a:ahLst/>
            <a:cxnLst/>
            <a:rect l="l" t="t" r="r" b="b"/>
            <a:pathLst>
              <a:path w="5181600" h="647700">
                <a:moveTo>
                  <a:pt x="76202" y="0"/>
                </a:moveTo>
                <a:lnTo>
                  <a:pt x="5105398" y="0"/>
                </a:lnTo>
                <a:cubicBezTo>
                  <a:pt x="5147483" y="0"/>
                  <a:pt x="5181600" y="34117"/>
                  <a:pt x="5181600" y="76202"/>
                </a:cubicBezTo>
                <a:lnTo>
                  <a:pt x="5181600" y="571498"/>
                </a:lnTo>
                <a:cubicBezTo>
                  <a:pt x="5181600" y="613583"/>
                  <a:pt x="5147483" y="647700"/>
                  <a:pt x="51053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35806" y="347980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0"/>
                </a:moveTo>
                <a:cubicBezTo>
                  <a:pt x="22585" y="0"/>
                  <a:pt x="11906" y="10678"/>
                  <a:pt x="11906" y="23812"/>
                </a:cubicBezTo>
                <a:lnTo>
                  <a:pt x="11906" y="166688"/>
                </a:lnTo>
                <a:cubicBezTo>
                  <a:pt x="11906" y="179822"/>
                  <a:pt x="22585" y="190500"/>
                  <a:pt x="35719" y="190500"/>
                </a:cubicBezTo>
                <a:lnTo>
                  <a:pt x="65484" y="190500"/>
                </a:lnTo>
                <a:lnTo>
                  <a:pt x="65484" y="148828"/>
                </a:lnTo>
                <a:cubicBezTo>
                  <a:pt x="65484" y="135694"/>
                  <a:pt x="76163" y="125016"/>
                  <a:pt x="89297" y="125016"/>
                </a:cubicBezTo>
                <a:lnTo>
                  <a:pt x="154781" y="125016"/>
                </a:lnTo>
                <a:lnTo>
                  <a:pt x="154781" y="63438"/>
                </a:lnTo>
                <a:cubicBezTo>
                  <a:pt x="154781" y="57113"/>
                  <a:pt x="152288" y="51048"/>
                  <a:pt x="147824" y="46583"/>
                </a:cubicBezTo>
                <a:lnTo>
                  <a:pt x="108161" y="6958"/>
                </a:lnTo>
                <a:cubicBezTo>
                  <a:pt x="103696" y="2493"/>
                  <a:pt x="97668" y="0"/>
                  <a:pt x="91343" y="0"/>
                </a:cubicBezTo>
                <a:lnTo>
                  <a:pt x="35719" y="0"/>
                </a:lnTo>
                <a:close/>
                <a:moveTo>
                  <a:pt x="133015" y="65484"/>
                </a:moveTo>
                <a:lnTo>
                  <a:pt x="98227" y="65484"/>
                </a:lnTo>
                <a:cubicBezTo>
                  <a:pt x="93278" y="65484"/>
                  <a:pt x="89297" y="61503"/>
                  <a:pt x="89297" y="56555"/>
                </a:cubicBezTo>
                <a:lnTo>
                  <a:pt x="89297" y="21766"/>
                </a:lnTo>
                <a:lnTo>
                  <a:pt x="133015" y="65484"/>
                </a:lnTo>
                <a:close/>
                <a:moveTo>
                  <a:pt x="98227" y="141387"/>
                </a:moveTo>
                <a:cubicBezTo>
                  <a:pt x="89185" y="141387"/>
                  <a:pt x="81855" y="148717"/>
                  <a:pt x="81855" y="157758"/>
                </a:cubicBezTo>
                <a:lnTo>
                  <a:pt x="81855" y="187523"/>
                </a:lnTo>
                <a:cubicBezTo>
                  <a:pt x="81855" y="196565"/>
                  <a:pt x="89185" y="203895"/>
                  <a:pt x="98227" y="203895"/>
                </a:cubicBezTo>
                <a:lnTo>
                  <a:pt x="104180" y="203895"/>
                </a:lnTo>
                <a:cubicBezTo>
                  <a:pt x="113221" y="203895"/>
                  <a:pt x="120551" y="196565"/>
                  <a:pt x="120551" y="187523"/>
                </a:cubicBezTo>
                <a:lnTo>
                  <a:pt x="120551" y="184547"/>
                </a:lnTo>
                <a:cubicBezTo>
                  <a:pt x="120551" y="180454"/>
                  <a:pt x="117202" y="177105"/>
                  <a:pt x="113109" y="177105"/>
                </a:cubicBezTo>
                <a:cubicBezTo>
                  <a:pt x="109017" y="177105"/>
                  <a:pt x="105668" y="180454"/>
                  <a:pt x="105668" y="184547"/>
                </a:cubicBezTo>
                <a:lnTo>
                  <a:pt x="105668" y="187523"/>
                </a:lnTo>
                <a:cubicBezTo>
                  <a:pt x="105668" y="188342"/>
                  <a:pt x="104998" y="189012"/>
                  <a:pt x="104180" y="189012"/>
                </a:cubicBezTo>
                <a:lnTo>
                  <a:pt x="98227" y="189012"/>
                </a:lnTo>
                <a:cubicBezTo>
                  <a:pt x="97408" y="189012"/>
                  <a:pt x="96738" y="188342"/>
                  <a:pt x="96738" y="187523"/>
                </a:cubicBezTo>
                <a:lnTo>
                  <a:pt x="96738" y="157758"/>
                </a:lnTo>
                <a:cubicBezTo>
                  <a:pt x="96738" y="156939"/>
                  <a:pt x="97408" y="156270"/>
                  <a:pt x="98227" y="156270"/>
                </a:cubicBezTo>
                <a:lnTo>
                  <a:pt x="104180" y="156270"/>
                </a:lnTo>
                <a:cubicBezTo>
                  <a:pt x="104998" y="156270"/>
                  <a:pt x="105668" y="156939"/>
                  <a:pt x="105668" y="157758"/>
                </a:cubicBezTo>
                <a:lnTo>
                  <a:pt x="105668" y="160734"/>
                </a:lnTo>
                <a:cubicBezTo>
                  <a:pt x="105668" y="164827"/>
                  <a:pt x="109017" y="168176"/>
                  <a:pt x="113109" y="168176"/>
                </a:cubicBezTo>
                <a:cubicBezTo>
                  <a:pt x="117202" y="168176"/>
                  <a:pt x="120551" y="164827"/>
                  <a:pt x="120551" y="160734"/>
                </a:cubicBezTo>
                <a:lnTo>
                  <a:pt x="120551" y="157758"/>
                </a:lnTo>
                <a:cubicBezTo>
                  <a:pt x="120551" y="148717"/>
                  <a:pt x="113221" y="141387"/>
                  <a:pt x="104180" y="141387"/>
                </a:cubicBezTo>
                <a:lnTo>
                  <a:pt x="98227" y="141387"/>
                </a:lnTo>
                <a:close/>
                <a:moveTo>
                  <a:pt x="148828" y="141387"/>
                </a:moveTo>
                <a:cubicBezTo>
                  <a:pt x="138150" y="141387"/>
                  <a:pt x="129480" y="150056"/>
                  <a:pt x="129480" y="160734"/>
                </a:cubicBezTo>
                <a:cubicBezTo>
                  <a:pt x="129480" y="171413"/>
                  <a:pt x="138150" y="180082"/>
                  <a:pt x="148828" y="180082"/>
                </a:cubicBezTo>
                <a:cubicBezTo>
                  <a:pt x="151284" y="180082"/>
                  <a:pt x="153293" y="182091"/>
                  <a:pt x="153293" y="184547"/>
                </a:cubicBezTo>
                <a:cubicBezTo>
                  <a:pt x="153293" y="187003"/>
                  <a:pt x="151284" y="189012"/>
                  <a:pt x="148828" y="189012"/>
                </a:cubicBezTo>
                <a:lnTo>
                  <a:pt x="136922" y="189012"/>
                </a:lnTo>
                <a:cubicBezTo>
                  <a:pt x="132829" y="189012"/>
                  <a:pt x="129480" y="192360"/>
                  <a:pt x="129480" y="196453"/>
                </a:cubicBezTo>
                <a:cubicBezTo>
                  <a:pt x="129480" y="200546"/>
                  <a:pt x="132829" y="203895"/>
                  <a:pt x="136922" y="203895"/>
                </a:cubicBezTo>
                <a:lnTo>
                  <a:pt x="148828" y="203895"/>
                </a:lnTo>
                <a:cubicBezTo>
                  <a:pt x="159507" y="203895"/>
                  <a:pt x="168176" y="195225"/>
                  <a:pt x="168176" y="184547"/>
                </a:cubicBezTo>
                <a:cubicBezTo>
                  <a:pt x="168176" y="173868"/>
                  <a:pt x="159507" y="165199"/>
                  <a:pt x="148828" y="165199"/>
                </a:cubicBezTo>
                <a:cubicBezTo>
                  <a:pt x="146372" y="165199"/>
                  <a:pt x="144363" y="163190"/>
                  <a:pt x="144363" y="160734"/>
                </a:cubicBezTo>
                <a:cubicBezTo>
                  <a:pt x="144363" y="158279"/>
                  <a:pt x="146372" y="156270"/>
                  <a:pt x="148828" y="156270"/>
                </a:cubicBezTo>
                <a:lnTo>
                  <a:pt x="157758" y="156270"/>
                </a:lnTo>
                <a:cubicBezTo>
                  <a:pt x="161851" y="156270"/>
                  <a:pt x="165199" y="152921"/>
                  <a:pt x="165199" y="148828"/>
                </a:cubicBezTo>
                <a:cubicBezTo>
                  <a:pt x="165199" y="144735"/>
                  <a:pt x="161851" y="141387"/>
                  <a:pt x="157758" y="141387"/>
                </a:cubicBezTo>
                <a:lnTo>
                  <a:pt x="148828" y="141387"/>
                </a:lnTo>
                <a:close/>
                <a:moveTo>
                  <a:pt x="184547" y="141387"/>
                </a:moveTo>
                <a:cubicBezTo>
                  <a:pt x="180454" y="141387"/>
                  <a:pt x="177105" y="144735"/>
                  <a:pt x="177105" y="148828"/>
                </a:cubicBezTo>
                <a:lnTo>
                  <a:pt x="177105" y="160586"/>
                </a:lnTo>
                <a:cubicBezTo>
                  <a:pt x="177105" y="173794"/>
                  <a:pt x="181012" y="186742"/>
                  <a:pt x="188342" y="197718"/>
                </a:cubicBezTo>
                <a:lnTo>
                  <a:pt x="190240" y="200583"/>
                </a:lnTo>
                <a:cubicBezTo>
                  <a:pt x="191616" y="202667"/>
                  <a:pt x="193960" y="203895"/>
                  <a:pt x="196416" y="203895"/>
                </a:cubicBezTo>
                <a:cubicBezTo>
                  <a:pt x="198872" y="203895"/>
                  <a:pt x="201216" y="202667"/>
                  <a:pt x="202592" y="200583"/>
                </a:cubicBezTo>
                <a:lnTo>
                  <a:pt x="204490" y="197718"/>
                </a:lnTo>
                <a:cubicBezTo>
                  <a:pt x="211820" y="186705"/>
                  <a:pt x="215726" y="173794"/>
                  <a:pt x="215726" y="160586"/>
                </a:cubicBezTo>
                <a:lnTo>
                  <a:pt x="215726" y="148828"/>
                </a:lnTo>
                <a:cubicBezTo>
                  <a:pt x="215726" y="144735"/>
                  <a:pt x="212378" y="141387"/>
                  <a:pt x="208285" y="141387"/>
                </a:cubicBezTo>
                <a:cubicBezTo>
                  <a:pt x="204192" y="141387"/>
                  <a:pt x="200844" y="144735"/>
                  <a:pt x="200844" y="148828"/>
                </a:cubicBezTo>
                <a:lnTo>
                  <a:pt x="200844" y="160586"/>
                </a:lnTo>
                <a:cubicBezTo>
                  <a:pt x="200844" y="167878"/>
                  <a:pt x="199318" y="175059"/>
                  <a:pt x="196379" y="181682"/>
                </a:cubicBezTo>
                <a:cubicBezTo>
                  <a:pt x="193439" y="175059"/>
                  <a:pt x="191914" y="167878"/>
                  <a:pt x="191914" y="160586"/>
                </a:cubicBezTo>
                <a:lnTo>
                  <a:pt x="191914" y="148828"/>
                </a:lnTo>
                <a:cubicBezTo>
                  <a:pt x="191914" y="144735"/>
                  <a:pt x="188565" y="141387"/>
                  <a:pt x="184472" y="141387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14" name="Text 12"/>
          <p:cNvSpPr/>
          <p:nvPr/>
        </p:nvSpPr>
        <p:spPr>
          <a:xfrm>
            <a:off x="1076325" y="3365502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insurance_data.csv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6325" y="3594102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Claims and customer data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600" y="3975102"/>
            <a:ext cx="5181600" cy="647700"/>
          </a:xfrm>
          <a:custGeom>
            <a:avLst/>
            <a:gdLst/>
            <a:ahLst/>
            <a:cxnLst/>
            <a:rect l="l" t="t" r="r" b="b"/>
            <a:pathLst>
              <a:path w="5181600" h="647700">
                <a:moveTo>
                  <a:pt x="76202" y="0"/>
                </a:moveTo>
                <a:lnTo>
                  <a:pt x="5105398" y="0"/>
                </a:lnTo>
                <a:cubicBezTo>
                  <a:pt x="5147483" y="0"/>
                  <a:pt x="5181600" y="34117"/>
                  <a:pt x="5181600" y="76202"/>
                </a:cubicBezTo>
                <a:lnTo>
                  <a:pt x="5181600" y="571498"/>
                </a:lnTo>
                <a:cubicBezTo>
                  <a:pt x="5181600" y="613583"/>
                  <a:pt x="5147483" y="647700"/>
                  <a:pt x="51053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35806" y="420370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0"/>
                </a:moveTo>
                <a:cubicBezTo>
                  <a:pt x="22585" y="0"/>
                  <a:pt x="11906" y="10678"/>
                  <a:pt x="11906" y="23812"/>
                </a:cubicBezTo>
                <a:lnTo>
                  <a:pt x="11906" y="166688"/>
                </a:lnTo>
                <a:cubicBezTo>
                  <a:pt x="11906" y="179822"/>
                  <a:pt x="22585" y="190500"/>
                  <a:pt x="35719" y="190500"/>
                </a:cubicBezTo>
                <a:lnTo>
                  <a:pt x="65484" y="190500"/>
                </a:lnTo>
                <a:lnTo>
                  <a:pt x="65484" y="148828"/>
                </a:lnTo>
                <a:cubicBezTo>
                  <a:pt x="65484" y="135694"/>
                  <a:pt x="76163" y="125016"/>
                  <a:pt x="89297" y="125016"/>
                </a:cubicBezTo>
                <a:lnTo>
                  <a:pt x="154781" y="125016"/>
                </a:lnTo>
                <a:lnTo>
                  <a:pt x="154781" y="63438"/>
                </a:lnTo>
                <a:cubicBezTo>
                  <a:pt x="154781" y="57113"/>
                  <a:pt x="152288" y="51048"/>
                  <a:pt x="147824" y="46583"/>
                </a:cubicBezTo>
                <a:lnTo>
                  <a:pt x="108161" y="6958"/>
                </a:lnTo>
                <a:cubicBezTo>
                  <a:pt x="103696" y="2493"/>
                  <a:pt x="97668" y="0"/>
                  <a:pt x="91343" y="0"/>
                </a:cubicBezTo>
                <a:lnTo>
                  <a:pt x="35719" y="0"/>
                </a:lnTo>
                <a:close/>
                <a:moveTo>
                  <a:pt x="133015" y="65484"/>
                </a:moveTo>
                <a:lnTo>
                  <a:pt x="98227" y="65484"/>
                </a:lnTo>
                <a:cubicBezTo>
                  <a:pt x="93278" y="65484"/>
                  <a:pt x="89297" y="61503"/>
                  <a:pt x="89297" y="56555"/>
                </a:cubicBezTo>
                <a:lnTo>
                  <a:pt x="89297" y="21766"/>
                </a:lnTo>
                <a:lnTo>
                  <a:pt x="133015" y="65484"/>
                </a:lnTo>
                <a:close/>
                <a:moveTo>
                  <a:pt x="98227" y="141387"/>
                </a:moveTo>
                <a:cubicBezTo>
                  <a:pt x="89185" y="141387"/>
                  <a:pt x="81855" y="148717"/>
                  <a:pt x="81855" y="157758"/>
                </a:cubicBezTo>
                <a:lnTo>
                  <a:pt x="81855" y="187523"/>
                </a:lnTo>
                <a:cubicBezTo>
                  <a:pt x="81855" y="196565"/>
                  <a:pt x="89185" y="203895"/>
                  <a:pt x="98227" y="203895"/>
                </a:cubicBezTo>
                <a:lnTo>
                  <a:pt x="104180" y="203895"/>
                </a:lnTo>
                <a:cubicBezTo>
                  <a:pt x="113221" y="203895"/>
                  <a:pt x="120551" y="196565"/>
                  <a:pt x="120551" y="187523"/>
                </a:cubicBezTo>
                <a:lnTo>
                  <a:pt x="120551" y="184547"/>
                </a:lnTo>
                <a:cubicBezTo>
                  <a:pt x="120551" y="180454"/>
                  <a:pt x="117202" y="177105"/>
                  <a:pt x="113109" y="177105"/>
                </a:cubicBezTo>
                <a:cubicBezTo>
                  <a:pt x="109017" y="177105"/>
                  <a:pt x="105668" y="180454"/>
                  <a:pt x="105668" y="184547"/>
                </a:cubicBezTo>
                <a:lnTo>
                  <a:pt x="105668" y="187523"/>
                </a:lnTo>
                <a:cubicBezTo>
                  <a:pt x="105668" y="188342"/>
                  <a:pt x="104998" y="189012"/>
                  <a:pt x="104180" y="189012"/>
                </a:cubicBezTo>
                <a:lnTo>
                  <a:pt x="98227" y="189012"/>
                </a:lnTo>
                <a:cubicBezTo>
                  <a:pt x="97408" y="189012"/>
                  <a:pt x="96738" y="188342"/>
                  <a:pt x="96738" y="187523"/>
                </a:cubicBezTo>
                <a:lnTo>
                  <a:pt x="96738" y="157758"/>
                </a:lnTo>
                <a:cubicBezTo>
                  <a:pt x="96738" y="156939"/>
                  <a:pt x="97408" y="156270"/>
                  <a:pt x="98227" y="156270"/>
                </a:cubicBezTo>
                <a:lnTo>
                  <a:pt x="104180" y="156270"/>
                </a:lnTo>
                <a:cubicBezTo>
                  <a:pt x="104998" y="156270"/>
                  <a:pt x="105668" y="156939"/>
                  <a:pt x="105668" y="157758"/>
                </a:cubicBezTo>
                <a:lnTo>
                  <a:pt x="105668" y="160734"/>
                </a:lnTo>
                <a:cubicBezTo>
                  <a:pt x="105668" y="164827"/>
                  <a:pt x="109017" y="168176"/>
                  <a:pt x="113109" y="168176"/>
                </a:cubicBezTo>
                <a:cubicBezTo>
                  <a:pt x="117202" y="168176"/>
                  <a:pt x="120551" y="164827"/>
                  <a:pt x="120551" y="160734"/>
                </a:cubicBezTo>
                <a:lnTo>
                  <a:pt x="120551" y="157758"/>
                </a:lnTo>
                <a:cubicBezTo>
                  <a:pt x="120551" y="148717"/>
                  <a:pt x="113221" y="141387"/>
                  <a:pt x="104180" y="141387"/>
                </a:cubicBezTo>
                <a:lnTo>
                  <a:pt x="98227" y="141387"/>
                </a:lnTo>
                <a:close/>
                <a:moveTo>
                  <a:pt x="148828" y="141387"/>
                </a:moveTo>
                <a:cubicBezTo>
                  <a:pt x="138150" y="141387"/>
                  <a:pt x="129480" y="150056"/>
                  <a:pt x="129480" y="160734"/>
                </a:cubicBezTo>
                <a:cubicBezTo>
                  <a:pt x="129480" y="171413"/>
                  <a:pt x="138150" y="180082"/>
                  <a:pt x="148828" y="180082"/>
                </a:cubicBezTo>
                <a:cubicBezTo>
                  <a:pt x="151284" y="180082"/>
                  <a:pt x="153293" y="182091"/>
                  <a:pt x="153293" y="184547"/>
                </a:cubicBezTo>
                <a:cubicBezTo>
                  <a:pt x="153293" y="187003"/>
                  <a:pt x="151284" y="189012"/>
                  <a:pt x="148828" y="189012"/>
                </a:cubicBezTo>
                <a:lnTo>
                  <a:pt x="136922" y="189012"/>
                </a:lnTo>
                <a:cubicBezTo>
                  <a:pt x="132829" y="189012"/>
                  <a:pt x="129480" y="192360"/>
                  <a:pt x="129480" y="196453"/>
                </a:cubicBezTo>
                <a:cubicBezTo>
                  <a:pt x="129480" y="200546"/>
                  <a:pt x="132829" y="203895"/>
                  <a:pt x="136922" y="203895"/>
                </a:cubicBezTo>
                <a:lnTo>
                  <a:pt x="148828" y="203895"/>
                </a:lnTo>
                <a:cubicBezTo>
                  <a:pt x="159507" y="203895"/>
                  <a:pt x="168176" y="195225"/>
                  <a:pt x="168176" y="184547"/>
                </a:cubicBezTo>
                <a:cubicBezTo>
                  <a:pt x="168176" y="173868"/>
                  <a:pt x="159507" y="165199"/>
                  <a:pt x="148828" y="165199"/>
                </a:cubicBezTo>
                <a:cubicBezTo>
                  <a:pt x="146372" y="165199"/>
                  <a:pt x="144363" y="163190"/>
                  <a:pt x="144363" y="160734"/>
                </a:cubicBezTo>
                <a:cubicBezTo>
                  <a:pt x="144363" y="158279"/>
                  <a:pt x="146372" y="156270"/>
                  <a:pt x="148828" y="156270"/>
                </a:cubicBezTo>
                <a:lnTo>
                  <a:pt x="157758" y="156270"/>
                </a:lnTo>
                <a:cubicBezTo>
                  <a:pt x="161851" y="156270"/>
                  <a:pt x="165199" y="152921"/>
                  <a:pt x="165199" y="148828"/>
                </a:cubicBezTo>
                <a:cubicBezTo>
                  <a:pt x="165199" y="144735"/>
                  <a:pt x="161851" y="141387"/>
                  <a:pt x="157758" y="141387"/>
                </a:cubicBezTo>
                <a:lnTo>
                  <a:pt x="148828" y="141387"/>
                </a:lnTo>
                <a:close/>
                <a:moveTo>
                  <a:pt x="184547" y="141387"/>
                </a:moveTo>
                <a:cubicBezTo>
                  <a:pt x="180454" y="141387"/>
                  <a:pt x="177105" y="144735"/>
                  <a:pt x="177105" y="148828"/>
                </a:cubicBezTo>
                <a:lnTo>
                  <a:pt x="177105" y="160586"/>
                </a:lnTo>
                <a:cubicBezTo>
                  <a:pt x="177105" y="173794"/>
                  <a:pt x="181012" y="186742"/>
                  <a:pt x="188342" y="197718"/>
                </a:cubicBezTo>
                <a:lnTo>
                  <a:pt x="190240" y="200583"/>
                </a:lnTo>
                <a:cubicBezTo>
                  <a:pt x="191616" y="202667"/>
                  <a:pt x="193960" y="203895"/>
                  <a:pt x="196416" y="203895"/>
                </a:cubicBezTo>
                <a:cubicBezTo>
                  <a:pt x="198872" y="203895"/>
                  <a:pt x="201216" y="202667"/>
                  <a:pt x="202592" y="200583"/>
                </a:cubicBezTo>
                <a:lnTo>
                  <a:pt x="204490" y="197718"/>
                </a:lnTo>
                <a:cubicBezTo>
                  <a:pt x="211820" y="186705"/>
                  <a:pt x="215726" y="173794"/>
                  <a:pt x="215726" y="160586"/>
                </a:cubicBezTo>
                <a:lnTo>
                  <a:pt x="215726" y="148828"/>
                </a:lnTo>
                <a:cubicBezTo>
                  <a:pt x="215726" y="144735"/>
                  <a:pt x="212378" y="141387"/>
                  <a:pt x="208285" y="141387"/>
                </a:cubicBezTo>
                <a:cubicBezTo>
                  <a:pt x="204192" y="141387"/>
                  <a:pt x="200844" y="144735"/>
                  <a:pt x="200844" y="148828"/>
                </a:cubicBezTo>
                <a:lnTo>
                  <a:pt x="200844" y="160586"/>
                </a:lnTo>
                <a:cubicBezTo>
                  <a:pt x="200844" y="167878"/>
                  <a:pt x="199318" y="175059"/>
                  <a:pt x="196379" y="181682"/>
                </a:cubicBezTo>
                <a:cubicBezTo>
                  <a:pt x="193439" y="175059"/>
                  <a:pt x="191914" y="167878"/>
                  <a:pt x="191914" y="160586"/>
                </a:cubicBezTo>
                <a:lnTo>
                  <a:pt x="191914" y="148828"/>
                </a:lnTo>
                <a:cubicBezTo>
                  <a:pt x="191914" y="144735"/>
                  <a:pt x="188565" y="141387"/>
                  <a:pt x="184472" y="141387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18" name="Text 16"/>
          <p:cNvSpPr/>
          <p:nvPr/>
        </p:nvSpPr>
        <p:spPr>
          <a:xfrm>
            <a:off x="1076325" y="4089402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employee_data.csv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6325" y="4318002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information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9600" y="4699002"/>
            <a:ext cx="5181600" cy="647700"/>
          </a:xfrm>
          <a:custGeom>
            <a:avLst/>
            <a:gdLst/>
            <a:ahLst/>
            <a:cxnLst/>
            <a:rect l="l" t="t" r="r" b="b"/>
            <a:pathLst>
              <a:path w="5181600" h="647700">
                <a:moveTo>
                  <a:pt x="76202" y="0"/>
                </a:moveTo>
                <a:lnTo>
                  <a:pt x="5105398" y="0"/>
                </a:lnTo>
                <a:cubicBezTo>
                  <a:pt x="5147483" y="0"/>
                  <a:pt x="5181600" y="34117"/>
                  <a:pt x="5181600" y="76202"/>
                </a:cubicBezTo>
                <a:lnTo>
                  <a:pt x="5181600" y="571498"/>
                </a:lnTo>
                <a:cubicBezTo>
                  <a:pt x="5181600" y="613583"/>
                  <a:pt x="5147483" y="647700"/>
                  <a:pt x="51053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35806" y="492760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0"/>
                </a:moveTo>
                <a:cubicBezTo>
                  <a:pt x="22585" y="0"/>
                  <a:pt x="11906" y="10678"/>
                  <a:pt x="11906" y="23812"/>
                </a:cubicBezTo>
                <a:lnTo>
                  <a:pt x="11906" y="166688"/>
                </a:lnTo>
                <a:cubicBezTo>
                  <a:pt x="11906" y="179822"/>
                  <a:pt x="22585" y="190500"/>
                  <a:pt x="35719" y="190500"/>
                </a:cubicBezTo>
                <a:lnTo>
                  <a:pt x="65484" y="190500"/>
                </a:lnTo>
                <a:lnTo>
                  <a:pt x="65484" y="148828"/>
                </a:lnTo>
                <a:cubicBezTo>
                  <a:pt x="65484" y="135694"/>
                  <a:pt x="76163" y="125016"/>
                  <a:pt x="89297" y="125016"/>
                </a:cubicBezTo>
                <a:lnTo>
                  <a:pt x="154781" y="125016"/>
                </a:lnTo>
                <a:lnTo>
                  <a:pt x="154781" y="63438"/>
                </a:lnTo>
                <a:cubicBezTo>
                  <a:pt x="154781" y="57113"/>
                  <a:pt x="152288" y="51048"/>
                  <a:pt x="147824" y="46583"/>
                </a:cubicBezTo>
                <a:lnTo>
                  <a:pt x="108161" y="6958"/>
                </a:lnTo>
                <a:cubicBezTo>
                  <a:pt x="103696" y="2493"/>
                  <a:pt x="97668" y="0"/>
                  <a:pt x="91343" y="0"/>
                </a:cubicBezTo>
                <a:lnTo>
                  <a:pt x="35719" y="0"/>
                </a:lnTo>
                <a:close/>
                <a:moveTo>
                  <a:pt x="133015" y="65484"/>
                </a:moveTo>
                <a:lnTo>
                  <a:pt x="98227" y="65484"/>
                </a:lnTo>
                <a:cubicBezTo>
                  <a:pt x="93278" y="65484"/>
                  <a:pt x="89297" y="61503"/>
                  <a:pt x="89297" y="56555"/>
                </a:cubicBezTo>
                <a:lnTo>
                  <a:pt x="89297" y="21766"/>
                </a:lnTo>
                <a:lnTo>
                  <a:pt x="133015" y="65484"/>
                </a:lnTo>
                <a:close/>
                <a:moveTo>
                  <a:pt x="98227" y="141387"/>
                </a:moveTo>
                <a:cubicBezTo>
                  <a:pt x="89185" y="141387"/>
                  <a:pt x="81855" y="148717"/>
                  <a:pt x="81855" y="157758"/>
                </a:cubicBezTo>
                <a:lnTo>
                  <a:pt x="81855" y="187523"/>
                </a:lnTo>
                <a:cubicBezTo>
                  <a:pt x="81855" y="196565"/>
                  <a:pt x="89185" y="203895"/>
                  <a:pt x="98227" y="203895"/>
                </a:cubicBezTo>
                <a:lnTo>
                  <a:pt x="104180" y="203895"/>
                </a:lnTo>
                <a:cubicBezTo>
                  <a:pt x="113221" y="203895"/>
                  <a:pt x="120551" y="196565"/>
                  <a:pt x="120551" y="187523"/>
                </a:cubicBezTo>
                <a:lnTo>
                  <a:pt x="120551" y="184547"/>
                </a:lnTo>
                <a:cubicBezTo>
                  <a:pt x="120551" y="180454"/>
                  <a:pt x="117202" y="177105"/>
                  <a:pt x="113109" y="177105"/>
                </a:cubicBezTo>
                <a:cubicBezTo>
                  <a:pt x="109017" y="177105"/>
                  <a:pt x="105668" y="180454"/>
                  <a:pt x="105668" y="184547"/>
                </a:cubicBezTo>
                <a:lnTo>
                  <a:pt x="105668" y="187523"/>
                </a:lnTo>
                <a:cubicBezTo>
                  <a:pt x="105668" y="188342"/>
                  <a:pt x="104998" y="189012"/>
                  <a:pt x="104180" y="189012"/>
                </a:cubicBezTo>
                <a:lnTo>
                  <a:pt x="98227" y="189012"/>
                </a:lnTo>
                <a:cubicBezTo>
                  <a:pt x="97408" y="189012"/>
                  <a:pt x="96738" y="188342"/>
                  <a:pt x="96738" y="187523"/>
                </a:cubicBezTo>
                <a:lnTo>
                  <a:pt x="96738" y="157758"/>
                </a:lnTo>
                <a:cubicBezTo>
                  <a:pt x="96738" y="156939"/>
                  <a:pt x="97408" y="156270"/>
                  <a:pt x="98227" y="156270"/>
                </a:cubicBezTo>
                <a:lnTo>
                  <a:pt x="104180" y="156270"/>
                </a:lnTo>
                <a:cubicBezTo>
                  <a:pt x="104998" y="156270"/>
                  <a:pt x="105668" y="156939"/>
                  <a:pt x="105668" y="157758"/>
                </a:cubicBezTo>
                <a:lnTo>
                  <a:pt x="105668" y="160734"/>
                </a:lnTo>
                <a:cubicBezTo>
                  <a:pt x="105668" y="164827"/>
                  <a:pt x="109017" y="168176"/>
                  <a:pt x="113109" y="168176"/>
                </a:cubicBezTo>
                <a:cubicBezTo>
                  <a:pt x="117202" y="168176"/>
                  <a:pt x="120551" y="164827"/>
                  <a:pt x="120551" y="160734"/>
                </a:cubicBezTo>
                <a:lnTo>
                  <a:pt x="120551" y="157758"/>
                </a:lnTo>
                <a:cubicBezTo>
                  <a:pt x="120551" y="148717"/>
                  <a:pt x="113221" y="141387"/>
                  <a:pt x="104180" y="141387"/>
                </a:cubicBezTo>
                <a:lnTo>
                  <a:pt x="98227" y="141387"/>
                </a:lnTo>
                <a:close/>
                <a:moveTo>
                  <a:pt x="148828" y="141387"/>
                </a:moveTo>
                <a:cubicBezTo>
                  <a:pt x="138150" y="141387"/>
                  <a:pt x="129480" y="150056"/>
                  <a:pt x="129480" y="160734"/>
                </a:cubicBezTo>
                <a:cubicBezTo>
                  <a:pt x="129480" y="171413"/>
                  <a:pt x="138150" y="180082"/>
                  <a:pt x="148828" y="180082"/>
                </a:cubicBezTo>
                <a:cubicBezTo>
                  <a:pt x="151284" y="180082"/>
                  <a:pt x="153293" y="182091"/>
                  <a:pt x="153293" y="184547"/>
                </a:cubicBezTo>
                <a:cubicBezTo>
                  <a:pt x="153293" y="187003"/>
                  <a:pt x="151284" y="189012"/>
                  <a:pt x="148828" y="189012"/>
                </a:cubicBezTo>
                <a:lnTo>
                  <a:pt x="136922" y="189012"/>
                </a:lnTo>
                <a:cubicBezTo>
                  <a:pt x="132829" y="189012"/>
                  <a:pt x="129480" y="192360"/>
                  <a:pt x="129480" y="196453"/>
                </a:cubicBezTo>
                <a:cubicBezTo>
                  <a:pt x="129480" y="200546"/>
                  <a:pt x="132829" y="203895"/>
                  <a:pt x="136922" y="203895"/>
                </a:cubicBezTo>
                <a:lnTo>
                  <a:pt x="148828" y="203895"/>
                </a:lnTo>
                <a:cubicBezTo>
                  <a:pt x="159507" y="203895"/>
                  <a:pt x="168176" y="195225"/>
                  <a:pt x="168176" y="184547"/>
                </a:cubicBezTo>
                <a:cubicBezTo>
                  <a:pt x="168176" y="173868"/>
                  <a:pt x="159507" y="165199"/>
                  <a:pt x="148828" y="165199"/>
                </a:cubicBezTo>
                <a:cubicBezTo>
                  <a:pt x="146372" y="165199"/>
                  <a:pt x="144363" y="163190"/>
                  <a:pt x="144363" y="160734"/>
                </a:cubicBezTo>
                <a:cubicBezTo>
                  <a:pt x="144363" y="158279"/>
                  <a:pt x="146372" y="156270"/>
                  <a:pt x="148828" y="156270"/>
                </a:cubicBezTo>
                <a:lnTo>
                  <a:pt x="157758" y="156270"/>
                </a:lnTo>
                <a:cubicBezTo>
                  <a:pt x="161851" y="156270"/>
                  <a:pt x="165199" y="152921"/>
                  <a:pt x="165199" y="148828"/>
                </a:cubicBezTo>
                <a:cubicBezTo>
                  <a:pt x="165199" y="144735"/>
                  <a:pt x="161851" y="141387"/>
                  <a:pt x="157758" y="141387"/>
                </a:cubicBezTo>
                <a:lnTo>
                  <a:pt x="148828" y="141387"/>
                </a:lnTo>
                <a:close/>
                <a:moveTo>
                  <a:pt x="184547" y="141387"/>
                </a:moveTo>
                <a:cubicBezTo>
                  <a:pt x="180454" y="141387"/>
                  <a:pt x="177105" y="144735"/>
                  <a:pt x="177105" y="148828"/>
                </a:cubicBezTo>
                <a:lnTo>
                  <a:pt x="177105" y="160586"/>
                </a:lnTo>
                <a:cubicBezTo>
                  <a:pt x="177105" y="173794"/>
                  <a:pt x="181012" y="186742"/>
                  <a:pt x="188342" y="197718"/>
                </a:cubicBezTo>
                <a:lnTo>
                  <a:pt x="190240" y="200583"/>
                </a:lnTo>
                <a:cubicBezTo>
                  <a:pt x="191616" y="202667"/>
                  <a:pt x="193960" y="203895"/>
                  <a:pt x="196416" y="203895"/>
                </a:cubicBezTo>
                <a:cubicBezTo>
                  <a:pt x="198872" y="203895"/>
                  <a:pt x="201216" y="202667"/>
                  <a:pt x="202592" y="200583"/>
                </a:cubicBezTo>
                <a:lnTo>
                  <a:pt x="204490" y="197718"/>
                </a:lnTo>
                <a:cubicBezTo>
                  <a:pt x="211820" y="186705"/>
                  <a:pt x="215726" y="173794"/>
                  <a:pt x="215726" y="160586"/>
                </a:cubicBezTo>
                <a:lnTo>
                  <a:pt x="215726" y="148828"/>
                </a:lnTo>
                <a:cubicBezTo>
                  <a:pt x="215726" y="144735"/>
                  <a:pt x="212378" y="141387"/>
                  <a:pt x="208285" y="141387"/>
                </a:cubicBezTo>
                <a:cubicBezTo>
                  <a:pt x="204192" y="141387"/>
                  <a:pt x="200844" y="144735"/>
                  <a:pt x="200844" y="148828"/>
                </a:cubicBezTo>
                <a:lnTo>
                  <a:pt x="200844" y="160586"/>
                </a:lnTo>
                <a:cubicBezTo>
                  <a:pt x="200844" y="167878"/>
                  <a:pt x="199318" y="175059"/>
                  <a:pt x="196379" y="181682"/>
                </a:cubicBezTo>
                <a:cubicBezTo>
                  <a:pt x="193439" y="175059"/>
                  <a:pt x="191914" y="167878"/>
                  <a:pt x="191914" y="160586"/>
                </a:cubicBezTo>
                <a:lnTo>
                  <a:pt x="191914" y="148828"/>
                </a:lnTo>
                <a:cubicBezTo>
                  <a:pt x="191914" y="144735"/>
                  <a:pt x="188565" y="141387"/>
                  <a:pt x="184472" y="141387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22" name="Text 20"/>
          <p:cNvSpPr/>
          <p:nvPr/>
        </p:nvSpPr>
        <p:spPr>
          <a:xfrm>
            <a:off x="1076325" y="4813302"/>
            <a:ext cx="120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vendor_data.csv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76325" y="5041902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Vendor information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29350" y="1803402"/>
            <a:ext cx="5581650" cy="3733800"/>
          </a:xfrm>
          <a:custGeom>
            <a:avLst/>
            <a:gdLst/>
            <a:ahLst/>
            <a:cxnLst/>
            <a:rect l="l" t="t" r="r" b="b"/>
            <a:pathLst>
              <a:path w="5581650" h="3733800">
                <a:moveTo>
                  <a:pt x="38100" y="0"/>
                </a:moveTo>
                <a:lnTo>
                  <a:pt x="5505443" y="0"/>
                </a:lnTo>
                <a:cubicBezTo>
                  <a:pt x="5547531" y="0"/>
                  <a:pt x="5581650" y="34119"/>
                  <a:pt x="5581650" y="76207"/>
                </a:cubicBezTo>
                <a:lnTo>
                  <a:pt x="5581650" y="3657593"/>
                </a:lnTo>
                <a:cubicBezTo>
                  <a:pt x="5581650" y="3699681"/>
                  <a:pt x="5547531" y="3733800"/>
                  <a:pt x="5505443" y="3733800"/>
                </a:cubicBezTo>
                <a:lnTo>
                  <a:pt x="38100" y="3733800"/>
                </a:lnTo>
                <a:cubicBezTo>
                  <a:pt x="17072" y="3733800"/>
                  <a:pt x="0" y="3716728"/>
                  <a:pt x="0" y="3695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229350" y="1803402"/>
            <a:ext cx="38100" cy="3733800"/>
          </a:xfrm>
          <a:custGeom>
            <a:avLst/>
            <a:gdLst/>
            <a:ahLst/>
            <a:cxnLst/>
            <a:rect l="l" t="t" r="r" b="b"/>
            <a:pathLst>
              <a:path w="38100" h="3733800">
                <a:moveTo>
                  <a:pt x="38100" y="0"/>
                </a:moveTo>
                <a:lnTo>
                  <a:pt x="38100" y="0"/>
                </a:lnTo>
                <a:lnTo>
                  <a:pt x="38100" y="3733800"/>
                </a:lnTo>
                <a:lnTo>
                  <a:pt x="38100" y="3733800"/>
                </a:lnTo>
                <a:cubicBezTo>
                  <a:pt x="17072" y="3733800"/>
                  <a:pt x="0" y="3716728"/>
                  <a:pt x="0" y="3695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26" name="Shape 24"/>
          <p:cNvSpPr/>
          <p:nvPr/>
        </p:nvSpPr>
        <p:spPr>
          <a:xfrm>
            <a:off x="6438900" y="212725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27" name="Text 25"/>
          <p:cNvSpPr/>
          <p:nvPr/>
        </p:nvSpPr>
        <p:spPr>
          <a:xfrm>
            <a:off x="6528098" y="2203452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10400" y="2203452"/>
            <a:ext cx="1495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48425" y="2774952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68652" y="16252"/>
                </a:moveTo>
                <a:cubicBezTo>
                  <a:pt x="172373" y="12531"/>
                  <a:pt x="172373" y="6489"/>
                  <a:pt x="168652" y="2768"/>
                </a:cubicBezTo>
                <a:cubicBezTo>
                  <a:pt x="164931" y="-952"/>
                  <a:pt x="158889" y="-952"/>
                  <a:pt x="155168" y="2768"/>
                </a:cubicBezTo>
                <a:lnTo>
                  <a:pt x="98018" y="59918"/>
                </a:lnTo>
                <a:lnTo>
                  <a:pt x="87690" y="49590"/>
                </a:lnTo>
                <a:cubicBezTo>
                  <a:pt x="86439" y="48339"/>
                  <a:pt x="84713" y="47625"/>
                  <a:pt x="82927" y="47625"/>
                </a:cubicBezTo>
                <a:cubicBezTo>
                  <a:pt x="79206" y="47625"/>
                  <a:pt x="76200" y="50631"/>
                  <a:pt x="76200" y="54352"/>
                </a:cubicBezTo>
                <a:lnTo>
                  <a:pt x="76200" y="63014"/>
                </a:lnTo>
                <a:lnTo>
                  <a:pt x="108436" y="95250"/>
                </a:lnTo>
                <a:lnTo>
                  <a:pt x="117098" y="95250"/>
                </a:lnTo>
                <a:cubicBezTo>
                  <a:pt x="120819" y="95250"/>
                  <a:pt x="123825" y="92244"/>
                  <a:pt x="123825" y="88523"/>
                </a:cubicBezTo>
                <a:cubicBezTo>
                  <a:pt x="123825" y="86737"/>
                  <a:pt x="123111" y="85011"/>
                  <a:pt x="121860" y="83760"/>
                </a:cubicBezTo>
                <a:lnTo>
                  <a:pt x="111532" y="73432"/>
                </a:lnTo>
                <a:lnTo>
                  <a:pt x="168682" y="16282"/>
                </a:lnTo>
                <a:close/>
                <a:moveTo>
                  <a:pt x="101531" y="105192"/>
                </a:moveTo>
                <a:lnTo>
                  <a:pt x="66258" y="69919"/>
                </a:lnTo>
                <a:cubicBezTo>
                  <a:pt x="53548" y="68818"/>
                  <a:pt x="40898" y="73402"/>
                  <a:pt x="31790" y="82510"/>
                </a:cubicBezTo>
                <a:lnTo>
                  <a:pt x="29408" y="84892"/>
                </a:lnTo>
                <a:cubicBezTo>
                  <a:pt x="22771" y="91529"/>
                  <a:pt x="19050" y="100519"/>
                  <a:pt x="19050" y="109895"/>
                </a:cubicBezTo>
                <a:cubicBezTo>
                  <a:pt x="19050" y="111919"/>
                  <a:pt x="21163" y="113228"/>
                  <a:pt x="22979" y="112335"/>
                </a:cubicBezTo>
                <a:lnTo>
                  <a:pt x="38189" y="104745"/>
                </a:lnTo>
                <a:cubicBezTo>
                  <a:pt x="39678" y="104001"/>
                  <a:pt x="41017" y="105966"/>
                  <a:pt x="39797" y="107097"/>
                </a:cubicBezTo>
                <a:lnTo>
                  <a:pt x="2173" y="140910"/>
                </a:lnTo>
                <a:cubicBezTo>
                  <a:pt x="804" y="142161"/>
                  <a:pt x="0" y="143947"/>
                  <a:pt x="0" y="145822"/>
                </a:cubicBezTo>
                <a:cubicBezTo>
                  <a:pt x="0" y="149453"/>
                  <a:pt x="2947" y="152400"/>
                  <a:pt x="6578" y="152400"/>
                </a:cubicBezTo>
                <a:lnTo>
                  <a:pt x="58162" y="152400"/>
                </a:lnTo>
                <a:cubicBezTo>
                  <a:pt x="69711" y="152400"/>
                  <a:pt x="80754" y="147816"/>
                  <a:pt x="88940" y="139660"/>
                </a:cubicBezTo>
                <a:cubicBezTo>
                  <a:pt x="98048" y="130552"/>
                  <a:pt x="102602" y="117902"/>
                  <a:pt x="101531" y="105192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30" name="Text 28"/>
          <p:cNvSpPr/>
          <p:nvPr/>
        </p:nvSpPr>
        <p:spPr>
          <a:xfrm>
            <a:off x="6629400" y="2736852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38900" y="3041652"/>
            <a:ext cx="524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Missing value handling with strategic imputation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38900" y="3270252"/>
            <a:ext cx="524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Data type conversion for numeric, date, categorical fields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38900" y="3498852"/>
            <a:ext cx="524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Text normalization and standardization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38900" y="3727452"/>
            <a:ext cx="524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Date calculations for settlement days and tenure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77000" y="4070352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28575" y="19050"/>
                </a:moveTo>
                <a:lnTo>
                  <a:pt x="85725" y="19050"/>
                </a:lnTo>
                <a:cubicBezTo>
                  <a:pt x="90994" y="19050"/>
                  <a:pt x="95250" y="23306"/>
                  <a:pt x="95250" y="28575"/>
                </a:cubicBezTo>
                <a:lnTo>
                  <a:pt x="95250" y="38100"/>
                </a:lnTo>
                <a:cubicBezTo>
                  <a:pt x="95250" y="43369"/>
                  <a:pt x="90994" y="47625"/>
                  <a:pt x="85725" y="47625"/>
                </a:cubicBezTo>
                <a:lnTo>
                  <a:pt x="28575" y="47625"/>
                </a:lnTo>
                <a:cubicBezTo>
                  <a:pt x="23306" y="47625"/>
                  <a:pt x="19050" y="43369"/>
                  <a:pt x="19050" y="38100"/>
                </a:cubicBezTo>
                <a:lnTo>
                  <a:pt x="19050" y="28575"/>
                </a:lnTo>
                <a:cubicBezTo>
                  <a:pt x="19050" y="23306"/>
                  <a:pt x="23306" y="19050"/>
                  <a:pt x="28575" y="19050"/>
                </a:cubicBezTo>
                <a:close/>
                <a:moveTo>
                  <a:pt x="33338" y="69056"/>
                </a:moveTo>
                <a:cubicBezTo>
                  <a:pt x="33338" y="72999"/>
                  <a:pt x="30136" y="76200"/>
                  <a:pt x="26194" y="76200"/>
                </a:cubicBezTo>
                <a:cubicBezTo>
                  <a:pt x="22251" y="76200"/>
                  <a:pt x="19050" y="72999"/>
                  <a:pt x="19050" y="69056"/>
                </a:cubicBezTo>
                <a:cubicBezTo>
                  <a:pt x="19050" y="65114"/>
                  <a:pt x="22251" y="61912"/>
                  <a:pt x="26194" y="61912"/>
                </a:cubicBezTo>
                <a:cubicBezTo>
                  <a:pt x="30136" y="61912"/>
                  <a:pt x="33338" y="65114"/>
                  <a:pt x="33338" y="69056"/>
                </a:cubicBezTo>
                <a:close/>
                <a:moveTo>
                  <a:pt x="57150" y="76200"/>
                </a:moveTo>
                <a:cubicBezTo>
                  <a:pt x="53207" y="76200"/>
                  <a:pt x="50006" y="72999"/>
                  <a:pt x="50006" y="69056"/>
                </a:cubicBezTo>
                <a:cubicBezTo>
                  <a:pt x="50006" y="65114"/>
                  <a:pt x="53207" y="61912"/>
                  <a:pt x="57150" y="61912"/>
                </a:cubicBezTo>
                <a:cubicBezTo>
                  <a:pt x="61093" y="61912"/>
                  <a:pt x="64294" y="65114"/>
                  <a:pt x="64294" y="69056"/>
                </a:cubicBezTo>
                <a:cubicBezTo>
                  <a:pt x="64294" y="72999"/>
                  <a:pt x="61093" y="76200"/>
                  <a:pt x="57150" y="76200"/>
                </a:cubicBezTo>
                <a:close/>
                <a:moveTo>
                  <a:pt x="95250" y="69056"/>
                </a:moveTo>
                <a:cubicBezTo>
                  <a:pt x="95250" y="72999"/>
                  <a:pt x="92049" y="76200"/>
                  <a:pt x="88106" y="76200"/>
                </a:cubicBezTo>
                <a:cubicBezTo>
                  <a:pt x="84164" y="76200"/>
                  <a:pt x="80962" y="72999"/>
                  <a:pt x="80962" y="69056"/>
                </a:cubicBezTo>
                <a:cubicBezTo>
                  <a:pt x="80962" y="65114"/>
                  <a:pt x="84164" y="61912"/>
                  <a:pt x="88106" y="61912"/>
                </a:cubicBezTo>
                <a:cubicBezTo>
                  <a:pt x="92049" y="61912"/>
                  <a:pt x="95250" y="65114"/>
                  <a:pt x="95250" y="69056"/>
                </a:cubicBezTo>
                <a:close/>
                <a:moveTo>
                  <a:pt x="26194" y="104775"/>
                </a:moveTo>
                <a:cubicBezTo>
                  <a:pt x="22251" y="104775"/>
                  <a:pt x="19050" y="101574"/>
                  <a:pt x="19050" y="97631"/>
                </a:cubicBezTo>
                <a:cubicBezTo>
                  <a:pt x="19050" y="93689"/>
                  <a:pt x="22251" y="90488"/>
                  <a:pt x="26194" y="90488"/>
                </a:cubicBezTo>
                <a:cubicBezTo>
                  <a:pt x="30136" y="90488"/>
                  <a:pt x="33338" y="93689"/>
                  <a:pt x="33338" y="97631"/>
                </a:cubicBezTo>
                <a:cubicBezTo>
                  <a:pt x="33338" y="101574"/>
                  <a:pt x="30136" y="104775"/>
                  <a:pt x="26194" y="104775"/>
                </a:cubicBezTo>
                <a:close/>
                <a:moveTo>
                  <a:pt x="64294" y="97631"/>
                </a:moveTo>
                <a:cubicBezTo>
                  <a:pt x="64294" y="101574"/>
                  <a:pt x="61093" y="104775"/>
                  <a:pt x="57150" y="104775"/>
                </a:cubicBezTo>
                <a:cubicBezTo>
                  <a:pt x="53207" y="104775"/>
                  <a:pt x="50006" y="101574"/>
                  <a:pt x="50006" y="97631"/>
                </a:cubicBezTo>
                <a:cubicBezTo>
                  <a:pt x="50006" y="93689"/>
                  <a:pt x="53207" y="90488"/>
                  <a:pt x="57150" y="90488"/>
                </a:cubicBezTo>
                <a:cubicBezTo>
                  <a:pt x="61093" y="90488"/>
                  <a:pt x="64294" y="93689"/>
                  <a:pt x="64294" y="97631"/>
                </a:cubicBezTo>
                <a:close/>
                <a:moveTo>
                  <a:pt x="88106" y="104775"/>
                </a:moveTo>
                <a:cubicBezTo>
                  <a:pt x="84164" y="104775"/>
                  <a:pt x="80962" y="101574"/>
                  <a:pt x="80962" y="97631"/>
                </a:cubicBezTo>
                <a:cubicBezTo>
                  <a:pt x="80962" y="93689"/>
                  <a:pt x="84164" y="90488"/>
                  <a:pt x="88106" y="90488"/>
                </a:cubicBezTo>
                <a:cubicBezTo>
                  <a:pt x="92049" y="90488"/>
                  <a:pt x="95250" y="93689"/>
                  <a:pt x="95250" y="97631"/>
                </a:cubicBezTo>
                <a:cubicBezTo>
                  <a:pt x="95250" y="101574"/>
                  <a:pt x="92049" y="104775"/>
                  <a:pt x="88106" y="104775"/>
                </a:cubicBezTo>
                <a:close/>
                <a:moveTo>
                  <a:pt x="19050" y="126206"/>
                </a:moveTo>
                <a:cubicBezTo>
                  <a:pt x="19050" y="122247"/>
                  <a:pt x="22235" y="119062"/>
                  <a:pt x="26194" y="119062"/>
                </a:cubicBezTo>
                <a:lnTo>
                  <a:pt x="59531" y="119062"/>
                </a:lnTo>
                <a:cubicBezTo>
                  <a:pt x="63490" y="119062"/>
                  <a:pt x="66675" y="122247"/>
                  <a:pt x="66675" y="126206"/>
                </a:cubicBezTo>
                <a:cubicBezTo>
                  <a:pt x="66675" y="130165"/>
                  <a:pt x="63490" y="133350"/>
                  <a:pt x="59531" y="133350"/>
                </a:cubicBezTo>
                <a:lnTo>
                  <a:pt x="26194" y="133350"/>
                </a:lnTo>
                <a:cubicBezTo>
                  <a:pt x="22235" y="133350"/>
                  <a:pt x="19050" y="130165"/>
                  <a:pt x="19050" y="126206"/>
                </a:cubicBezTo>
                <a:close/>
                <a:moveTo>
                  <a:pt x="88106" y="119062"/>
                </a:moveTo>
                <a:cubicBezTo>
                  <a:pt x="92065" y="119062"/>
                  <a:pt x="95250" y="122247"/>
                  <a:pt x="95250" y="126206"/>
                </a:cubicBezTo>
                <a:cubicBezTo>
                  <a:pt x="95250" y="130165"/>
                  <a:pt x="92065" y="133350"/>
                  <a:pt x="88106" y="133350"/>
                </a:cubicBezTo>
                <a:cubicBezTo>
                  <a:pt x="84147" y="133350"/>
                  <a:pt x="80962" y="130165"/>
                  <a:pt x="80962" y="126206"/>
                </a:cubicBezTo>
                <a:cubicBezTo>
                  <a:pt x="80962" y="122247"/>
                  <a:pt x="84147" y="119062"/>
                  <a:pt x="88106" y="119062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36" name="Text 34"/>
          <p:cNvSpPr/>
          <p:nvPr/>
        </p:nvSpPr>
        <p:spPr>
          <a:xfrm>
            <a:off x="6629400" y="4032252"/>
            <a:ext cx="506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Derived Metrics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38900" y="4337052"/>
            <a:ext cx="524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05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 Groups:</a:t>
            </a: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Categorized age brackets (18-25, 26-35, etc.)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38900" y="4565652"/>
            <a:ext cx="524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05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Tenure Groups:</a:t>
            </a: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Customer loyalty categories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38900" y="4794252"/>
            <a:ext cx="524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05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Settlement Days:</a:t>
            </a: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Days between loss and report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38900" y="5022852"/>
            <a:ext cx="524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r>
              <a:rPr lang="en-US" sz="105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Claim Flag:</a:t>
            </a: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Claims &gt; 50x premium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4175" y="5692777"/>
            <a:ext cx="11426825" cy="1111250"/>
          </a:xfrm>
          <a:custGeom>
            <a:avLst/>
            <a:gdLst/>
            <a:ahLst/>
            <a:cxnLst/>
            <a:rect l="l" t="t" r="r" b="b"/>
            <a:pathLst>
              <a:path w="11426825" h="1111250">
                <a:moveTo>
                  <a:pt x="76198" y="0"/>
                </a:moveTo>
                <a:lnTo>
                  <a:pt x="11350627" y="0"/>
                </a:lnTo>
                <a:cubicBezTo>
                  <a:pt x="11392710" y="0"/>
                  <a:pt x="11426825" y="34115"/>
                  <a:pt x="11426825" y="76198"/>
                </a:cubicBezTo>
                <a:lnTo>
                  <a:pt x="11426825" y="1035052"/>
                </a:lnTo>
                <a:cubicBezTo>
                  <a:pt x="11426825" y="1077135"/>
                  <a:pt x="11392710" y="1111250"/>
                  <a:pt x="11350627" y="1111250"/>
                </a:cubicBezTo>
                <a:lnTo>
                  <a:pt x="76198" y="1111250"/>
                </a:lnTo>
                <a:cubicBezTo>
                  <a:pt x="34115" y="1111250"/>
                  <a:pt x="0" y="1077135"/>
                  <a:pt x="0" y="10350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D8A25A">
              <a:alpha val="20000"/>
            </a:srgbClr>
          </a:solidFill>
          <a:ln w="8467">
            <a:solidFill>
              <a:srgbClr val="D8A25A">
                <a:alpha val="4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3563" y="5895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43" name="Text 41"/>
          <p:cNvSpPr/>
          <p:nvPr/>
        </p:nvSpPr>
        <p:spPr>
          <a:xfrm>
            <a:off x="758825" y="5848350"/>
            <a:ext cx="10982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Fraud Detection Logic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39750" y="624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45" name="Text 43"/>
          <p:cNvSpPr/>
          <p:nvPr/>
        </p:nvSpPr>
        <p:spPr>
          <a:xfrm>
            <a:off x="632817" y="6267450"/>
            <a:ext cx="10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44550" y="6229350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Unusual Claim Size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44550" y="6457950"/>
            <a:ext cx="177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Claim &gt; 50× premium amount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294684" y="624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49" name="Text 47"/>
          <p:cNvSpPr/>
          <p:nvPr/>
        </p:nvSpPr>
        <p:spPr>
          <a:xfrm>
            <a:off x="4374952" y="626745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599484" y="6229350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Suspicious Timing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599484" y="6457950"/>
            <a:ext cx="2466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Late night claims &gt; $5,000 (23:00-04:00)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049617" y="6248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53" name="Text 51"/>
          <p:cNvSpPr/>
          <p:nvPr/>
        </p:nvSpPr>
        <p:spPr>
          <a:xfrm>
            <a:off x="8128199" y="626745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354417" y="6229350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Documentation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354417" y="6457950"/>
            <a:ext cx="1962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Major loss without police reports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175" y="384175"/>
            <a:ext cx="482600" cy="273050"/>
          </a:xfrm>
          <a:custGeom>
            <a:avLst/>
            <a:gdLst/>
            <a:ahLst/>
            <a:cxnLst/>
            <a:rect l="l" t="t" r="r" b="b"/>
            <a:pathLst>
              <a:path w="482600" h="273050">
                <a:moveTo>
                  <a:pt x="136525" y="0"/>
                </a:moveTo>
                <a:lnTo>
                  <a:pt x="346075" y="0"/>
                </a:lnTo>
                <a:cubicBezTo>
                  <a:pt x="421476" y="0"/>
                  <a:pt x="482600" y="61124"/>
                  <a:pt x="482600" y="136525"/>
                </a:cubicBezTo>
                <a:lnTo>
                  <a:pt x="482600" y="136525"/>
                </a:lnTo>
                <a:cubicBezTo>
                  <a:pt x="482600" y="211926"/>
                  <a:pt x="421476" y="273050"/>
                  <a:pt x="346075" y="273050"/>
                </a:cubicBezTo>
                <a:lnTo>
                  <a:pt x="136525" y="273050"/>
                </a:lnTo>
                <a:cubicBezTo>
                  <a:pt x="61175" y="273050"/>
                  <a:pt x="0" y="211875"/>
                  <a:pt x="0" y="136525"/>
                </a:cubicBezTo>
                <a:lnTo>
                  <a:pt x="0" y="136525"/>
                </a:lnTo>
                <a:cubicBezTo>
                  <a:pt x="0" y="61175"/>
                  <a:pt x="61175" y="0"/>
                  <a:pt x="136525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8467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750" y="425453"/>
            <a:ext cx="23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D8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74702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ETL Process: Load Strategy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308102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Batch Processing and Data Integrity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803402"/>
            <a:ext cx="5581650" cy="5000625"/>
          </a:xfrm>
          <a:custGeom>
            <a:avLst/>
            <a:gdLst/>
            <a:ahLst/>
            <a:cxnLst/>
            <a:rect l="l" t="t" r="r" b="b"/>
            <a:pathLst>
              <a:path w="5581650" h="5000625">
                <a:moveTo>
                  <a:pt x="38100" y="0"/>
                </a:moveTo>
                <a:lnTo>
                  <a:pt x="5505440" y="0"/>
                </a:lnTo>
                <a:cubicBezTo>
                  <a:pt x="5547530" y="0"/>
                  <a:pt x="5581650" y="34120"/>
                  <a:pt x="5581650" y="76210"/>
                </a:cubicBezTo>
                <a:lnTo>
                  <a:pt x="5581650" y="4924415"/>
                </a:lnTo>
                <a:cubicBezTo>
                  <a:pt x="5581650" y="4966505"/>
                  <a:pt x="5547530" y="5000625"/>
                  <a:pt x="5505440" y="5000625"/>
                </a:cubicBezTo>
                <a:lnTo>
                  <a:pt x="38100" y="5000625"/>
                </a:lnTo>
                <a:cubicBezTo>
                  <a:pt x="17072" y="5000625"/>
                  <a:pt x="0" y="4983553"/>
                  <a:pt x="0" y="4962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803402"/>
            <a:ext cx="38100" cy="5000625"/>
          </a:xfrm>
          <a:custGeom>
            <a:avLst/>
            <a:gdLst/>
            <a:ahLst/>
            <a:cxnLst/>
            <a:rect l="l" t="t" r="r" b="b"/>
            <a:pathLst>
              <a:path w="38100" h="5000625">
                <a:moveTo>
                  <a:pt x="38100" y="0"/>
                </a:moveTo>
                <a:lnTo>
                  <a:pt x="38100" y="0"/>
                </a:lnTo>
                <a:lnTo>
                  <a:pt x="38100" y="5000625"/>
                </a:lnTo>
                <a:lnTo>
                  <a:pt x="38100" y="5000625"/>
                </a:lnTo>
                <a:cubicBezTo>
                  <a:pt x="17072" y="5000625"/>
                  <a:pt x="0" y="4983553"/>
                  <a:pt x="0" y="49625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" y="199390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9" name="Text 7"/>
          <p:cNvSpPr/>
          <p:nvPr/>
        </p:nvSpPr>
        <p:spPr>
          <a:xfrm>
            <a:off x="697806" y="2070102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1100" y="2070102"/>
            <a:ext cx="72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603502"/>
            <a:ext cx="5257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Strategic batch processing with optimized batch sizes to prevent memory overload while maintaining data integrity through proper loading order.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600" y="3251202"/>
            <a:ext cx="5181600" cy="495300"/>
          </a:xfrm>
          <a:custGeom>
            <a:avLst/>
            <a:gdLst/>
            <a:ahLst/>
            <a:cxnLst/>
            <a:rect l="l" t="t" r="r" b="b"/>
            <a:pathLst>
              <a:path w="5181600" h="495300">
                <a:moveTo>
                  <a:pt x="76202" y="0"/>
                </a:moveTo>
                <a:lnTo>
                  <a:pt x="5105398" y="0"/>
                </a:lnTo>
                <a:cubicBezTo>
                  <a:pt x="5147483" y="0"/>
                  <a:pt x="5181600" y="34117"/>
                  <a:pt x="5181600" y="76202"/>
                </a:cubicBezTo>
                <a:lnTo>
                  <a:pt x="5181600" y="419098"/>
                </a:lnTo>
                <a:cubicBezTo>
                  <a:pt x="5181600" y="461183"/>
                  <a:pt x="5147483" y="495300"/>
                  <a:pt x="51053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23900" y="3422652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4" name="Text 12"/>
          <p:cNvSpPr/>
          <p:nvPr/>
        </p:nvSpPr>
        <p:spPr>
          <a:xfrm>
            <a:off x="1028700" y="3384552"/>
            <a:ext cx="146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Dimension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29659" y="3365502"/>
            <a:ext cx="942975" cy="266700"/>
          </a:xfrm>
          <a:custGeom>
            <a:avLst/>
            <a:gdLst/>
            <a:ahLst/>
            <a:cxnLst/>
            <a:rect l="l" t="t" r="r" b="b"/>
            <a:pathLst>
              <a:path w="942975" h="266700">
                <a:moveTo>
                  <a:pt x="133350" y="0"/>
                </a:moveTo>
                <a:lnTo>
                  <a:pt x="809625" y="0"/>
                </a:lnTo>
                <a:cubicBezTo>
                  <a:pt x="883223" y="0"/>
                  <a:pt x="942975" y="59752"/>
                  <a:pt x="942975" y="133350"/>
                </a:cubicBezTo>
                <a:lnTo>
                  <a:pt x="942975" y="133350"/>
                </a:lnTo>
                <a:cubicBezTo>
                  <a:pt x="942975" y="206948"/>
                  <a:pt x="883223" y="266700"/>
                  <a:pt x="8096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8A25A">
              <a:alpha val="3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729659" y="3365502"/>
            <a:ext cx="10096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8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 records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9600" y="3822702"/>
            <a:ext cx="5181600" cy="495300"/>
          </a:xfrm>
          <a:custGeom>
            <a:avLst/>
            <a:gdLst/>
            <a:ahLst/>
            <a:cxnLst/>
            <a:rect l="l" t="t" r="r" b="b"/>
            <a:pathLst>
              <a:path w="5181600" h="495300">
                <a:moveTo>
                  <a:pt x="76202" y="0"/>
                </a:moveTo>
                <a:lnTo>
                  <a:pt x="5105398" y="0"/>
                </a:lnTo>
                <a:cubicBezTo>
                  <a:pt x="5147483" y="0"/>
                  <a:pt x="5181600" y="34117"/>
                  <a:pt x="5181600" y="76202"/>
                </a:cubicBezTo>
                <a:lnTo>
                  <a:pt x="5181600" y="419098"/>
                </a:lnTo>
                <a:cubicBezTo>
                  <a:pt x="5181600" y="461183"/>
                  <a:pt x="5147483" y="495300"/>
                  <a:pt x="51053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52475" y="3994152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46961" y="73819"/>
                  <a:pt x="30956" y="57814"/>
                  <a:pt x="30956" y="38100"/>
                </a:cubicBezTo>
                <a:cubicBezTo>
                  <a:pt x="30956" y="18386"/>
                  <a:pt x="46961" y="2381"/>
                  <a:pt x="66675" y="2381"/>
                </a:cubicBezTo>
                <a:cubicBezTo>
                  <a:pt x="86389" y="2381"/>
                  <a:pt x="102394" y="18386"/>
                  <a:pt x="102394" y="38100"/>
                </a:cubicBezTo>
                <a:cubicBezTo>
                  <a:pt x="102394" y="57814"/>
                  <a:pt x="86389" y="73819"/>
                  <a:pt x="66675" y="73819"/>
                </a:cubicBezTo>
                <a:close/>
                <a:moveTo>
                  <a:pt x="57596" y="90488"/>
                </a:moveTo>
                <a:lnTo>
                  <a:pt x="75754" y="90488"/>
                </a:lnTo>
                <a:cubicBezTo>
                  <a:pt x="78641" y="90488"/>
                  <a:pt x="80962" y="92809"/>
                  <a:pt x="80962" y="95696"/>
                </a:cubicBezTo>
                <a:cubicBezTo>
                  <a:pt x="80962" y="96947"/>
                  <a:pt x="80516" y="98137"/>
                  <a:pt x="79712" y="99090"/>
                </a:cubicBezTo>
                <a:lnTo>
                  <a:pt x="71557" y="108615"/>
                </a:lnTo>
                <a:lnTo>
                  <a:pt x="80784" y="142875"/>
                </a:lnTo>
                <a:lnTo>
                  <a:pt x="80962" y="142875"/>
                </a:lnTo>
                <a:lnTo>
                  <a:pt x="91261" y="101650"/>
                </a:lnTo>
                <a:cubicBezTo>
                  <a:pt x="91916" y="99060"/>
                  <a:pt x="94565" y="97482"/>
                  <a:pt x="97066" y="98435"/>
                </a:cubicBezTo>
                <a:cubicBezTo>
                  <a:pt x="115491" y="105460"/>
                  <a:pt x="128588" y="123319"/>
                  <a:pt x="128588" y="144214"/>
                </a:cubicBezTo>
                <a:cubicBezTo>
                  <a:pt x="128588" y="148709"/>
                  <a:pt x="124926" y="152370"/>
                  <a:pt x="120432" y="152370"/>
                </a:cubicBezTo>
                <a:lnTo>
                  <a:pt x="12918" y="152400"/>
                </a:lnTo>
                <a:cubicBezTo>
                  <a:pt x="8424" y="152400"/>
                  <a:pt x="4763" y="148739"/>
                  <a:pt x="4763" y="144244"/>
                </a:cubicBezTo>
                <a:cubicBezTo>
                  <a:pt x="4763" y="123349"/>
                  <a:pt x="17859" y="105489"/>
                  <a:pt x="36284" y="98465"/>
                </a:cubicBezTo>
                <a:cubicBezTo>
                  <a:pt x="38785" y="97512"/>
                  <a:pt x="41434" y="99090"/>
                  <a:pt x="42089" y="101679"/>
                </a:cubicBezTo>
                <a:lnTo>
                  <a:pt x="52388" y="142905"/>
                </a:lnTo>
                <a:lnTo>
                  <a:pt x="52566" y="142905"/>
                </a:lnTo>
                <a:lnTo>
                  <a:pt x="61793" y="108645"/>
                </a:lnTo>
                <a:lnTo>
                  <a:pt x="53638" y="99120"/>
                </a:lnTo>
                <a:cubicBezTo>
                  <a:pt x="52834" y="98167"/>
                  <a:pt x="52388" y="96976"/>
                  <a:pt x="52388" y="95726"/>
                </a:cubicBezTo>
                <a:cubicBezTo>
                  <a:pt x="52388" y="92839"/>
                  <a:pt x="54709" y="90517"/>
                  <a:pt x="57596" y="90517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9" name="Text 17"/>
          <p:cNvSpPr/>
          <p:nvPr/>
        </p:nvSpPr>
        <p:spPr>
          <a:xfrm>
            <a:off x="1028700" y="3956052"/>
            <a:ext cx="120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Dimension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29659" y="3937002"/>
            <a:ext cx="942975" cy="266700"/>
          </a:xfrm>
          <a:custGeom>
            <a:avLst/>
            <a:gdLst/>
            <a:ahLst/>
            <a:cxnLst/>
            <a:rect l="l" t="t" r="r" b="b"/>
            <a:pathLst>
              <a:path w="942975" h="266700">
                <a:moveTo>
                  <a:pt x="133350" y="0"/>
                </a:moveTo>
                <a:lnTo>
                  <a:pt x="809625" y="0"/>
                </a:lnTo>
                <a:cubicBezTo>
                  <a:pt x="883223" y="0"/>
                  <a:pt x="942975" y="59752"/>
                  <a:pt x="942975" y="133350"/>
                </a:cubicBezTo>
                <a:lnTo>
                  <a:pt x="942975" y="133350"/>
                </a:lnTo>
                <a:cubicBezTo>
                  <a:pt x="942975" y="206948"/>
                  <a:pt x="883223" y="266700"/>
                  <a:pt x="8096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8A25A">
              <a:alpha val="30196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729659" y="3937002"/>
            <a:ext cx="10096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8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 records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09600" y="4394202"/>
            <a:ext cx="5181600" cy="495300"/>
          </a:xfrm>
          <a:custGeom>
            <a:avLst/>
            <a:gdLst/>
            <a:ahLst/>
            <a:cxnLst/>
            <a:rect l="l" t="t" r="r" b="b"/>
            <a:pathLst>
              <a:path w="5181600" h="495300">
                <a:moveTo>
                  <a:pt x="76202" y="0"/>
                </a:moveTo>
                <a:lnTo>
                  <a:pt x="5105398" y="0"/>
                </a:lnTo>
                <a:cubicBezTo>
                  <a:pt x="5147483" y="0"/>
                  <a:pt x="5181600" y="34117"/>
                  <a:pt x="5181600" y="76202"/>
                </a:cubicBezTo>
                <a:lnTo>
                  <a:pt x="5181600" y="419098"/>
                </a:lnTo>
                <a:cubicBezTo>
                  <a:pt x="5181600" y="461183"/>
                  <a:pt x="5147483" y="495300"/>
                  <a:pt x="51053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33425" y="4565652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0040" y="25360"/>
                </a:moveTo>
                <a:lnTo>
                  <a:pt x="45333" y="63937"/>
                </a:lnTo>
                <a:cubicBezTo>
                  <a:pt x="43964" y="65455"/>
                  <a:pt x="44023" y="67806"/>
                  <a:pt x="45482" y="69265"/>
                </a:cubicBezTo>
                <a:cubicBezTo>
                  <a:pt x="54560" y="78343"/>
                  <a:pt x="69294" y="78343"/>
                  <a:pt x="78373" y="69265"/>
                </a:cubicBezTo>
                <a:lnTo>
                  <a:pt x="87838" y="59799"/>
                </a:lnTo>
                <a:cubicBezTo>
                  <a:pt x="89089" y="58549"/>
                  <a:pt x="90666" y="57864"/>
                  <a:pt x="92273" y="57745"/>
                </a:cubicBezTo>
                <a:cubicBezTo>
                  <a:pt x="94298" y="57567"/>
                  <a:pt x="96381" y="58251"/>
                  <a:pt x="97929" y="59799"/>
                </a:cubicBezTo>
                <a:lnTo>
                  <a:pt x="150495" y="111919"/>
                </a:lnTo>
                <a:lnTo>
                  <a:pt x="171450" y="95250"/>
                </a:lnTo>
                <a:lnTo>
                  <a:pt x="171450" y="9525"/>
                </a:lnTo>
                <a:lnTo>
                  <a:pt x="138113" y="28575"/>
                </a:lnTo>
                <a:lnTo>
                  <a:pt x="131028" y="23842"/>
                </a:lnTo>
                <a:cubicBezTo>
                  <a:pt x="126325" y="20717"/>
                  <a:pt x="120819" y="19050"/>
                  <a:pt x="115163" y="19050"/>
                </a:cubicBezTo>
                <a:lnTo>
                  <a:pt x="94208" y="19050"/>
                </a:lnTo>
                <a:cubicBezTo>
                  <a:pt x="93881" y="19050"/>
                  <a:pt x="93524" y="19050"/>
                  <a:pt x="93196" y="19080"/>
                </a:cubicBezTo>
                <a:cubicBezTo>
                  <a:pt x="88166" y="19348"/>
                  <a:pt x="83433" y="21610"/>
                  <a:pt x="80040" y="25360"/>
                </a:cubicBezTo>
                <a:close/>
                <a:moveTo>
                  <a:pt x="34707" y="54382"/>
                </a:moveTo>
                <a:lnTo>
                  <a:pt x="66496" y="19050"/>
                </a:lnTo>
                <a:lnTo>
                  <a:pt x="54709" y="19050"/>
                </a:lnTo>
                <a:cubicBezTo>
                  <a:pt x="47119" y="19050"/>
                  <a:pt x="39856" y="22056"/>
                  <a:pt x="34498" y="27414"/>
                </a:cubicBezTo>
                <a:lnTo>
                  <a:pt x="33338" y="28575"/>
                </a:lnTo>
                <a:lnTo>
                  <a:pt x="0" y="9525"/>
                </a:lnTo>
                <a:lnTo>
                  <a:pt x="0" y="95250"/>
                </a:lnTo>
                <a:lnTo>
                  <a:pt x="46553" y="134035"/>
                </a:lnTo>
                <a:cubicBezTo>
                  <a:pt x="53400" y="139750"/>
                  <a:pt x="62032" y="142875"/>
                  <a:pt x="70931" y="142875"/>
                </a:cubicBezTo>
                <a:lnTo>
                  <a:pt x="75605" y="142875"/>
                </a:lnTo>
                <a:lnTo>
                  <a:pt x="73521" y="140791"/>
                </a:lnTo>
                <a:cubicBezTo>
                  <a:pt x="70723" y="137993"/>
                  <a:pt x="70723" y="133469"/>
                  <a:pt x="73521" y="130701"/>
                </a:cubicBezTo>
                <a:cubicBezTo>
                  <a:pt x="76319" y="127933"/>
                  <a:pt x="80843" y="127903"/>
                  <a:pt x="83612" y="130701"/>
                </a:cubicBezTo>
                <a:lnTo>
                  <a:pt x="95816" y="142905"/>
                </a:lnTo>
                <a:lnTo>
                  <a:pt x="98494" y="142905"/>
                </a:lnTo>
                <a:cubicBezTo>
                  <a:pt x="104180" y="142905"/>
                  <a:pt x="109746" y="141625"/>
                  <a:pt x="114806" y="139244"/>
                </a:cubicBezTo>
                <a:lnTo>
                  <a:pt x="106859" y="131266"/>
                </a:lnTo>
                <a:cubicBezTo>
                  <a:pt x="104061" y="128468"/>
                  <a:pt x="104061" y="123944"/>
                  <a:pt x="106859" y="121176"/>
                </a:cubicBezTo>
                <a:cubicBezTo>
                  <a:pt x="109657" y="118408"/>
                  <a:pt x="114181" y="118378"/>
                  <a:pt x="116949" y="121176"/>
                </a:cubicBezTo>
                <a:lnTo>
                  <a:pt x="126474" y="130701"/>
                </a:lnTo>
                <a:lnTo>
                  <a:pt x="131683" y="125492"/>
                </a:lnTo>
                <a:cubicBezTo>
                  <a:pt x="134332" y="122843"/>
                  <a:pt x="135106" y="119003"/>
                  <a:pt x="133945" y="115639"/>
                </a:cubicBezTo>
                <a:lnTo>
                  <a:pt x="92899" y="74920"/>
                </a:lnTo>
                <a:lnTo>
                  <a:pt x="88463" y="79355"/>
                </a:lnTo>
                <a:cubicBezTo>
                  <a:pt x="73789" y="94030"/>
                  <a:pt x="50036" y="94030"/>
                  <a:pt x="35362" y="79355"/>
                </a:cubicBezTo>
                <a:cubicBezTo>
                  <a:pt x="28515" y="72509"/>
                  <a:pt x="28248" y="61526"/>
                  <a:pt x="34707" y="54352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4" name="Text 22"/>
          <p:cNvSpPr/>
          <p:nvPr/>
        </p:nvSpPr>
        <p:spPr>
          <a:xfrm>
            <a:off x="1028700" y="4527552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Vendor Dimension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29659" y="4508502"/>
            <a:ext cx="942975" cy="266700"/>
          </a:xfrm>
          <a:custGeom>
            <a:avLst/>
            <a:gdLst/>
            <a:ahLst/>
            <a:cxnLst/>
            <a:rect l="l" t="t" r="r" b="b"/>
            <a:pathLst>
              <a:path w="942975" h="266700">
                <a:moveTo>
                  <a:pt x="133350" y="0"/>
                </a:moveTo>
                <a:lnTo>
                  <a:pt x="809625" y="0"/>
                </a:lnTo>
                <a:cubicBezTo>
                  <a:pt x="883223" y="0"/>
                  <a:pt x="942975" y="59752"/>
                  <a:pt x="942975" y="133350"/>
                </a:cubicBezTo>
                <a:lnTo>
                  <a:pt x="942975" y="133350"/>
                </a:lnTo>
                <a:cubicBezTo>
                  <a:pt x="942975" y="206948"/>
                  <a:pt x="883223" y="266700"/>
                  <a:pt x="8096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8A25A">
              <a:alpha val="30196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729659" y="4508502"/>
            <a:ext cx="10096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8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 records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09600" y="4965702"/>
            <a:ext cx="5181600" cy="495300"/>
          </a:xfrm>
          <a:custGeom>
            <a:avLst/>
            <a:gdLst/>
            <a:ahLst/>
            <a:cxnLst/>
            <a:rect l="l" t="t" r="r" b="b"/>
            <a:pathLst>
              <a:path w="5181600" h="495300">
                <a:moveTo>
                  <a:pt x="76202" y="0"/>
                </a:moveTo>
                <a:lnTo>
                  <a:pt x="5105398" y="0"/>
                </a:lnTo>
                <a:cubicBezTo>
                  <a:pt x="5147483" y="0"/>
                  <a:pt x="5181600" y="34117"/>
                  <a:pt x="5181600" y="76202"/>
                </a:cubicBezTo>
                <a:lnTo>
                  <a:pt x="5181600" y="419098"/>
                </a:lnTo>
                <a:cubicBezTo>
                  <a:pt x="5181600" y="461183"/>
                  <a:pt x="5147483" y="495300"/>
                  <a:pt x="51053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62000" y="5137152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26194" y="19050"/>
                </a:moveTo>
                <a:cubicBezTo>
                  <a:pt x="22235" y="19050"/>
                  <a:pt x="19050" y="22235"/>
                  <a:pt x="19050" y="26194"/>
                </a:cubicBezTo>
                <a:cubicBezTo>
                  <a:pt x="19050" y="30153"/>
                  <a:pt x="22235" y="33338"/>
                  <a:pt x="26194" y="33338"/>
                </a:cubicBezTo>
                <a:lnTo>
                  <a:pt x="40481" y="33338"/>
                </a:lnTo>
                <a:cubicBezTo>
                  <a:pt x="44440" y="33338"/>
                  <a:pt x="47625" y="30153"/>
                  <a:pt x="47625" y="26194"/>
                </a:cubicBezTo>
                <a:cubicBezTo>
                  <a:pt x="47625" y="22235"/>
                  <a:pt x="44440" y="19050"/>
                  <a:pt x="40481" y="19050"/>
                </a:cubicBezTo>
                <a:lnTo>
                  <a:pt x="26194" y="19050"/>
                </a:lnTo>
                <a:close/>
                <a:moveTo>
                  <a:pt x="26194" y="47625"/>
                </a:moveTo>
                <a:cubicBezTo>
                  <a:pt x="22235" y="47625"/>
                  <a:pt x="19050" y="50810"/>
                  <a:pt x="19050" y="54769"/>
                </a:cubicBezTo>
                <a:cubicBezTo>
                  <a:pt x="19050" y="58728"/>
                  <a:pt x="22235" y="61912"/>
                  <a:pt x="26194" y="61912"/>
                </a:cubicBezTo>
                <a:lnTo>
                  <a:pt x="40481" y="61912"/>
                </a:lnTo>
                <a:cubicBezTo>
                  <a:pt x="44440" y="61912"/>
                  <a:pt x="47625" y="58728"/>
                  <a:pt x="47625" y="54769"/>
                </a:cubicBezTo>
                <a:cubicBezTo>
                  <a:pt x="47625" y="50810"/>
                  <a:pt x="44440" y="47625"/>
                  <a:pt x="40481" y="47625"/>
                </a:cubicBezTo>
                <a:lnTo>
                  <a:pt x="26194" y="47625"/>
                </a:lnTo>
                <a:close/>
                <a:moveTo>
                  <a:pt x="47119" y="95250"/>
                </a:moveTo>
                <a:cubicBezTo>
                  <a:pt x="43755" y="95250"/>
                  <a:pt x="40600" y="96768"/>
                  <a:pt x="38517" y="99387"/>
                </a:cubicBezTo>
                <a:lnTo>
                  <a:pt x="20628" y="121741"/>
                </a:lnTo>
                <a:cubicBezTo>
                  <a:pt x="18157" y="124807"/>
                  <a:pt x="18663" y="129332"/>
                  <a:pt x="21729" y="131772"/>
                </a:cubicBezTo>
                <a:cubicBezTo>
                  <a:pt x="24795" y="134213"/>
                  <a:pt x="29319" y="133737"/>
                  <a:pt x="31760" y="130641"/>
                </a:cubicBezTo>
                <a:lnTo>
                  <a:pt x="45780" y="113139"/>
                </a:lnTo>
                <a:lnTo>
                  <a:pt x="50304" y="128230"/>
                </a:lnTo>
                <a:cubicBezTo>
                  <a:pt x="51197" y="131266"/>
                  <a:pt x="53995" y="133320"/>
                  <a:pt x="57150" y="133320"/>
                </a:cubicBezTo>
                <a:lnTo>
                  <a:pt x="88106" y="133320"/>
                </a:lnTo>
                <a:cubicBezTo>
                  <a:pt x="92065" y="133320"/>
                  <a:pt x="95250" y="130135"/>
                  <a:pt x="95250" y="126176"/>
                </a:cubicBezTo>
                <a:cubicBezTo>
                  <a:pt x="95250" y="122218"/>
                  <a:pt x="92065" y="119033"/>
                  <a:pt x="88106" y="119033"/>
                </a:cubicBezTo>
                <a:lnTo>
                  <a:pt x="62478" y="119033"/>
                </a:lnTo>
                <a:lnTo>
                  <a:pt x="57686" y="103078"/>
                </a:lnTo>
                <a:cubicBezTo>
                  <a:pt x="56287" y="98405"/>
                  <a:pt x="52001" y="95220"/>
                  <a:pt x="47119" y="9522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9" name="Text 27"/>
          <p:cNvSpPr/>
          <p:nvPr/>
        </p:nvSpPr>
        <p:spPr>
          <a:xfrm>
            <a:off x="1028700" y="5099052"/>
            <a:ext cx="1209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Policy Dimension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729659" y="5080002"/>
            <a:ext cx="942975" cy="266700"/>
          </a:xfrm>
          <a:custGeom>
            <a:avLst/>
            <a:gdLst/>
            <a:ahLst/>
            <a:cxnLst/>
            <a:rect l="l" t="t" r="r" b="b"/>
            <a:pathLst>
              <a:path w="942975" h="266700">
                <a:moveTo>
                  <a:pt x="133350" y="0"/>
                </a:moveTo>
                <a:lnTo>
                  <a:pt x="809625" y="0"/>
                </a:lnTo>
                <a:cubicBezTo>
                  <a:pt x="883223" y="0"/>
                  <a:pt x="942975" y="59752"/>
                  <a:pt x="942975" y="133350"/>
                </a:cubicBezTo>
                <a:lnTo>
                  <a:pt x="942975" y="133350"/>
                </a:lnTo>
                <a:cubicBezTo>
                  <a:pt x="942975" y="206948"/>
                  <a:pt x="883223" y="266700"/>
                  <a:pt x="8096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8A25A">
              <a:alpha val="3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729659" y="5080002"/>
            <a:ext cx="10096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8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 records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09600" y="5537202"/>
            <a:ext cx="5181600" cy="495300"/>
          </a:xfrm>
          <a:custGeom>
            <a:avLst/>
            <a:gdLst/>
            <a:ahLst/>
            <a:cxnLst/>
            <a:rect l="l" t="t" r="r" b="b"/>
            <a:pathLst>
              <a:path w="5181600" h="495300">
                <a:moveTo>
                  <a:pt x="76202" y="0"/>
                </a:moveTo>
                <a:lnTo>
                  <a:pt x="5105398" y="0"/>
                </a:lnTo>
                <a:cubicBezTo>
                  <a:pt x="5147483" y="0"/>
                  <a:pt x="5181600" y="34117"/>
                  <a:pt x="5181600" y="76202"/>
                </a:cubicBezTo>
                <a:lnTo>
                  <a:pt x="5181600" y="419098"/>
                </a:lnTo>
                <a:cubicBezTo>
                  <a:pt x="5181600" y="461183"/>
                  <a:pt x="5147483" y="495300"/>
                  <a:pt x="51053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752475" y="5708652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4" name="Text 32"/>
          <p:cNvSpPr/>
          <p:nvPr/>
        </p:nvSpPr>
        <p:spPr>
          <a:xfrm>
            <a:off x="1028700" y="567055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Dimension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810125" y="5651502"/>
            <a:ext cx="866775" cy="266700"/>
          </a:xfrm>
          <a:custGeom>
            <a:avLst/>
            <a:gdLst/>
            <a:ahLst/>
            <a:cxnLst/>
            <a:rect l="l" t="t" r="r" b="b"/>
            <a:pathLst>
              <a:path w="866775" h="266700">
                <a:moveTo>
                  <a:pt x="133350" y="0"/>
                </a:moveTo>
                <a:lnTo>
                  <a:pt x="733425" y="0"/>
                </a:lnTo>
                <a:cubicBezTo>
                  <a:pt x="807023" y="0"/>
                  <a:pt x="866775" y="59752"/>
                  <a:pt x="866775" y="133350"/>
                </a:cubicBezTo>
                <a:lnTo>
                  <a:pt x="866775" y="133350"/>
                </a:lnTo>
                <a:cubicBezTo>
                  <a:pt x="866775" y="206948"/>
                  <a:pt x="807023" y="266700"/>
                  <a:pt x="7334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8A25A">
              <a:alpha val="3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810125" y="5651502"/>
            <a:ext cx="9334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D8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1,000 days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2775" y="6111877"/>
            <a:ext cx="5178425" cy="501650"/>
          </a:xfrm>
          <a:custGeom>
            <a:avLst/>
            <a:gdLst/>
            <a:ahLst/>
            <a:cxnLst/>
            <a:rect l="l" t="t" r="r" b="b"/>
            <a:pathLst>
              <a:path w="5178425" h="501650">
                <a:moveTo>
                  <a:pt x="76201" y="0"/>
                </a:moveTo>
                <a:lnTo>
                  <a:pt x="5102224" y="0"/>
                </a:lnTo>
                <a:cubicBezTo>
                  <a:pt x="5144309" y="0"/>
                  <a:pt x="5178425" y="34116"/>
                  <a:pt x="5178425" y="76201"/>
                </a:cubicBezTo>
                <a:lnTo>
                  <a:pt x="5178425" y="425449"/>
                </a:lnTo>
                <a:cubicBezTo>
                  <a:pt x="5178425" y="467534"/>
                  <a:pt x="5144309" y="501650"/>
                  <a:pt x="5102224" y="501650"/>
                </a:cubicBezTo>
                <a:lnTo>
                  <a:pt x="76201" y="501650"/>
                </a:lnTo>
                <a:cubicBezTo>
                  <a:pt x="34144" y="501650"/>
                  <a:pt x="0" y="467506"/>
                  <a:pt x="0" y="42544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D8A25A">
              <a:alpha val="20000"/>
            </a:srgbClr>
          </a:solidFill>
          <a:ln w="8467">
            <a:solidFill>
              <a:srgbClr val="D8A25A">
                <a:alpha val="4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8825" y="628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76200" y="47625"/>
                </a:moveTo>
                <a:lnTo>
                  <a:pt x="76200" y="76200"/>
                </a:lnTo>
                <a:lnTo>
                  <a:pt x="114300" y="76200"/>
                </a:lnTo>
                <a:lnTo>
                  <a:pt x="114300" y="47625"/>
                </a:lnTo>
                <a:lnTo>
                  <a:pt x="76200" y="47625"/>
                </a:lnTo>
                <a:close/>
                <a:moveTo>
                  <a:pt x="57150" y="47625"/>
                </a:moveTo>
                <a:lnTo>
                  <a:pt x="19050" y="47625"/>
                </a:lnTo>
                <a:lnTo>
                  <a:pt x="19050" y="76200"/>
                </a:lnTo>
                <a:lnTo>
                  <a:pt x="57150" y="76200"/>
                </a:lnTo>
                <a:lnTo>
                  <a:pt x="57150" y="47625"/>
                </a:lnTo>
                <a:close/>
                <a:moveTo>
                  <a:pt x="0" y="95250"/>
                </a:move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lnTo>
                  <a:pt x="114300" y="9525"/>
                </a:lnTo>
                <a:cubicBezTo>
                  <a:pt x="124807" y="9525"/>
                  <a:pt x="133350" y="18068"/>
                  <a:pt x="133350" y="28575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95250"/>
                </a:lnTo>
                <a:close/>
                <a:moveTo>
                  <a:pt x="114300" y="95250"/>
                </a:moveTo>
                <a:lnTo>
                  <a:pt x="76200" y="95250"/>
                </a:lnTo>
                <a:lnTo>
                  <a:pt x="76200" y="123825"/>
                </a:lnTo>
                <a:lnTo>
                  <a:pt x="114300" y="123825"/>
                </a:lnTo>
                <a:lnTo>
                  <a:pt x="114300" y="95250"/>
                </a:lnTo>
                <a:close/>
                <a:moveTo>
                  <a:pt x="57150" y="123825"/>
                </a:moveTo>
                <a:lnTo>
                  <a:pt x="57150" y="95250"/>
                </a:lnTo>
                <a:lnTo>
                  <a:pt x="19050" y="95250"/>
                </a:lnTo>
                <a:lnTo>
                  <a:pt x="19050" y="123825"/>
                </a:lnTo>
                <a:lnTo>
                  <a:pt x="57150" y="123825"/>
                </a:ln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39" name="Text 37"/>
          <p:cNvSpPr/>
          <p:nvPr/>
        </p:nvSpPr>
        <p:spPr>
          <a:xfrm>
            <a:off x="1035050" y="6248400"/>
            <a:ext cx="74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Fact Table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633813" y="6229350"/>
            <a:ext cx="1038225" cy="266700"/>
          </a:xfrm>
          <a:custGeom>
            <a:avLst/>
            <a:gdLst/>
            <a:ahLst/>
            <a:cxnLst/>
            <a:rect l="l" t="t" r="r" b="b"/>
            <a:pathLst>
              <a:path w="1038225" h="266700">
                <a:moveTo>
                  <a:pt x="133350" y="0"/>
                </a:moveTo>
                <a:lnTo>
                  <a:pt x="904875" y="0"/>
                </a:lnTo>
                <a:cubicBezTo>
                  <a:pt x="978473" y="0"/>
                  <a:pt x="1038225" y="59752"/>
                  <a:pt x="1038225" y="133350"/>
                </a:cubicBezTo>
                <a:lnTo>
                  <a:pt x="1038225" y="133350"/>
                </a:lnTo>
                <a:cubicBezTo>
                  <a:pt x="1038225" y="206948"/>
                  <a:pt x="978473" y="266700"/>
                  <a:pt x="9048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41" name="Text 39"/>
          <p:cNvSpPr/>
          <p:nvPr/>
        </p:nvSpPr>
        <p:spPr>
          <a:xfrm>
            <a:off x="4633813" y="6229350"/>
            <a:ext cx="11049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1,000 records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13475" y="1952628"/>
            <a:ext cx="5597525" cy="2254250"/>
          </a:xfrm>
          <a:custGeom>
            <a:avLst/>
            <a:gdLst/>
            <a:ahLst/>
            <a:cxnLst/>
            <a:rect l="l" t="t" r="r" b="b"/>
            <a:pathLst>
              <a:path w="5597525" h="2254250">
                <a:moveTo>
                  <a:pt x="76194" y="0"/>
                </a:moveTo>
                <a:lnTo>
                  <a:pt x="5521331" y="0"/>
                </a:lnTo>
                <a:cubicBezTo>
                  <a:pt x="5563412" y="0"/>
                  <a:pt x="5597525" y="34113"/>
                  <a:pt x="5597525" y="76194"/>
                </a:cubicBezTo>
                <a:lnTo>
                  <a:pt x="5597525" y="2178056"/>
                </a:lnTo>
                <a:cubicBezTo>
                  <a:pt x="5597525" y="2220137"/>
                  <a:pt x="5563412" y="2254250"/>
                  <a:pt x="5521331" y="2254250"/>
                </a:cubicBezTo>
                <a:lnTo>
                  <a:pt x="76194" y="2254250"/>
                </a:lnTo>
                <a:cubicBezTo>
                  <a:pt x="34113" y="2254250"/>
                  <a:pt x="0" y="2220137"/>
                  <a:pt x="0" y="2178056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19056" y="218440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91753" y="139378"/>
                </a:moveTo>
                <a:lnTo>
                  <a:pt x="56034" y="175096"/>
                </a:lnTo>
                <a:cubicBezTo>
                  <a:pt x="51383" y="179747"/>
                  <a:pt x="43830" y="179747"/>
                  <a:pt x="39179" y="175096"/>
                </a:cubicBezTo>
                <a:lnTo>
                  <a:pt x="3460" y="139378"/>
                </a:lnTo>
                <a:cubicBezTo>
                  <a:pt x="-1191" y="134727"/>
                  <a:pt x="-1191" y="127174"/>
                  <a:pt x="3460" y="122523"/>
                </a:cubicBezTo>
                <a:cubicBezTo>
                  <a:pt x="8111" y="117872"/>
                  <a:pt x="15664" y="117872"/>
                  <a:pt x="20315" y="122523"/>
                </a:cubicBezTo>
                <a:lnTo>
                  <a:pt x="35719" y="137926"/>
                </a:lnTo>
                <a:lnTo>
                  <a:pt x="35719" y="23812"/>
                </a:lnTo>
                <a:cubicBezTo>
                  <a:pt x="35719" y="17227"/>
                  <a:pt x="41039" y="11906"/>
                  <a:pt x="47625" y="11906"/>
                </a:cubicBezTo>
                <a:cubicBezTo>
                  <a:pt x="54211" y="11906"/>
                  <a:pt x="59531" y="17227"/>
                  <a:pt x="59531" y="23812"/>
                </a:cubicBezTo>
                <a:lnTo>
                  <a:pt x="59531" y="137926"/>
                </a:lnTo>
                <a:lnTo>
                  <a:pt x="74935" y="122523"/>
                </a:lnTo>
                <a:cubicBezTo>
                  <a:pt x="79586" y="117872"/>
                  <a:pt x="87139" y="117872"/>
                  <a:pt x="91790" y="122523"/>
                </a:cubicBezTo>
                <a:cubicBezTo>
                  <a:pt x="96441" y="127174"/>
                  <a:pt x="96441" y="134727"/>
                  <a:pt x="91790" y="139378"/>
                </a:cubicBezTo>
                <a:close/>
                <a:moveTo>
                  <a:pt x="119063" y="178594"/>
                </a:moveTo>
                <a:cubicBezTo>
                  <a:pt x="112477" y="178594"/>
                  <a:pt x="107156" y="173273"/>
                  <a:pt x="107156" y="166688"/>
                </a:cubicBezTo>
                <a:cubicBezTo>
                  <a:pt x="107156" y="160102"/>
                  <a:pt x="112477" y="154781"/>
                  <a:pt x="119063" y="154781"/>
                </a:cubicBezTo>
                <a:lnTo>
                  <a:pt x="130969" y="154781"/>
                </a:lnTo>
                <a:cubicBezTo>
                  <a:pt x="137554" y="154781"/>
                  <a:pt x="142875" y="160102"/>
                  <a:pt x="142875" y="166688"/>
                </a:cubicBezTo>
                <a:cubicBezTo>
                  <a:pt x="142875" y="173273"/>
                  <a:pt x="137554" y="178594"/>
                  <a:pt x="130969" y="178594"/>
                </a:cubicBezTo>
                <a:lnTo>
                  <a:pt x="119063" y="178594"/>
                </a:lnTo>
                <a:close/>
                <a:moveTo>
                  <a:pt x="119063" y="130969"/>
                </a:moveTo>
                <a:cubicBezTo>
                  <a:pt x="112477" y="130969"/>
                  <a:pt x="107156" y="125648"/>
                  <a:pt x="107156" y="119063"/>
                </a:cubicBezTo>
                <a:cubicBezTo>
                  <a:pt x="107156" y="112477"/>
                  <a:pt x="112477" y="107156"/>
                  <a:pt x="119063" y="107156"/>
                </a:cubicBez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119063" y="130969"/>
                </a:lnTo>
                <a:close/>
                <a:moveTo>
                  <a:pt x="119063" y="83344"/>
                </a:moveTo>
                <a:cubicBezTo>
                  <a:pt x="112477" y="83344"/>
                  <a:pt x="107156" y="78023"/>
                  <a:pt x="107156" y="71438"/>
                </a:cubicBezTo>
                <a:cubicBezTo>
                  <a:pt x="107156" y="64852"/>
                  <a:pt x="112477" y="59531"/>
                  <a:pt x="119063" y="59531"/>
                </a:cubicBezTo>
                <a:lnTo>
                  <a:pt x="178594" y="59531"/>
                </a:lnTo>
                <a:cubicBezTo>
                  <a:pt x="185179" y="59531"/>
                  <a:pt x="190500" y="64852"/>
                  <a:pt x="190500" y="71438"/>
                </a:cubicBezTo>
                <a:cubicBezTo>
                  <a:pt x="190500" y="78023"/>
                  <a:pt x="185179" y="83344"/>
                  <a:pt x="178594" y="83344"/>
                </a:cubicBezTo>
                <a:lnTo>
                  <a:pt x="119063" y="83344"/>
                </a:lnTo>
                <a:close/>
                <a:moveTo>
                  <a:pt x="119063" y="35719"/>
                </a:moveTo>
                <a:cubicBezTo>
                  <a:pt x="112477" y="35719"/>
                  <a:pt x="107156" y="30398"/>
                  <a:pt x="107156" y="23812"/>
                </a:cubicBezTo>
                <a:cubicBezTo>
                  <a:pt x="107156" y="17227"/>
                  <a:pt x="112477" y="11906"/>
                  <a:pt x="119063" y="11906"/>
                </a:cubicBezTo>
                <a:lnTo>
                  <a:pt x="202406" y="11906"/>
                </a:lnTo>
                <a:cubicBezTo>
                  <a:pt x="208992" y="11906"/>
                  <a:pt x="214313" y="17227"/>
                  <a:pt x="214313" y="23812"/>
                </a:cubicBezTo>
                <a:cubicBezTo>
                  <a:pt x="214313" y="30398"/>
                  <a:pt x="208992" y="35719"/>
                  <a:pt x="202406" y="35719"/>
                </a:cubicBezTo>
                <a:lnTo>
                  <a:pt x="119063" y="35719"/>
                </a:ln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44" name="Text 42"/>
          <p:cNvSpPr/>
          <p:nvPr/>
        </p:nvSpPr>
        <p:spPr>
          <a:xfrm>
            <a:off x="6645275" y="2146302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Loading Order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07150" y="2565402"/>
            <a:ext cx="5286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Critical sequence to maintain referential integrity: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07150" y="294640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47" name="Text 45"/>
          <p:cNvSpPr/>
          <p:nvPr/>
        </p:nvSpPr>
        <p:spPr>
          <a:xfrm>
            <a:off x="6373813" y="2946402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26250" y="2984502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Load all dimension tables first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07150" y="332740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50" name="Text 48"/>
          <p:cNvSpPr/>
          <p:nvPr/>
        </p:nvSpPr>
        <p:spPr>
          <a:xfrm>
            <a:off x="6373813" y="3327402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826250" y="3365502"/>
            <a:ext cx="2867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Load fact table with foreign key references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407150" y="370840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53" name="Text 51"/>
          <p:cNvSpPr/>
          <p:nvPr/>
        </p:nvSpPr>
        <p:spPr>
          <a:xfrm>
            <a:off x="6373813" y="3708402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826250" y="3746502"/>
            <a:ext cx="237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business views for analytics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213475" y="4365625"/>
            <a:ext cx="5597525" cy="2292350"/>
          </a:xfrm>
          <a:custGeom>
            <a:avLst/>
            <a:gdLst/>
            <a:ahLst/>
            <a:cxnLst/>
            <a:rect l="l" t="t" r="r" b="b"/>
            <a:pathLst>
              <a:path w="5597525" h="2292350">
                <a:moveTo>
                  <a:pt x="76198" y="0"/>
                </a:moveTo>
                <a:lnTo>
                  <a:pt x="5521327" y="0"/>
                </a:lnTo>
                <a:cubicBezTo>
                  <a:pt x="5563410" y="0"/>
                  <a:pt x="5597525" y="34115"/>
                  <a:pt x="5597525" y="76198"/>
                </a:cubicBezTo>
                <a:lnTo>
                  <a:pt x="5597525" y="2216152"/>
                </a:lnTo>
                <a:cubicBezTo>
                  <a:pt x="5597525" y="2258235"/>
                  <a:pt x="5563410" y="2292350"/>
                  <a:pt x="5521327" y="2292350"/>
                </a:cubicBezTo>
                <a:lnTo>
                  <a:pt x="76198" y="2292350"/>
                </a:lnTo>
                <a:cubicBezTo>
                  <a:pt x="34115" y="2292350"/>
                  <a:pt x="0" y="2258235"/>
                  <a:pt x="0" y="221615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30963" y="459740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57" name="Text 55"/>
          <p:cNvSpPr/>
          <p:nvPr/>
        </p:nvSpPr>
        <p:spPr>
          <a:xfrm>
            <a:off x="6645275" y="4559303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Optimizations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426200" y="501650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59" name="Text 57"/>
          <p:cNvSpPr/>
          <p:nvPr/>
        </p:nvSpPr>
        <p:spPr>
          <a:xfrm>
            <a:off x="6673850" y="4978403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Batch Processing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673850" y="5207003"/>
            <a:ext cx="1628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Prevents memory overload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9086850" y="501650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62" name="Text 60"/>
          <p:cNvSpPr/>
          <p:nvPr/>
        </p:nvSpPr>
        <p:spPr>
          <a:xfrm>
            <a:off x="9334500" y="4978403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Vectorized Operations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9334500" y="5207003"/>
            <a:ext cx="168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pandas transformations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426200" y="554990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65" name="Text 63"/>
          <p:cNvSpPr/>
          <p:nvPr/>
        </p:nvSpPr>
        <p:spPr>
          <a:xfrm>
            <a:off x="6673850" y="5511803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Indexed Foreign Keys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673850" y="5740403"/>
            <a:ext cx="180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Optimized query performance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9086850" y="554990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68" name="Text 66"/>
          <p:cNvSpPr/>
          <p:nvPr/>
        </p:nvSpPr>
        <p:spPr>
          <a:xfrm>
            <a:off x="9334500" y="5511803"/>
            <a:ext cx="146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 Pooling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9334500" y="5740403"/>
            <a:ext cx="145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Efficient DB connections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426200" y="608330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71" name="Text 69"/>
          <p:cNvSpPr/>
          <p:nvPr/>
        </p:nvSpPr>
        <p:spPr>
          <a:xfrm>
            <a:off x="6673850" y="6045203"/>
            <a:ext cx="2238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Transaction Management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673850" y="6273803"/>
            <a:ext cx="2228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integrity with commits/rollbacks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175" y="384175"/>
            <a:ext cx="482600" cy="273050"/>
          </a:xfrm>
          <a:custGeom>
            <a:avLst/>
            <a:gdLst/>
            <a:ahLst/>
            <a:cxnLst/>
            <a:rect l="l" t="t" r="r" b="b"/>
            <a:pathLst>
              <a:path w="482600" h="273050">
                <a:moveTo>
                  <a:pt x="136525" y="0"/>
                </a:moveTo>
                <a:lnTo>
                  <a:pt x="346075" y="0"/>
                </a:lnTo>
                <a:cubicBezTo>
                  <a:pt x="421476" y="0"/>
                  <a:pt x="482600" y="61124"/>
                  <a:pt x="482600" y="136525"/>
                </a:cubicBezTo>
                <a:lnTo>
                  <a:pt x="482600" y="136525"/>
                </a:lnTo>
                <a:cubicBezTo>
                  <a:pt x="482600" y="211926"/>
                  <a:pt x="421476" y="273050"/>
                  <a:pt x="346075" y="273050"/>
                </a:cubicBezTo>
                <a:lnTo>
                  <a:pt x="136525" y="273050"/>
                </a:lnTo>
                <a:cubicBezTo>
                  <a:pt x="61175" y="273050"/>
                  <a:pt x="0" y="211875"/>
                  <a:pt x="0" y="136525"/>
                </a:cubicBezTo>
                <a:lnTo>
                  <a:pt x="0" y="136525"/>
                </a:lnTo>
                <a:cubicBezTo>
                  <a:pt x="0" y="61175"/>
                  <a:pt x="61175" y="0"/>
                  <a:pt x="136525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8467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750" y="425453"/>
            <a:ext cx="23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D8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74702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Intelligence Capabilities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308102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Pre-built KPI Views for Analytics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803402"/>
            <a:ext cx="5600700" cy="2238375"/>
          </a:xfrm>
          <a:custGeom>
            <a:avLst/>
            <a:gdLst/>
            <a:ahLst/>
            <a:cxnLst/>
            <a:rect l="l" t="t" r="r" b="b"/>
            <a:pathLst>
              <a:path w="5600700" h="2238375">
                <a:moveTo>
                  <a:pt x="38100" y="0"/>
                </a:moveTo>
                <a:lnTo>
                  <a:pt x="5524506" y="0"/>
                </a:lnTo>
                <a:cubicBezTo>
                  <a:pt x="5566558" y="0"/>
                  <a:pt x="5600700" y="34142"/>
                  <a:pt x="5600700" y="76194"/>
                </a:cubicBezTo>
                <a:lnTo>
                  <a:pt x="5600700" y="2162181"/>
                </a:lnTo>
                <a:cubicBezTo>
                  <a:pt x="5600700" y="2204262"/>
                  <a:pt x="5566587" y="2238375"/>
                  <a:pt x="5524506" y="2238375"/>
                </a:cubicBezTo>
                <a:lnTo>
                  <a:pt x="38100" y="2238375"/>
                </a:lnTo>
                <a:cubicBezTo>
                  <a:pt x="17072" y="2238375"/>
                  <a:pt x="0" y="2221303"/>
                  <a:pt x="0" y="22002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803402"/>
            <a:ext cx="38100" cy="2238375"/>
          </a:xfrm>
          <a:custGeom>
            <a:avLst/>
            <a:gdLst/>
            <a:ahLst/>
            <a:cxnLst/>
            <a:rect l="l" t="t" r="r" b="b"/>
            <a:pathLst>
              <a:path w="38100" h="2238375">
                <a:moveTo>
                  <a:pt x="38100" y="0"/>
                </a:moveTo>
                <a:lnTo>
                  <a:pt x="38100" y="0"/>
                </a:lnTo>
                <a:lnTo>
                  <a:pt x="38100" y="2238375"/>
                </a:lnTo>
                <a:lnTo>
                  <a:pt x="38100" y="2238375"/>
                </a:lnTo>
                <a:cubicBezTo>
                  <a:pt x="17072" y="2238375"/>
                  <a:pt x="0" y="2221303"/>
                  <a:pt x="0" y="22002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" y="200660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9" name="Shape 7"/>
          <p:cNvSpPr/>
          <p:nvPr/>
        </p:nvSpPr>
        <p:spPr>
          <a:xfrm>
            <a:off x="742950" y="213995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0" name="Text 8"/>
          <p:cNvSpPr/>
          <p:nvPr/>
        </p:nvSpPr>
        <p:spPr>
          <a:xfrm>
            <a:off x="1181100" y="2006603"/>
            <a:ext cx="2009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vw_monthly_kpis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1100" y="2273303"/>
            <a:ext cx="1981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Monthly Performance Dashboard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3888" y="263525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13" name="Text 11"/>
          <p:cNvSpPr/>
          <p:nvPr/>
        </p:nvSpPr>
        <p:spPr>
          <a:xfrm>
            <a:off x="828675" y="2578103"/>
            <a:ext cx="2000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Claims &amp; Claim Amount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3888" y="294005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15" name="Text 13"/>
          <p:cNvSpPr/>
          <p:nvPr/>
        </p:nvSpPr>
        <p:spPr>
          <a:xfrm>
            <a:off x="828675" y="2882903"/>
            <a:ext cx="208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 Amount &amp; Loss Ratio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3888" y="324485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17" name="Text 15"/>
          <p:cNvSpPr/>
          <p:nvPr/>
        </p:nvSpPr>
        <p:spPr>
          <a:xfrm>
            <a:off x="828675" y="3187703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Fraud Rate Tracking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9600" y="3533778"/>
            <a:ext cx="5200650" cy="6350"/>
          </a:xfrm>
          <a:custGeom>
            <a:avLst/>
            <a:gdLst/>
            <a:ahLst/>
            <a:cxnLst/>
            <a:rect l="l" t="t" r="r" b="b"/>
            <a:pathLst>
              <a:path w="5200650" h="6350">
                <a:moveTo>
                  <a:pt x="0" y="0"/>
                </a:moveTo>
                <a:lnTo>
                  <a:pt x="5200650" y="0"/>
                </a:lnTo>
                <a:lnTo>
                  <a:pt x="520065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09600" y="3651252"/>
            <a:ext cx="526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Case:</a:t>
            </a: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Monthly business review and trend analysis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0300" y="1803402"/>
            <a:ext cx="5600700" cy="2238375"/>
          </a:xfrm>
          <a:custGeom>
            <a:avLst/>
            <a:gdLst/>
            <a:ahLst/>
            <a:cxnLst/>
            <a:rect l="l" t="t" r="r" b="b"/>
            <a:pathLst>
              <a:path w="5600700" h="2238375">
                <a:moveTo>
                  <a:pt x="38100" y="0"/>
                </a:moveTo>
                <a:lnTo>
                  <a:pt x="5524506" y="0"/>
                </a:lnTo>
                <a:cubicBezTo>
                  <a:pt x="5566558" y="0"/>
                  <a:pt x="5600700" y="34142"/>
                  <a:pt x="5600700" y="76194"/>
                </a:cubicBezTo>
                <a:lnTo>
                  <a:pt x="5600700" y="2162181"/>
                </a:lnTo>
                <a:cubicBezTo>
                  <a:pt x="5600700" y="2204262"/>
                  <a:pt x="5566587" y="2238375"/>
                  <a:pt x="5524506" y="2238375"/>
                </a:cubicBezTo>
                <a:lnTo>
                  <a:pt x="38100" y="2238375"/>
                </a:lnTo>
                <a:cubicBezTo>
                  <a:pt x="17072" y="2238375"/>
                  <a:pt x="0" y="2221303"/>
                  <a:pt x="0" y="22002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210300" y="1803402"/>
            <a:ext cx="38100" cy="2238375"/>
          </a:xfrm>
          <a:custGeom>
            <a:avLst/>
            <a:gdLst/>
            <a:ahLst/>
            <a:cxnLst/>
            <a:rect l="l" t="t" r="r" b="b"/>
            <a:pathLst>
              <a:path w="38100" h="2238375">
                <a:moveTo>
                  <a:pt x="38100" y="0"/>
                </a:moveTo>
                <a:lnTo>
                  <a:pt x="38100" y="0"/>
                </a:lnTo>
                <a:lnTo>
                  <a:pt x="38100" y="2238375"/>
                </a:lnTo>
                <a:lnTo>
                  <a:pt x="38100" y="2238375"/>
                </a:lnTo>
                <a:cubicBezTo>
                  <a:pt x="17072" y="2238375"/>
                  <a:pt x="0" y="2221303"/>
                  <a:pt x="0" y="22002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22" name="Shape 20"/>
          <p:cNvSpPr/>
          <p:nvPr/>
        </p:nvSpPr>
        <p:spPr>
          <a:xfrm>
            <a:off x="6419850" y="200660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23" name="Shape 21"/>
          <p:cNvSpPr/>
          <p:nvPr/>
        </p:nvSpPr>
        <p:spPr>
          <a:xfrm>
            <a:off x="6565106" y="213995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58702" y="92273"/>
                  <a:pt x="38695" y="72267"/>
                  <a:pt x="38695" y="47625"/>
                </a:cubicBezTo>
                <a:cubicBezTo>
                  <a:pt x="38695" y="22983"/>
                  <a:pt x="58702" y="2977"/>
                  <a:pt x="83344" y="2977"/>
                </a:cubicBezTo>
                <a:cubicBezTo>
                  <a:pt x="107986" y="2977"/>
                  <a:pt x="127992" y="22983"/>
                  <a:pt x="127992" y="47625"/>
                </a:cubicBezTo>
                <a:cubicBezTo>
                  <a:pt x="127992" y="72267"/>
                  <a:pt x="107986" y="92273"/>
                  <a:pt x="83344" y="92273"/>
                </a:cubicBezTo>
                <a:close/>
                <a:moveTo>
                  <a:pt x="71996" y="113109"/>
                </a:moveTo>
                <a:lnTo>
                  <a:pt x="94692" y="113109"/>
                </a:lnTo>
                <a:cubicBezTo>
                  <a:pt x="98301" y="113109"/>
                  <a:pt x="101203" y="116012"/>
                  <a:pt x="101203" y="119621"/>
                </a:cubicBezTo>
                <a:cubicBezTo>
                  <a:pt x="101203" y="121183"/>
                  <a:pt x="100645" y="122672"/>
                  <a:pt x="99640" y="123862"/>
                </a:cubicBezTo>
                <a:lnTo>
                  <a:pt x="89446" y="135768"/>
                </a:lnTo>
                <a:lnTo>
                  <a:pt x="100980" y="178594"/>
                </a:lnTo>
                <a:lnTo>
                  <a:pt x="101203" y="178594"/>
                </a:lnTo>
                <a:lnTo>
                  <a:pt x="114077" y="127062"/>
                </a:lnTo>
                <a:cubicBezTo>
                  <a:pt x="114895" y="123825"/>
                  <a:pt x="118207" y="121853"/>
                  <a:pt x="121332" y="123044"/>
                </a:cubicBezTo>
                <a:cubicBezTo>
                  <a:pt x="144363" y="131825"/>
                  <a:pt x="160734" y="154149"/>
                  <a:pt x="160734" y="180268"/>
                </a:cubicBezTo>
                <a:cubicBezTo>
                  <a:pt x="160734" y="185886"/>
                  <a:pt x="156158" y="190463"/>
                  <a:pt x="150540" y="190463"/>
                </a:cubicBezTo>
                <a:lnTo>
                  <a:pt x="16148" y="190500"/>
                </a:lnTo>
                <a:cubicBezTo>
                  <a:pt x="10530" y="190500"/>
                  <a:pt x="5953" y="185924"/>
                  <a:pt x="5953" y="180305"/>
                </a:cubicBezTo>
                <a:cubicBezTo>
                  <a:pt x="5953" y="154186"/>
                  <a:pt x="22324" y="131862"/>
                  <a:pt x="45355" y="123081"/>
                </a:cubicBezTo>
                <a:cubicBezTo>
                  <a:pt x="48481" y="121890"/>
                  <a:pt x="51792" y="123862"/>
                  <a:pt x="52611" y="127099"/>
                </a:cubicBezTo>
                <a:lnTo>
                  <a:pt x="65484" y="178631"/>
                </a:lnTo>
                <a:lnTo>
                  <a:pt x="65708" y="178631"/>
                </a:lnTo>
                <a:lnTo>
                  <a:pt x="77242" y="135806"/>
                </a:lnTo>
                <a:lnTo>
                  <a:pt x="67047" y="123899"/>
                </a:lnTo>
                <a:cubicBezTo>
                  <a:pt x="66042" y="122709"/>
                  <a:pt x="65484" y="121221"/>
                  <a:pt x="65484" y="119658"/>
                </a:cubicBezTo>
                <a:cubicBezTo>
                  <a:pt x="65484" y="116049"/>
                  <a:pt x="68387" y="113147"/>
                  <a:pt x="71996" y="113147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4" name="Text 22"/>
          <p:cNvSpPr/>
          <p:nvPr/>
        </p:nvSpPr>
        <p:spPr>
          <a:xfrm>
            <a:off x="6991350" y="2006603"/>
            <a:ext cx="2085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vw_agent_performance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91350" y="2273303"/>
            <a:ext cx="2057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Efficiency Analysis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34138" y="263525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27" name="Text 25"/>
          <p:cNvSpPr/>
          <p:nvPr/>
        </p:nvSpPr>
        <p:spPr>
          <a:xfrm>
            <a:off x="6638925" y="2578103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Claims Handled per Agent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34138" y="294005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29" name="Text 27"/>
          <p:cNvSpPr/>
          <p:nvPr/>
        </p:nvSpPr>
        <p:spPr>
          <a:xfrm>
            <a:off x="6638925" y="2882903"/>
            <a:ext cx="1733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Settlement Days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34138" y="3244853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31" name="Text 29"/>
          <p:cNvSpPr/>
          <p:nvPr/>
        </p:nvSpPr>
        <p:spPr>
          <a:xfrm>
            <a:off x="6638925" y="3187703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Fraud Cases by Agent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19850" y="3533778"/>
            <a:ext cx="5200650" cy="6350"/>
          </a:xfrm>
          <a:custGeom>
            <a:avLst/>
            <a:gdLst/>
            <a:ahLst/>
            <a:cxnLst/>
            <a:rect l="l" t="t" r="r" b="b"/>
            <a:pathLst>
              <a:path w="5200650" h="6350">
                <a:moveTo>
                  <a:pt x="0" y="0"/>
                </a:moveTo>
                <a:lnTo>
                  <a:pt x="5200650" y="0"/>
                </a:lnTo>
                <a:lnTo>
                  <a:pt x="520065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419850" y="3651252"/>
            <a:ext cx="526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Case:</a:t>
            </a: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Performance evaluation and training needs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00050" y="4235453"/>
            <a:ext cx="5600700" cy="2238375"/>
          </a:xfrm>
          <a:custGeom>
            <a:avLst/>
            <a:gdLst/>
            <a:ahLst/>
            <a:cxnLst/>
            <a:rect l="l" t="t" r="r" b="b"/>
            <a:pathLst>
              <a:path w="5600700" h="2238375">
                <a:moveTo>
                  <a:pt x="38100" y="0"/>
                </a:moveTo>
                <a:lnTo>
                  <a:pt x="5524506" y="0"/>
                </a:lnTo>
                <a:cubicBezTo>
                  <a:pt x="5566558" y="0"/>
                  <a:pt x="5600700" y="34142"/>
                  <a:pt x="5600700" y="76194"/>
                </a:cubicBezTo>
                <a:lnTo>
                  <a:pt x="5600700" y="2162181"/>
                </a:lnTo>
                <a:cubicBezTo>
                  <a:pt x="5600700" y="2204262"/>
                  <a:pt x="5566587" y="2238375"/>
                  <a:pt x="5524506" y="2238375"/>
                </a:cubicBezTo>
                <a:lnTo>
                  <a:pt x="38100" y="2238375"/>
                </a:lnTo>
                <a:cubicBezTo>
                  <a:pt x="17072" y="2238375"/>
                  <a:pt x="0" y="2221303"/>
                  <a:pt x="0" y="22002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00050" y="4235453"/>
            <a:ext cx="38100" cy="2238375"/>
          </a:xfrm>
          <a:custGeom>
            <a:avLst/>
            <a:gdLst/>
            <a:ahLst/>
            <a:cxnLst/>
            <a:rect l="l" t="t" r="r" b="b"/>
            <a:pathLst>
              <a:path w="38100" h="2238375">
                <a:moveTo>
                  <a:pt x="38100" y="0"/>
                </a:moveTo>
                <a:lnTo>
                  <a:pt x="38100" y="0"/>
                </a:lnTo>
                <a:lnTo>
                  <a:pt x="38100" y="2238375"/>
                </a:lnTo>
                <a:lnTo>
                  <a:pt x="38100" y="2238375"/>
                </a:lnTo>
                <a:cubicBezTo>
                  <a:pt x="17072" y="2238375"/>
                  <a:pt x="0" y="2221303"/>
                  <a:pt x="0" y="22002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36" name="Shape 34"/>
          <p:cNvSpPr/>
          <p:nvPr/>
        </p:nvSpPr>
        <p:spPr>
          <a:xfrm>
            <a:off x="609600" y="44386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37" name="Shape 35"/>
          <p:cNvSpPr/>
          <p:nvPr/>
        </p:nvSpPr>
        <p:spPr>
          <a:xfrm>
            <a:off x="719138" y="45720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8" name="Text 36"/>
          <p:cNvSpPr/>
          <p:nvPr/>
        </p:nvSpPr>
        <p:spPr>
          <a:xfrm>
            <a:off x="1181100" y="4438650"/>
            <a:ext cx="2152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vw_customer_segments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81100" y="4705350"/>
            <a:ext cx="2124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Analytics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3888" y="50673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41" name="Text 39"/>
          <p:cNvSpPr/>
          <p:nvPr/>
        </p:nvSpPr>
        <p:spPr>
          <a:xfrm>
            <a:off x="828675" y="5010150"/>
            <a:ext cx="1466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Claims by Age Group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3888" y="53721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43" name="Text 41"/>
          <p:cNvSpPr/>
          <p:nvPr/>
        </p:nvSpPr>
        <p:spPr>
          <a:xfrm>
            <a:off x="828675" y="5314950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Segment Analysis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23888" y="56769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45" name="Text 43"/>
          <p:cNvSpPr/>
          <p:nvPr/>
        </p:nvSpPr>
        <p:spPr>
          <a:xfrm>
            <a:off x="828675" y="5619750"/>
            <a:ext cx="1657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Class Distribution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09600" y="5965825"/>
            <a:ext cx="5200650" cy="6350"/>
          </a:xfrm>
          <a:custGeom>
            <a:avLst/>
            <a:gdLst/>
            <a:ahLst/>
            <a:cxnLst/>
            <a:rect l="l" t="t" r="r" b="b"/>
            <a:pathLst>
              <a:path w="5200650" h="6350">
                <a:moveTo>
                  <a:pt x="0" y="0"/>
                </a:moveTo>
                <a:lnTo>
                  <a:pt x="5200650" y="0"/>
                </a:lnTo>
                <a:lnTo>
                  <a:pt x="520065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09600" y="6083303"/>
            <a:ext cx="526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Case:</a:t>
            </a: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Targeted marketing and risk assessment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210300" y="4235453"/>
            <a:ext cx="5600700" cy="2238375"/>
          </a:xfrm>
          <a:custGeom>
            <a:avLst/>
            <a:gdLst/>
            <a:ahLst/>
            <a:cxnLst/>
            <a:rect l="l" t="t" r="r" b="b"/>
            <a:pathLst>
              <a:path w="5600700" h="2238375">
                <a:moveTo>
                  <a:pt x="38100" y="0"/>
                </a:moveTo>
                <a:lnTo>
                  <a:pt x="5524506" y="0"/>
                </a:lnTo>
                <a:cubicBezTo>
                  <a:pt x="5566558" y="0"/>
                  <a:pt x="5600700" y="34142"/>
                  <a:pt x="5600700" y="76194"/>
                </a:cubicBezTo>
                <a:lnTo>
                  <a:pt x="5600700" y="2162181"/>
                </a:lnTo>
                <a:cubicBezTo>
                  <a:pt x="5600700" y="2204262"/>
                  <a:pt x="5566587" y="2238375"/>
                  <a:pt x="5524506" y="2238375"/>
                </a:cubicBezTo>
                <a:lnTo>
                  <a:pt x="38100" y="2238375"/>
                </a:lnTo>
                <a:cubicBezTo>
                  <a:pt x="17072" y="2238375"/>
                  <a:pt x="0" y="2221303"/>
                  <a:pt x="0" y="22002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210300" y="4235453"/>
            <a:ext cx="38100" cy="2238375"/>
          </a:xfrm>
          <a:custGeom>
            <a:avLst/>
            <a:gdLst/>
            <a:ahLst/>
            <a:cxnLst/>
            <a:rect l="l" t="t" r="r" b="b"/>
            <a:pathLst>
              <a:path w="38100" h="2238375">
                <a:moveTo>
                  <a:pt x="38100" y="0"/>
                </a:moveTo>
                <a:lnTo>
                  <a:pt x="38100" y="0"/>
                </a:lnTo>
                <a:lnTo>
                  <a:pt x="38100" y="2238375"/>
                </a:lnTo>
                <a:lnTo>
                  <a:pt x="38100" y="2238375"/>
                </a:lnTo>
                <a:cubicBezTo>
                  <a:pt x="17072" y="2238375"/>
                  <a:pt x="0" y="2221303"/>
                  <a:pt x="0" y="22002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50" name="Shape 48"/>
          <p:cNvSpPr/>
          <p:nvPr/>
        </p:nvSpPr>
        <p:spPr>
          <a:xfrm>
            <a:off x="6419850" y="44386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51" name="Shape 49"/>
          <p:cNvSpPr/>
          <p:nvPr/>
        </p:nvSpPr>
        <p:spPr>
          <a:xfrm>
            <a:off x="6553200" y="45720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2" name="Text 50"/>
          <p:cNvSpPr/>
          <p:nvPr/>
        </p:nvSpPr>
        <p:spPr>
          <a:xfrm>
            <a:off x="6991350" y="4438650"/>
            <a:ext cx="2047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vw_business_summary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991350" y="470535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Executive Dashboard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434138" y="50673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55" name="Text 53"/>
          <p:cNvSpPr/>
          <p:nvPr/>
        </p:nvSpPr>
        <p:spPr>
          <a:xfrm>
            <a:off x="6638925" y="5010150"/>
            <a:ext cx="125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Overall Loss Ratio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434138" y="53721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57" name="Text 55"/>
          <p:cNvSpPr/>
          <p:nvPr/>
        </p:nvSpPr>
        <p:spPr>
          <a:xfrm>
            <a:off x="6638925" y="5314950"/>
            <a:ext cx="1657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Claims &amp; Premium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434138" y="56769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59" name="Text 57"/>
          <p:cNvSpPr/>
          <p:nvPr/>
        </p:nvSpPr>
        <p:spPr>
          <a:xfrm>
            <a:off x="6638925" y="5619750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Fraud Rate &amp; Trends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419850" y="5965825"/>
            <a:ext cx="5200650" cy="6350"/>
          </a:xfrm>
          <a:custGeom>
            <a:avLst/>
            <a:gdLst/>
            <a:ahLst/>
            <a:cxnLst/>
            <a:rect l="l" t="t" r="r" b="b"/>
            <a:pathLst>
              <a:path w="5200650" h="6350">
                <a:moveTo>
                  <a:pt x="0" y="0"/>
                </a:moveTo>
                <a:lnTo>
                  <a:pt x="5200650" y="0"/>
                </a:lnTo>
                <a:lnTo>
                  <a:pt x="5200650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4A6C8C">
              <a:alpha val="30196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6419850" y="6083303"/>
            <a:ext cx="526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Case:</a:t>
            </a: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Executive reporting and strategic planning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175" y="384175"/>
            <a:ext cx="482600" cy="273050"/>
          </a:xfrm>
          <a:custGeom>
            <a:avLst/>
            <a:gdLst/>
            <a:ahLst/>
            <a:cxnLst/>
            <a:rect l="l" t="t" r="r" b="b"/>
            <a:pathLst>
              <a:path w="482600" h="273050">
                <a:moveTo>
                  <a:pt x="136525" y="0"/>
                </a:moveTo>
                <a:lnTo>
                  <a:pt x="346075" y="0"/>
                </a:lnTo>
                <a:cubicBezTo>
                  <a:pt x="421476" y="0"/>
                  <a:pt x="482600" y="61124"/>
                  <a:pt x="482600" y="136525"/>
                </a:cubicBezTo>
                <a:lnTo>
                  <a:pt x="482600" y="136525"/>
                </a:lnTo>
                <a:cubicBezTo>
                  <a:pt x="482600" y="211926"/>
                  <a:pt x="421476" y="273050"/>
                  <a:pt x="346075" y="273050"/>
                </a:cubicBezTo>
                <a:lnTo>
                  <a:pt x="136525" y="273050"/>
                </a:lnTo>
                <a:cubicBezTo>
                  <a:pt x="61175" y="273050"/>
                  <a:pt x="0" y="211875"/>
                  <a:pt x="0" y="136525"/>
                </a:cubicBezTo>
                <a:lnTo>
                  <a:pt x="0" y="136525"/>
                </a:lnTo>
                <a:cubicBezTo>
                  <a:pt x="0" y="61175"/>
                  <a:pt x="61175" y="0"/>
                  <a:pt x="136525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8467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750" y="425453"/>
            <a:ext cx="23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D8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74702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Specifications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308102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Technology Stack &amp; Performance Optimizations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175" y="1806577"/>
            <a:ext cx="5597525" cy="5006975"/>
          </a:xfrm>
          <a:custGeom>
            <a:avLst/>
            <a:gdLst/>
            <a:ahLst/>
            <a:cxnLst/>
            <a:rect l="l" t="t" r="r" b="b"/>
            <a:pathLst>
              <a:path w="5597525" h="5006975">
                <a:moveTo>
                  <a:pt x="114309" y="0"/>
                </a:moveTo>
                <a:lnTo>
                  <a:pt x="5483216" y="0"/>
                </a:lnTo>
                <a:cubicBezTo>
                  <a:pt x="5546347" y="0"/>
                  <a:pt x="5597525" y="51178"/>
                  <a:pt x="5597525" y="114309"/>
                </a:cubicBezTo>
                <a:lnTo>
                  <a:pt x="5597525" y="4892666"/>
                </a:lnTo>
                <a:cubicBezTo>
                  <a:pt x="5597525" y="4955797"/>
                  <a:pt x="5546347" y="5006975"/>
                  <a:pt x="5483216" y="5006975"/>
                </a:cubicBezTo>
                <a:lnTo>
                  <a:pt x="114309" y="5006975"/>
                </a:lnTo>
                <a:cubicBezTo>
                  <a:pt x="51178" y="5006975"/>
                  <a:pt x="0" y="4955797"/>
                  <a:pt x="0" y="4892666"/>
                </a:cubicBezTo>
                <a:lnTo>
                  <a:pt x="0" y="114309"/>
                </a:lnTo>
                <a:cubicBezTo>
                  <a:pt x="0" y="51178"/>
                  <a:pt x="51178" y="0"/>
                  <a:pt x="114309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1663" y="219710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8" name="Text 6"/>
          <p:cNvSpPr/>
          <p:nvPr/>
        </p:nvSpPr>
        <p:spPr>
          <a:xfrm>
            <a:off x="815975" y="2159003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" y="2578103"/>
            <a:ext cx="5210175" cy="685800"/>
          </a:xfrm>
          <a:custGeom>
            <a:avLst/>
            <a:gdLst/>
            <a:ahLst/>
            <a:cxnLst/>
            <a:rect l="l" t="t" r="r" b="b"/>
            <a:pathLst>
              <a:path w="5210175" h="685800">
                <a:moveTo>
                  <a:pt x="76199" y="0"/>
                </a:moveTo>
                <a:lnTo>
                  <a:pt x="5133976" y="0"/>
                </a:lnTo>
                <a:cubicBezTo>
                  <a:pt x="5176059" y="0"/>
                  <a:pt x="5210175" y="34116"/>
                  <a:pt x="5210175" y="76199"/>
                </a:cubicBezTo>
                <a:lnTo>
                  <a:pt x="5210175" y="609601"/>
                </a:lnTo>
                <a:cubicBezTo>
                  <a:pt x="5210175" y="651684"/>
                  <a:pt x="5176059" y="685800"/>
                  <a:pt x="51339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92150" y="269240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11" name="Shape 9"/>
          <p:cNvSpPr/>
          <p:nvPr/>
        </p:nvSpPr>
        <p:spPr>
          <a:xfrm>
            <a:off x="837406" y="282575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2" name="Text 10"/>
          <p:cNvSpPr/>
          <p:nvPr/>
        </p:nvSpPr>
        <p:spPr>
          <a:xfrm>
            <a:off x="1301750" y="2711453"/>
            <a:ext cx="4448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MySQL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01750" y="2940053"/>
            <a:ext cx="443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Relational Database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7850" y="3378203"/>
            <a:ext cx="5210175" cy="685800"/>
          </a:xfrm>
          <a:custGeom>
            <a:avLst/>
            <a:gdLst/>
            <a:ahLst/>
            <a:cxnLst/>
            <a:rect l="l" t="t" r="r" b="b"/>
            <a:pathLst>
              <a:path w="5210175" h="685800">
                <a:moveTo>
                  <a:pt x="76199" y="0"/>
                </a:moveTo>
                <a:lnTo>
                  <a:pt x="5133976" y="0"/>
                </a:lnTo>
                <a:cubicBezTo>
                  <a:pt x="5176059" y="0"/>
                  <a:pt x="5210175" y="34116"/>
                  <a:pt x="5210175" y="76199"/>
                </a:cubicBezTo>
                <a:lnTo>
                  <a:pt x="5210175" y="609601"/>
                </a:lnTo>
                <a:cubicBezTo>
                  <a:pt x="5210175" y="651684"/>
                  <a:pt x="5176059" y="685800"/>
                  <a:pt x="51339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92150" y="349250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6" name="Shape 14"/>
          <p:cNvSpPr/>
          <p:nvPr/>
        </p:nvSpPr>
        <p:spPr>
          <a:xfrm>
            <a:off x="837406" y="362585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3637" y="74600"/>
                </a:moveTo>
                <a:cubicBezTo>
                  <a:pt x="160772" y="63103"/>
                  <a:pt x="155339" y="54434"/>
                  <a:pt x="143768" y="54434"/>
                </a:cubicBezTo>
                <a:lnTo>
                  <a:pt x="128848" y="54434"/>
                </a:lnTo>
                <a:lnTo>
                  <a:pt x="128848" y="72070"/>
                </a:lnTo>
                <a:cubicBezTo>
                  <a:pt x="128848" y="85762"/>
                  <a:pt x="117239" y="97296"/>
                  <a:pt x="103994" y="97296"/>
                </a:cubicBezTo>
                <a:lnTo>
                  <a:pt x="64257" y="97296"/>
                </a:lnTo>
                <a:cubicBezTo>
                  <a:pt x="53392" y="97296"/>
                  <a:pt x="44388" y="106598"/>
                  <a:pt x="44388" y="117500"/>
                </a:cubicBezTo>
                <a:lnTo>
                  <a:pt x="44388" y="155377"/>
                </a:lnTo>
                <a:cubicBezTo>
                  <a:pt x="44388" y="166167"/>
                  <a:pt x="53764" y="172492"/>
                  <a:pt x="64257" y="175580"/>
                </a:cubicBezTo>
                <a:cubicBezTo>
                  <a:pt x="76833" y="179263"/>
                  <a:pt x="88925" y="179933"/>
                  <a:pt x="103994" y="175580"/>
                </a:cubicBezTo>
                <a:cubicBezTo>
                  <a:pt x="114002" y="172678"/>
                  <a:pt x="123862" y="166836"/>
                  <a:pt x="123862" y="155377"/>
                </a:cubicBezTo>
                <a:lnTo>
                  <a:pt x="123862" y="140233"/>
                </a:lnTo>
                <a:lnTo>
                  <a:pt x="84162" y="140233"/>
                </a:lnTo>
                <a:lnTo>
                  <a:pt x="84162" y="135173"/>
                </a:lnTo>
                <a:lnTo>
                  <a:pt x="143768" y="135173"/>
                </a:lnTo>
                <a:cubicBezTo>
                  <a:pt x="155339" y="135173"/>
                  <a:pt x="159618" y="127099"/>
                  <a:pt x="163637" y="115007"/>
                </a:cubicBezTo>
                <a:cubicBezTo>
                  <a:pt x="167804" y="102543"/>
                  <a:pt x="167618" y="90562"/>
                  <a:pt x="163637" y="74600"/>
                </a:cubicBezTo>
                <a:close/>
                <a:moveTo>
                  <a:pt x="106487" y="165460"/>
                </a:moveTo>
                <a:cubicBezTo>
                  <a:pt x="103655" y="165658"/>
                  <a:pt x="100949" y="164260"/>
                  <a:pt x="99472" y="161836"/>
                </a:cubicBezTo>
                <a:cubicBezTo>
                  <a:pt x="97996" y="159411"/>
                  <a:pt x="97996" y="156365"/>
                  <a:pt x="99472" y="153941"/>
                </a:cubicBezTo>
                <a:cubicBezTo>
                  <a:pt x="100949" y="151516"/>
                  <a:pt x="103655" y="150118"/>
                  <a:pt x="106487" y="150316"/>
                </a:cubicBezTo>
                <a:cubicBezTo>
                  <a:pt x="109318" y="150118"/>
                  <a:pt x="112024" y="151516"/>
                  <a:pt x="113501" y="153941"/>
                </a:cubicBezTo>
                <a:cubicBezTo>
                  <a:pt x="114977" y="156365"/>
                  <a:pt x="114977" y="159411"/>
                  <a:pt x="113501" y="161836"/>
                </a:cubicBezTo>
                <a:cubicBezTo>
                  <a:pt x="112024" y="164260"/>
                  <a:pt x="109318" y="165658"/>
                  <a:pt x="106487" y="165460"/>
                </a:cubicBezTo>
                <a:close/>
                <a:moveTo>
                  <a:pt x="62433" y="92311"/>
                </a:moveTo>
                <a:lnTo>
                  <a:pt x="102171" y="92311"/>
                </a:lnTo>
                <a:cubicBezTo>
                  <a:pt x="113221" y="92311"/>
                  <a:pt x="122039" y="83195"/>
                  <a:pt x="122039" y="72107"/>
                </a:cubicBezTo>
                <a:lnTo>
                  <a:pt x="122039" y="34193"/>
                </a:lnTo>
                <a:cubicBezTo>
                  <a:pt x="122039" y="23403"/>
                  <a:pt x="112961" y="15329"/>
                  <a:pt x="102171" y="13506"/>
                </a:cubicBezTo>
                <a:cubicBezTo>
                  <a:pt x="88850" y="11311"/>
                  <a:pt x="74377" y="11423"/>
                  <a:pt x="62433" y="13543"/>
                </a:cubicBezTo>
                <a:cubicBezTo>
                  <a:pt x="45616" y="16520"/>
                  <a:pt x="42565" y="22733"/>
                  <a:pt x="42565" y="34230"/>
                </a:cubicBezTo>
                <a:lnTo>
                  <a:pt x="42565" y="49374"/>
                </a:lnTo>
                <a:lnTo>
                  <a:pt x="82339" y="49374"/>
                </a:lnTo>
                <a:lnTo>
                  <a:pt x="82339" y="54434"/>
                </a:lnTo>
                <a:lnTo>
                  <a:pt x="27645" y="54434"/>
                </a:lnTo>
                <a:cubicBezTo>
                  <a:pt x="16073" y="54434"/>
                  <a:pt x="5953" y="61392"/>
                  <a:pt x="2791" y="74600"/>
                </a:cubicBezTo>
                <a:cubicBezTo>
                  <a:pt x="-856" y="89743"/>
                  <a:pt x="-1005" y="99194"/>
                  <a:pt x="2791" y="115007"/>
                </a:cubicBezTo>
                <a:cubicBezTo>
                  <a:pt x="5618" y="126764"/>
                  <a:pt x="12353" y="135173"/>
                  <a:pt x="23924" y="135173"/>
                </a:cubicBezTo>
                <a:lnTo>
                  <a:pt x="37579" y="135173"/>
                </a:lnTo>
                <a:lnTo>
                  <a:pt x="37579" y="117016"/>
                </a:lnTo>
                <a:cubicBezTo>
                  <a:pt x="37579" y="103882"/>
                  <a:pt x="48927" y="92311"/>
                  <a:pt x="62433" y="92311"/>
                </a:cubicBezTo>
                <a:close/>
                <a:moveTo>
                  <a:pt x="59978" y="24073"/>
                </a:moveTo>
                <a:cubicBezTo>
                  <a:pt x="64167" y="24073"/>
                  <a:pt x="67568" y="27474"/>
                  <a:pt x="67568" y="31663"/>
                </a:cubicBezTo>
                <a:cubicBezTo>
                  <a:pt x="67568" y="35852"/>
                  <a:pt x="64167" y="39253"/>
                  <a:pt x="59978" y="39253"/>
                </a:cubicBezTo>
                <a:cubicBezTo>
                  <a:pt x="55789" y="39253"/>
                  <a:pt x="52387" y="35852"/>
                  <a:pt x="52387" y="31663"/>
                </a:cubicBezTo>
                <a:cubicBezTo>
                  <a:pt x="52387" y="27474"/>
                  <a:pt x="55789" y="24073"/>
                  <a:pt x="59978" y="24073"/>
                </a:cubicBezTo>
                <a:close/>
              </a:path>
            </a:pathLst>
          </a:custGeom>
          <a:solidFill>
            <a:srgbClr val="E8E9EA"/>
          </a:solidFill>
          <a:ln/>
        </p:spPr>
      </p:sp>
      <p:sp>
        <p:nvSpPr>
          <p:cNvPr id="17" name="Text 15"/>
          <p:cNvSpPr/>
          <p:nvPr/>
        </p:nvSpPr>
        <p:spPr>
          <a:xfrm>
            <a:off x="1301750" y="3511553"/>
            <a:ext cx="4448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Python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01750" y="3740153"/>
            <a:ext cx="443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ETL Engine (Pandas, NumPy)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7850" y="4178303"/>
            <a:ext cx="5210175" cy="685800"/>
          </a:xfrm>
          <a:custGeom>
            <a:avLst/>
            <a:gdLst/>
            <a:ahLst/>
            <a:cxnLst/>
            <a:rect l="l" t="t" r="r" b="b"/>
            <a:pathLst>
              <a:path w="5210175" h="685800">
                <a:moveTo>
                  <a:pt x="76199" y="0"/>
                </a:moveTo>
                <a:lnTo>
                  <a:pt x="5133976" y="0"/>
                </a:lnTo>
                <a:cubicBezTo>
                  <a:pt x="5176059" y="0"/>
                  <a:pt x="5210175" y="34116"/>
                  <a:pt x="5210175" y="76199"/>
                </a:cubicBezTo>
                <a:lnTo>
                  <a:pt x="5210175" y="609601"/>
                </a:lnTo>
                <a:cubicBezTo>
                  <a:pt x="5210175" y="651684"/>
                  <a:pt x="5176059" y="685800"/>
                  <a:pt x="51339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92150" y="429260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1" name="Shape 19"/>
          <p:cNvSpPr/>
          <p:nvPr/>
        </p:nvSpPr>
        <p:spPr>
          <a:xfrm>
            <a:off x="837406" y="442595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-11906"/>
                </a:moveTo>
                <a:cubicBezTo>
                  <a:pt x="54211" y="-11906"/>
                  <a:pt x="59531" y="-6586"/>
                  <a:pt x="59531" y="0"/>
                </a:cubicBezTo>
                <a:lnTo>
                  <a:pt x="59531" y="35719"/>
                </a:lnTo>
                <a:lnTo>
                  <a:pt x="107156" y="35719"/>
                </a:lnTo>
                <a:lnTo>
                  <a:pt x="107156" y="0"/>
                </a:lnTo>
                <a:cubicBezTo>
                  <a:pt x="107156" y="-6586"/>
                  <a:pt x="112477" y="-11906"/>
                  <a:pt x="119063" y="-11906"/>
                </a:cubicBezTo>
                <a:cubicBezTo>
                  <a:pt x="125648" y="-11906"/>
                  <a:pt x="130969" y="-6586"/>
                  <a:pt x="130969" y="0"/>
                </a:cubicBezTo>
                <a:lnTo>
                  <a:pt x="130969" y="35719"/>
                </a:ln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cubicBezTo>
                  <a:pt x="166688" y="54211"/>
                  <a:pt x="161367" y="59531"/>
                  <a:pt x="154781" y="59531"/>
                </a:cubicBezTo>
                <a:lnTo>
                  <a:pt x="154781" y="83344"/>
                </a:lnTo>
                <a:cubicBezTo>
                  <a:pt x="154781" y="118728"/>
                  <a:pt x="129034" y="148121"/>
                  <a:pt x="95250" y="153777"/>
                </a:cubicBezTo>
                <a:lnTo>
                  <a:pt x="95250" y="178594"/>
                </a:lnTo>
                <a:cubicBezTo>
                  <a:pt x="95250" y="185179"/>
                  <a:pt x="89929" y="190500"/>
                  <a:pt x="83344" y="190500"/>
                </a:cubicBezTo>
                <a:cubicBezTo>
                  <a:pt x="76758" y="190500"/>
                  <a:pt x="71438" y="185179"/>
                  <a:pt x="71438" y="178594"/>
                </a:cubicBezTo>
                <a:lnTo>
                  <a:pt x="71438" y="153777"/>
                </a:lnTo>
                <a:cubicBezTo>
                  <a:pt x="37654" y="148121"/>
                  <a:pt x="11906" y="118728"/>
                  <a:pt x="11906" y="83344"/>
                </a:cubicBezTo>
                <a:lnTo>
                  <a:pt x="11906" y="59531"/>
                </a:lnTo>
                <a:cubicBezTo>
                  <a:pt x="5321" y="59531"/>
                  <a:pt x="0" y="54211"/>
                  <a:pt x="0" y="47625"/>
                </a:cubicBezTo>
                <a:cubicBezTo>
                  <a:pt x="0" y="41039"/>
                  <a:pt x="5321" y="35719"/>
                  <a:pt x="11906" y="35719"/>
                </a:cubicBezTo>
                <a:lnTo>
                  <a:pt x="35719" y="35719"/>
                </a:lnTo>
                <a:lnTo>
                  <a:pt x="35719" y="0"/>
                </a:lnTo>
                <a:cubicBezTo>
                  <a:pt x="35719" y="-6586"/>
                  <a:pt x="41039" y="-11906"/>
                  <a:pt x="47625" y="-11906"/>
                </a:cubicBezTo>
                <a:close/>
              </a:path>
            </a:pathLst>
          </a:custGeom>
          <a:solidFill>
            <a:srgbClr val="E8E9EA"/>
          </a:solidFill>
          <a:ln/>
        </p:spPr>
      </p:sp>
      <p:sp>
        <p:nvSpPr>
          <p:cNvPr id="22" name="Text 20"/>
          <p:cNvSpPr/>
          <p:nvPr/>
        </p:nvSpPr>
        <p:spPr>
          <a:xfrm>
            <a:off x="1301750" y="4311653"/>
            <a:ext cx="4448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mysql-connector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01750" y="4540253"/>
            <a:ext cx="443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Connectivity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7850" y="4978403"/>
            <a:ext cx="5210175" cy="685800"/>
          </a:xfrm>
          <a:custGeom>
            <a:avLst/>
            <a:gdLst/>
            <a:ahLst/>
            <a:cxnLst/>
            <a:rect l="l" t="t" r="r" b="b"/>
            <a:pathLst>
              <a:path w="5210175" h="685800">
                <a:moveTo>
                  <a:pt x="76199" y="0"/>
                </a:moveTo>
                <a:lnTo>
                  <a:pt x="5133976" y="0"/>
                </a:lnTo>
                <a:cubicBezTo>
                  <a:pt x="5176059" y="0"/>
                  <a:pt x="5210175" y="34116"/>
                  <a:pt x="5210175" y="76199"/>
                </a:cubicBezTo>
                <a:lnTo>
                  <a:pt x="5210175" y="609601"/>
                </a:lnTo>
                <a:cubicBezTo>
                  <a:pt x="5210175" y="651684"/>
                  <a:pt x="5176059" y="685800"/>
                  <a:pt x="51339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92150" y="509270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6" name="Shape 24"/>
          <p:cNvSpPr/>
          <p:nvPr/>
        </p:nvSpPr>
        <p:spPr>
          <a:xfrm>
            <a:off x="813594" y="522605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0649" y="89297"/>
                </a:moveTo>
                <a:lnTo>
                  <a:pt x="125164" y="89297"/>
                </a:lnTo>
                <a:cubicBezTo>
                  <a:pt x="118579" y="89297"/>
                  <a:pt x="113258" y="83976"/>
                  <a:pt x="113258" y="77391"/>
                </a:cubicBezTo>
                <a:lnTo>
                  <a:pt x="113258" y="11906"/>
                </a:lnTo>
                <a:cubicBezTo>
                  <a:pt x="113258" y="5321"/>
                  <a:pt x="118616" y="-74"/>
                  <a:pt x="125127" y="781"/>
                </a:cubicBezTo>
                <a:cubicBezTo>
                  <a:pt x="164939" y="6065"/>
                  <a:pt x="196490" y="37616"/>
                  <a:pt x="201774" y="77428"/>
                </a:cubicBezTo>
                <a:cubicBezTo>
                  <a:pt x="202629" y="83939"/>
                  <a:pt x="197234" y="89297"/>
                  <a:pt x="190649" y="89297"/>
                </a:cubicBezTo>
                <a:close/>
                <a:moveTo>
                  <a:pt x="82823" y="13841"/>
                </a:moveTo>
                <a:cubicBezTo>
                  <a:pt x="89557" y="12427"/>
                  <a:pt x="95399" y="17934"/>
                  <a:pt x="95399" y="24817"/>
                </a:cubicBezTo>
                <a:lnTo>
                  <a:pt x="95399" y="98227"/>
                </a:lnTo>
                <a:cubicBezTo>
                  <a:pt x="95399" y="100310"/>
                  <a:pt x="96143" y="102319"/>
                  <a:pt x="97445" y="103919"/>
                </a:cubicBezTo>
                <a:lnTo>
                  <a:pt x="146596" y="163227"/>
                </a:lnTo>
                <a:cubicBezTo>
                  <a:pt x="150949" y="168473"/>
                  <a:pt x="150019" y="176399"/>
                  <a:pt x="144028" y="179636"/>
                </a:cubicBezTo>
                <a:cubicBezTo>
                  <a:pt x="131341" y="186556"/>
                  <a:pt x="116793" y="190500"/>
                  <a:pt x="101352" y="190500"/>
                </a:cubicBezTo>
                <a:cubicBezTo>
                  <a:pt x="52053" y="190500"/>
                  <a:pt x="12055" y="150502"/>
                  <a:pt x="12055" y="101203"/>
                </a:cubicBezTo>
                <a:cubicBezTo>
                  <a:pt x="12055" y="58229"/>
                  <a:pt x="42379" y="22361"/>
                  <a:pt x="82823" y="13841"/>
                </a:cubicBezTo>
                <a:close/>
                <a:moveTo>
                  <a:pt x="177775" y="107156"/>
                </a:moveTo>
                <a:lnTo>
                  <a:pt x="201588" y="107156"/>
                </a:lnTo>
                <a:cubicBezTo>
                  <a:pt x="208471" y="107156"/>
                  <a:pt x="213978" y="112998"/>
                  <a:pt x="212564" y="119732"/>
                </a:cubicBezTo>
                <a:cubicBezTo>
                  <a:pt x="208769" y="137740"/>
                  <a:pt x="199541" y="153739"/>
                  <a:pt x="186668" y="165943"/>
                </a:cubicBezTo>
                <a:cubicBezTo>
                  <a:pt x="182091" y="170297"/>
                  <a:pt x="174910" y="169366"/>
                  <a:pt x="170892" y="164492"/>
                </a:cubicBezTo>
                <a:lnTo>
                  <a:pt x="139489" y="126653"/>
                </a:lnTo>
                <a:cubicBezTo>
                  <a:pt x="133052" y="118876"/>
                  <a:pt x="138596" y="107156"/>
                  <a:pt x="148642" y="107156"/>
                </a:cubicBezTo>
                <a:lnTo>
                  <a:pt x="177738" y="107156"/>
                </a:lnTo>
                <a:close/>
              </a:path>
            </a:pathLst>
          </a:custGeom>
          <a:solidFill>
            <a:srgbClr val="E8E9EA"/>
          </a:solidFill>
          <a:ln/>
        </p:spPr>
      </p:sp>
      <p:sp>
        <p:nvSpPr>
          <p:cNvPr id="27" name="Text 25"/>
          <p:cNvSpPr/>
          <p:nvPr/>
        </p:nvSpPr>
        <p:spPr>
          <a:xfrm>
            <a:off x="1301750" y="5111753"/>
            <a:ext cx="4448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 BI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01750" y="5340353"/>
            <a:ext cx="443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Intelligence Layer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77850" y="5778503"/>
            <a:ext cx="5210175" cy="685800"/>
          </a:xfrm>
          <a:custGeom>
            <a:avLst/>
            <a:gdLst/>
            <a:ahLst/>
            <a:cxnLst/>
            <a:rect l="l" t="t" r="r" b="b"/>
            <a:pathLst>
              <a:path w="5210175" h="685800">
                <a:moveTo>
                  <a:pt x="76199" y="0"/>
                </a:moveTo>
                <a:lnTo>
                  <a:pt x="5133976" y="0"/>
                </a:lnTo>
                <a:cubicBezTo>
                  <a:pt x="5176059" y="0"/>
                  <a:pt x="5210175" y="34116"/>
                  <a:pt x="5210175" y="76199"/>
                </a:cubicBezTo>
                <a:lnTo>
                  <a:pt x="5210175" y="609601"/>
                </a:lnTo>
                <a:cubicBezTo>
                  <a:pt x="5210175" y="651684"/>
                  <a:pt x="5176059" y="685800"/>
                  <a:pt x="51339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92150" y="589280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1" name="Shape 29"/>
          <p:cNvSpPr/>
          <p:nvPr/>
        </p:nvSpPr>
        <p:spPr>
          <a:xfrm>
            <a:off x="813594" y="602615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5719" y="0"/>
                </a:moveTo>
                <a:cubicBezTo>
                  <a:pt x="22585" y="0"/>
                  <a:pt x="11906" y="10678"/>
                  <a:pt x="11906" y="23812"/>
                </a:cubicBezTo>
                <a:lnTo>
                  <a:pt x="11906" y="166688"/>
                </a:lnTo>
                <a:cubicBezTo>
                  <a:pt x="11906" y="179822"/>
                  <a:pt x="22585" y="190500"/>
                  <a:pt x="35719" y="190500"/>
                </a:cubicBezTo>
                <a:lnTo>
                  <a:pt x="65484" y="190500"/>
                </a:lnTo>
                <a:lnTo>
                  <a:pt x="65484" y="148828"/>
                </a:lnTo>
                <a:cubicBezTo>
                  <a:pt x="65484" y="135694"/>
                  <a:pt x="76163" y="125016"/>
                  <a:pt x="89297" y="125016"/>
                </a:cubicBezTo>
                <a:lnTo>
                  <a:pt x="154781" y="125016"/>
                </a:lnTo>
                <a:lnTo>
                  <a:pt x="154781" y="63438"/>
                </a:lnTo>
                <a:cubicBezTo>
                  <a:pt x="154781" y="57113"/>
                  <a:pt x="152288" y="51048"/>
                  <a:pt x="147824" y="46583"/>
                </a:cubicBezTo>
                <a:lnTo>
                  <a:pt x="108161" y="6958"/>
                </a:lnTo>
                <a:cubicBezTo>
                  <a:pt x="103696" y="2493"/>
                  <a:pt x="97668" y="0"/>
                  <a:pt x="91343" y="0"/>
                </a:cubicBezTo>
                <a:lnTo>
                  <a:pt x="35719" y="0"/>
                </a:lnTo>
                <a:close/>
                <a:moveTo>
                  <a:pt x="133015" y="65484"/>
                </a:moveTo>
                <a:lnTo>
                  <a:pt x="98227" y="65484"/>
                </a:lnTo>
                <a:cubicBezTo>
                  <a:pt x="93278" y="65484"/>
                  <a:pt x="89297" y="61503"/>
                  <a:pt x="89297" y="56555"/>
                </a:cubicBezTo>
                <a:lnTo>
                  <a:pt x="89297" y="21766"/>
                </a:lnTo>
                <a:lnTo>
                  <a:pt x="133015" y="65484"/>
                </a:lnTo>
                <a:close/>
                <a:moveTo>
                  <a:pt x="98227" y="141387"/>
                </a:moveTo>
                <a:cubicBezTo>
                  <a:pt x="89185" y="141387"/>
                  <a:pt x="81855" y="148717"/>
                  <a:pt x="81855" y="157758"/>
                </a:cubicBezTo>
                <a:lnTo>
                  <a:pt x="81855" y="187523"/>
                </a:lnTo>
                <a:cubicBezTo>
                  <a:pt x="81855" y="196565"/>
                  <a:pt x="89185" y="203895"/>
                  <a:pt x="98227" y="203895"/>
                </a:cubicBezTo>
                <a:lnTo>
                  <a:pt x="104180" y="203895"/>
                </a:lnTo>
                <a:cubicBezTo>
                  <a:pt x="113221" y="203895"/>
                  <a:pt x="120551" y="196565"/>
                  <a:pt x="120551" y="187523"/>
                </a:cubicBezTo>
                <a:lnTo>
                  <a:pt x="120551" y="184547"/>
                </a:lnTo>
                <a:cubicBezTo>
                  <a:pt x="120551" y="180454"/>
                  <a:pt x="117202" y="177105"/>
                  <a:pt x="113109" y="177105"/>
                </a:cubicBezTo>
                <a:cubicBezTo>
                  <a:pt x="109017" y="177105"/>
                  <a:pt x="105668" y="180454"/>
                  <a:pt x="105668" y="184547"/>
                </a:cubicBezTo>
                <a:lnTo>
                  <a:pt x="105668" y="187523"/>
                </a:lnTo>
                <a:cubicBezTo>
                  <a:pt x="105668" y="188342"/>
                  <a:pt x="104998" y="189012"/>
                  <a:pt x="104180" y="189012"/>
                </a:cubicBezTo>
                <a:lnTo>
                  <a:pt x="98227" y="189012"/>
                </a:lnTo>
                <a:cubicBezTo>
                  <a:pt x="97408" y="189012"/>
                  <a:pt x="96738" y="188342"/>
                  <a:pt x="96738" y="187523"/>
                </a:cubicBezTo>
                <a:lnTo>
                  <a:pt x="96738" y="157758"/>
                </a:lnTo>
                <a:cubicBezTo>
                  <a:pt x="96738" y="156939"/>
                  <a:pt x="97408" y="156270"/>
                  <a:pt x="98227" y="156270"/>
                </a:cubicBezTo>
                <a:lnTo>
                  <a:pt x="104180" y="156270"/>
                </a:lnTo>
                <a:cubicBezTo>
                  <a:pt x="104998" y="156270"/>
                  <a:pt x="105668" y="156939"/>
                  <a:pt x="105668" y="157758"/>
                </a:cubicBezTo>
                <a:lnTo>
                  <a:pt x="105668" y="160734"/>
                </a:lnTo>
                <a:cubicBezTo>
                  <a:pt x="105668" y="164827"/>
                  <a:pt x="109017" y="168176"/>
                  <a:pt x="113109" y="168176"/>
                </a:cubicBezTo>
                <a:cubicBezTo>
                  <a:pt x="117202" y="168176"/>
                  <a:pt x="120551" y="164827"/>
                  <a:pt x="120551" y="160734"/>
                </a:cubicBezTo>
                <a:lnTo>
                  <a:pt x="120551" y="157758"/>
                </a:lnTo>
                <a:cubicBezTo>
                  <a:pt x="120551" y="148717"/>
                  <a:pt x="113221" y="141387"/>
                  <a:pt x="104180" y="141387"/>
                </a:cubicBezTo>
                <a:lnTo>
                  <a:pt x="98227" y="141387"/>
                </a:lnTo>
                <a:close/>
                <a:moveTo>
                  <a:pt x="148828" y="141387"/>
                </a:moveTo>
                <a:cubicBezTo>
                  <a:pt x="138150" y="141387"/>
                  <a:pt x="129480" y="150056"/>
                  <a:pt x="129480" y="160734"/>
                </a:cubicBezTo>
                <a:cubicBezTo>
                  <a:pt x="129480" y="171413"/>
                  <a:pt x="138150" y="180082"/>
                  <a:pt x="148828" y="180082"/>
                </a:cubicBezTo>
                <a:cubicBezTo>
                  <a:pt x="151284" y="180082"/>
                  <a:pt x="153293" y="182091"/>
                  <a:pt x="153293" y="184547"/>
                </a:cubicBezTo>
                <a:cubicBezTo>
                  <a:pt x="153293" y="187003"/>
                  <a:pt x="151284" y="189012"/>
                  <a:pt x="148828" y="189012"/>
                </a:cubicBezTo>
                <a:lnTo>
                  <a:pt x="136922" y="189012"/>
                </a:lnTo>
                <a:cubicBezTo>
                  <a:pt x="132829" y="189012"/>
                  <a:pt x="129480" y="192360"/>
                  <a:pt x="129480" y="196453"/>
                </a:cubicBezTo>
                <a:cubicBezTo>
                  <a:pt x="129480" y="200546"/>
                  <a:pt x="132829" y="203895"/>
                  <a:pt x="136922" y="203895"/>
                </a:cubicBezTo>
                <a:lnTo>
                  <a:pt x="148828" y="203895"/>
                </a:lnTo>
                <a:cubicBezTo>
                  <a:pt x="159507" y="203895"/>
                  <a:pt x="168176" y="195225"/>
                  <a:pt x="168176" y="184547"/>
                </a:cubicBezTo>
                <a:cubicBezTo>
                  <a:pt x="168176" y="173868"/>
                  <a:pt x="159507" y="165199"/>
                  <a:pt x="148828" y="165199"/>
                </a:cubicBezTo>
                <a:cubicBezTo>
                  <a:pt x="146372" y="165199"/>
                  <a:pt x="144363" y="163190"/>
                  <a:pt x="144363" y="160734"/>
                </a:cubicBezTo>
                <a:cubicBezTo>
                  <a:pt x="144363" y="158279"/>
                  <a:pt x="146372" y="156270"/>
                  <a:pt x="148828" y="156270"/>
                </a:cubicBezTo>
                <a:lnTo>
                  <a:pt x="157758" y="156270"/>
                </a:lnTo>
                <a:cubicBezTo>
                  <a:pt x="161851" y="156270"/>
                  <a:pt x="165199" y="152921"/>
                  <a:pt x="165199" y="148828"/>
                </a:cubicBezTo>
                <a:cubicBezTo>
                  <a:pt x="165199" y="144735"/>
                  <a:pt x="161851" y="141387"/>
                  <a:pt x="157758" y="141387"/>
                </a:cubicBezTo>
                <a:lnTo>
                  <a:pt x="148828" y="141387"/>
                </a:lnTo>
                <a:close/>
                <a:moveTo>
                  <a:pt x="184547" y="141387"/>
                </a:moveTo>
                <a:cubicBezTo>
                  <a:pt x="180454" y="141387"/>
                  <a:pt x="177105" y="144735"/>
                  <a:pt x="177105" y="148828"/>
                </a:cubicBezTo>
                <a:lnTo>
                  <a:pt x="177105" y="160586"/>
                </a:lnTo>
                <a:cubicBezTo>
                  <a:pt x="177105" y="173794"/>
                  <a:pt x="181012" y="186742"/>
                  <a:pt x="188342" y="197718"/>
                </a:cubicBezTo>
                <a:lnTo>
                  <a:pt x="190240" y="200583"/>
                </a:lnTo>
                <a:cubicBezTo>
                  <a:pt x="191616" y="202667"/>
                  <a:pt x="193960" y="203895"/>
                  <a:pt x="196416" y="203895"/>
                </a:cubicBezTo>
                <a:cubicBezTo>
                  <a:pt x="198872" y="203895"/>
                  <a:pt x="201216" y="202667"/>
                  <a:pt x="202592" y="200583"/>
                </a:cubicBezTo>
                <a:lnTo>
                  <a:pt x="204490" y="197718"/>
                </a:lnTo>
                <a:cubicBezTo>
                  <a:pt x="211820" y="186705"/>
                  <a:pt x="215726" y="173794"/>
                  <a:pt x="215726" y="160586"/>
                </a:cubicBezTo>
                <a:lnTo>
                  <a:pt x="215726" y="148828"/>
                </a:lnTo>
                <a:cubicBezTo>
                  <a:pt x="215726" y="144735"/>
                  <a:pt x="212378" y="141387"/>
                  <a:pt x="208285" y="141387"/>
                </a:cubicBezTo>
                <a:cubicBezTo>
                  <a:pt x="204192" y="141387"/>
                  <a:pt x="200844" y="144735"/>
                  <a:pt x="200844" y="148828"/>
                </a:cubicBezTo>
                <a:lnTo>
                  <a:pt x="200844" y="160586"/>
                </a:lnTo>
                <a:cubicBezTo>
                  <a:pt x="200844" y="167878"/>
                  <a:pt x="199318" y="175059"/>
                  <a:pt x="196379" y="181682"/>
                </a:cubicBezTo>
                <a:cubicBezTo>
                  <a:pt x="193439" y="175059"/>
                  <a:pt x="191914" y="167878"/>
                  <a:pt x="191914" y="160586"/>
                </a:cubicBezTo>
                <a:lnTo>
                  <a:pt x="191914" y="148828"/>
                </a:lnTo>
                <a:cubicBezTo>
                  <a:pt x="191914" y="144735"/>
                  <a:pt x="188565" y="141387"/>
                  <a:pt x="184472" y="141387"/>
                </a:cubicBezTo>
                <a:close/>
              </a:path>
            </a:pathLst>
          </a:custGeom>
          <a:solidFill>
            <a:srgbClr val="E8E9EA"/>
          </a:solidFill>
          <a:ln/>
        </p:spPr>
      </p:sp>
      <p:sp>
        <p:nvSpPr>
          <p:cNvPr id="32" name="Text 30"/>
          <p:cNvSpPr/>
          <p:nvPr/>
        </p:nvSpPr>
        <p:spPr>
          <a:xfrm>
            <a:off x="1301750" y="5911853"/>
            <a:ext cx="4448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CSV Files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01750" y="6140453"/>
            <a:ext cx="4438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Sources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13475" y="1806577"/>
            <a:ext cx="5597525" cy="1492250"/>
          </a:xfrm>
          <a:custGeom>
            <a:avLst/>
            <a:gdLst/>
            <a:ahLst/>
            <a:cxnLst/>
            <a:rect l="l" t="t" r="r" b="b"/>
            <a:pathLst>
              <a:path w="5597525" h="1492250">
                <a:moveTo>
                  <a:pt x="114306" y="0"/>
                </a:moveTo>
                <a:lnTo>
                  <a:pt x="5483219" y="0"/>
                </a:lnTo>
                <a:cubicBezTo>
                  <a:pt x="5546348" y="0"/>
                  <a:pt x="5597525" y="51177"/>
                  <a:pt x="5597525" y="114306"/>
                </a:cubicBezTo>
                <a:lnTo>
                  <a:pt x="5597525" y="1377944"/>
                </a:lnTo>
                <a:cubicBezTo>
                  <a:pt x="5597525" y="1441073"/>
                  <a:pt x="5546348" y="1492250"/>
                  <a:pt x="5483219" y="1492250"/>
                </a:cubicBezTo>
                <a:lnTo>
                  <a:pt x="114306" y="1492250"/>
                </a:lnTo>
                <a:cubicBezTo>
                  <a:pt x="51177" y="1492250"/>
                  <a:pt x="0" y="1441073"/>
                  <a:pt x="0" y="1377944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19056" y="20383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36" name="Text 34"/>
          <p:cNvSpPr/>
          <p:nvPr/>
        </p:nvSpPr>
        <p:spPr>
          <a:xfrm>
            <a:off x="6645275" y="2000250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Libraries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07150" y="2419350"/>
            <a:ext cx="1657350" cy="685800"/>
          </a:xfrm>
          <a:custGeom>
            <a:avLst/>
            <a:gdLst/>
            <a:ahLst/>
            <a:cxnLst/>
            <a:rect l="l" t="t" r="r" b="b"/>
            <a:pathLst>
              <a:path w="1657350" h="685800">
                <a:moveTo>
                  <a:pt x="76199" y="0"/>
                </a:moveTo>
                <a:lnTo>
                  <a:pt x="1581151" y="0"/>
                </a:lnTo>
                <a:cubicBezTo>
                  <a:pt x="1623234" y="0"/>
                  <a:pt x="1657350" y="34116"/>
                  <a:pt x="1657350" y="76199"/>
                </a:cubicBezTo>
                <a:lnTo>
                  <a:pt x="1657350" y="609601"/>
                </a:lnTo>
                <a:cubicBezTo>
                  <a:pt x="1657350" y="651656"/>
                  <a:pt x="1623206" y="685800"/>
                  <a:pt x="15811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483350" y="2533650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D8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pandas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88113" y="2800350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manipulation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80884" y="2419350"/>
            <a:ext cx="1657350" cy="685800"/>
          </a:xfrm>
          <a:custGeom>
            <a:avLst/>
            <a:gdLst/>
            <a:ahLst/>
            <a:cxnLst/>
            <a:rect l="l" t="t" r="r" b="b"/>
            <a:pathLst>
              <a:path w="1657350" h="685800">
                <a:moveTo>
                  <a:pt x="76199" y="0"/>
                </a:moveTo>
                <a:lnTo>
                  <a:pt x="1581151" y="0"/>
                </a:lnTo>
                <a:cubicBezTo>
                  <a:pt x="1623234" y="0"/>
                  <a:pt x="1657350" y="34116"/>
                  <a:pt x="1657350" y="76199"/>
                </a:cubicBezTo>
                <a:lnTo>
                  <a:pt x="1657350" y="609601"/>
                </a:lnTo>
                <a:cubicBezTo>
                  <a:pt x="1657350" y="651656"/>
                  <a:pt x="1623206" y="685800"/>
                  <a:pt x="15811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8257084" y="2533650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D8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numpy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261846" y="2800350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Numerical ops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954618" y="2419350"/>
            <a:ext cx="1657350" cy="685800"/>
          </a:xfrm>
          <a:custGeom>
            <a:avLst/>
            <a:gdLst/>
            <a:ahLst/>
            <a:cxnLst/>
            <a:rect l="l" t="t" r="r" b="b"/>
            <a:pathLst>
              <a:path w="1657350" h="685800">
                <a:moveTo>
                  <a:pt x="76199" y="0"/>
                </a:moveTo>
                <a:lnTo>
                  <a:pt x="1581151" y="0"/>
                </a:lnTo>
                <a:cubicBezTo>
                  <a:pt x="1623234" y="0"/>
                  <a:pt x="1657350" y="34116"/>
                  <a:pt x="1657350" y="76199"/>
                </a:cubicBezTo>
                <a:lnTo>
                  <a:pt x="1657350" y="609601"/>
                </a:lnTo>
                <a:cubicBezTo>
                  <a:pt x="1657350" y="651656"/>
                  <a:pt x="1623206" y="685800"/>
                  <a:pt x="158115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0030818" y="2533650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D8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datetime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035580" y="2800350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 handling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13475" y="3457578"/>
            <a:ext cx="5597525" cy="3359150"/>
          </a:xfrm>
          <a:custGeom>
            <a:avLst/>
            <a:gdLst/>
            <a:ahLst/>
            <a:cxnLst/>
            <a:rect l="l" t="t" r="r" b="b"/>
            <a:pathLst>
              <a:path w="5597525" h="3359150">
                <a:moveTo>
                  <a:pt x="114312" y="0"/>
                </a:moveTo>
                <a:lnTo>
                  <a:pt x="5483213" y="0"/>
                </a:lnTo>
                <a:cubicBezTo>
                  <a:pt x="5546346" y="0"/>
                  <a:pt x="5597525" y="51179"/>
                  <a:pt x="5597525" y="114312"/>
                </a:cubicBezTo>
                <a:lnTo>
                  <a:pt x="5597525" y="3244838"/>
                </a:lnTo>
                <a:cubicBezTo>
                  <a:pt x="5597525" y="3307971"/>
                  <a:pt x="5546346" y="3359150"/>
                  <a:pt x="5483213" y="3359150"/>
                </a:cubicBezTo>
                <a:lnTo>
                  <a:pt x="114312" y="3359150"/>
                </a:lnTo>
                <a:cubicBezTo>
                  <a:pt x="51179" y="3359150"/>
                  <a:pt x="0" y="3307971"/>
                  <a:pt x="0" y="3244838"/>
                </a:cubicBezTo>
                <a:lnTo>
                  <a:pt x="0" y="114312"/>
                </a:lnTo>
                <a:cubicBezTo>
                  <a:pt x="0" y="51221"/>
                  <a:pt x="51221" y="0"/>
                  <a:pt x="114312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8467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30963" y="36893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107156" y="35719"/>
                </a:moveTo>
                <a:cubicBezTo>
                  <a:pt x="107156" y="29148"/>
                  <a:pt x="101821" y="23812"/>
                  <a:pt x="95250" y="23812"/>
                </a:cubicBezTo>
                <a:cubicBezTo>
                  <a:pt x="88679" y="23812"/>
                  <a:pt x="83344" y="29148"/>
                  <a:pt x="83344" y="35719"/>
                </a:cubicBezTo>
                <a:cubicBezTo>
                  <a:pt x="83344" y="42290"/>
                  <a:pt x="88679" y="47625"/>
                  <a:pt x="95250" y="47625"/>
                </a:cubicBezTo>
                <a:cubicBezTo>
                  <a:pt x="101821" y="47625"/>
                  <a:pt x="107156" y="42290"/>
                  <a:pt x="107156" y="35719"/>
                </a:cubicBezTo>
                <a:close/>
                <a:moveTo>
                  <a:pt x="95250" y="154781"/>
                </a:moveTo>
                <a:cubicBezTo>
                  <a:pt x="108384" y="154781"/>
                  <a:pt x="119063" y="144103"/>
                  <a:pt x="119063" y="130969"/>
                </a:cubicBezTo>
                <a:cubicBezTo>
                  <a:pt x="119063" y="124941"/>
                  <a:pt x="116830" y="119397"/>
                  <a:pt x="113109" y="115230"/>
                </a:cubicBezTo>
                <a:lnTo>
                  <a:pt x="138968" y="63550"/>
                </a:lnTo>
                <a:cubicBezTo>
                  <a:pt x="141163" y="59122"/>
                  <a:pt x="139378" y="53764"/>
                  <a:pt x="134987" y="51569"/>
                </a:cubicBezTo>
                <a:cubicBezTo>
                  <a:pt x="130597" y="49374"/>
                  <a:pt x="125202" y="51160"/>
                  <a:pt x="123006" y="55550"/>
                </a:cubicBezTo>
                <a:lnTo>
                  <a:pt x="97148" y="107231"/>
                </a:lnTo>
                <a:cubicBezTo>
                  <a:pt x="96515" y="107193"/>
                  <a:pt x="95883" y="107156"/>
                  <a:pt x="95250" y="107156"/>
                </a:cubicBezTo>
                <a:cubicBezTo>
                  <a:pt x="82116" y="107156"/>
                  <a:pt x="71438" y="117835"/>
                  <a:pt x="71438" y="130969"/>
                </a:cubicBezTo>
                <a:cubicBezTo>
                  <a:pt x="71438" y="144103"/>
                  <a:pt x="82116" y="154781"/>
                  <a:pt x="95250" y="154781"/>
                </a:cubicBezTo>
                <a:close/>
                <a:moveTo>
                  <a:pt x="65484" y="53578"/>
                </a:moveTo>
                <a:cubicBezTo>
                  <a:pt x="65484" y="47007"/>
                  <a:pt x="60149" y="41672"/>
                  <a:pt x="53578" y="41672"/>
                </a:cubicBezTo>
                <a:cubicBezTo>
                  <a:pt x="47007" y="41672"/>
                  <a:pt x="41672" y="47007"/>
                  <a:pt x="41672" y="53578"/>
                </a:cubicBezTo>
                <a:cubicBezTo>
                  <a:pt x="41672" y="60149"/>
                  <a:pt x="47007" y="65484"/>
                  <a:pt x="53578" y="65484"/>
                </a:cubicBezTo>
                <a:cubicBezTo>
                  <a:pt x="60149" y="65484"/>
                  <a:pt x="65484" y="60149"/>
                  <a:pt x="65484" y="53578"/>
                </a:cubicBezTo>
                <a:close/>
                <a:moveTo>
                  <a:pt x="35719" y="107156"/>
                </a:moveTo>
                <a:cubicBezTo>
                  <a:pt x="42290" y="107156"/>
                  <a:pt x="47625" y="101821"/>
                  <a:pt x="47625" y="95250"/>
                </a:cubicBez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lose/>
                <a:moveTo>
                  <a:pt x="166688" y="95250"/>
                </a:moveTo>
                <a:cubicBezTo>
                  <a:pt x="166688" y="88679"/>
                  <a:pt x="161352" y="83344"/>
                  <a:pt x="154781" y="83344"/>
                </a:cubicBezTo>
                <a:cubicBezTo>
                  <a:pt x="148210" y="83344"/>
                  <a:pt x="142875" y="88679"/>
                  <a:pt x="142875" y="95250"/>
                </a:cubicBezTo>
                <a:cubicBezTo>
                  <a:pt x="142875" y="101821"/>
                  <a:pt x="148210" y="107156"/>
                  <a:pt x="154781" y="107156"/>
                </a:cubicBezTo>
                <a:cubicBezTo>
                  <a:pt x="161352" y="107156"/>
                  <a:pt x="166688" y="101821"/>
                  <a:pt x="166688" y="9525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48" name="Text 46"/>
          <p:cNvSpPr/>
          <p:nvPr/>
        </p:nvSpPr>
        <p:spPr>
          <a:xfrm>
            <a:off x="6645275" y="3651252"/>
            <a:ext cx="506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Optimizations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07150" y="407035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50" name="Shape 48"/>
          <p:cNvSpPr/>
          <p:nvPr/>
        </p:nvSpPr>
        <p:spPr>
          <a:xfrm>
            <a:off x="6492875" y="4146552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00846" y="-2947"/>
                </a:moveTo>
                <a:cubicBezTo>
                  <a:pt x="104388" y="-387"/>
                  <a:pt x="105698" y="4256"/>
                  <a:pt x="104090" y="8305"/>
                </a:cubicBezTo>
                <a:lnTo>
                  <a:pt x="80754" y="66675"/>
                </a:lnTo>
                <a:lnTo>
                  <a:pt x="123825" y="66675"/>
                </a:lnTo>
                <a:cubicBezTo>
                  <a:pt x="127843" y="66675"/>
                  <a:pt x="131415" y="69175"/>
                  <a:pt x="132784" y="72956"/>
                </a:cubicBezTo>
                <a:cubicBezTo>
                  <a:pt x="134154" y="76736"/>
                  <a:pt x="132993" y="80962"/>
                  <a:pt x="129927" y="83522"/>
                </a:cubicBezTo>
                <a:lnTo>
                  <a:pt x="44202" y="154960"/>
                </a:lnTo>
                <a:cubicBezTo>
                  <a:pt x="40838" y="157758"/>
                  <a:pt x="36046" y="157907"/>
                  <a:pt x="32504" y="155347"/>
                </a:cubicBezTo>
                <a:cubicBezTo>
                  <a:pt x="28962" y="152787"/>
                  <a:pt x="27652" y="148144"/>
                  <a:pt x="29260" y="144095"/>
                </a:cubicBezTo>
                <a:lnTo>
                  <a:pt x="52596" y="85725"/>
                </a:lnTo>
                <a:lnTo>
                  <a:pt x="9525" y="85725"/>
                </a:lnTo>
                <a:cubicBezTo>
                  <a:pt x="5507" y="85725"/>
                  <a:pt x="1935" y="83225"/>
                  <a:pt x="566" y="79444"/>
                </a:cubicBezTo>
                <a:cubicBezTo>
                  <a:pt x="-804" y="75664"/>
                  <a:pt x="357" y="71438"/>
                  <a:pt x="3423" y="68878"/>
                </a:cubicBezTo>
                <a:lnTo>
                  <a:pt x="89148" y="-2560"/>
                </a:lnTo>
                <a:cubicBezTo>
                  <a:pt x="92512" y="-5358"/>
                  <a:pt x="97304" y="-5507"/>
                  <a:pt x="100846" y="-2947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1" name="Text 49"/>
          <p:cNvSpPr/>
          <p:nvPr/>
        </p:nvSpPr>
        <p:spPr>
          <a:xfrm>
            <a:off x="6826250" y="4070352"/>
            <a:ext cx="3209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Batch Processing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26250" y="4298952"/>
            <a:ext cx="3200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Prevents memory overload with controlled batch sizes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07150" y="460375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54" name="Shape 52"/>
          <p:cNvSpPr/>
          <p:nvPr/>
        </p:nvSpPr>
        <p:spPr>
          <a:xfrm>
            <a:off x="6483350" y="467995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95250"/>
                </a:moveTo>
                <a:lnTo>
                  <a:pt x="7293" y="95250"/>
                </a:lnTo>
                <a:cubicBezTo>
                  <a:pt x="-119" y="95250"/>
                  <a:pt x="-4673" y="87184"/>
                  <a:pt x="-863" y="80814"/>
                </a:cubicBezTo>
                <a:lnTo>
                  <a:pt x="14883" y="54560"/>
                </a:lnTo>
                <a:cubicBezTo>
                  <a:pt x="17472" y="50244"/>
                  <a:pt x="22116" y="47625"/>
                  <a:pt x="27146" y="47625"/>
                </a:cubicBezTo>
                <a:lnTo>
                  <a:pt x="55424" y="47625"/>
                </a:lnTo>
                <a:cubicBezTo>
                  <a:pt x="78075" y="9257"/>
                  <a:pt x="111859" y="7322"/>
                  <a:pt x="134451" y="10626"/>
                </a:cubicBezTo>
                <a:cubicBezTo>
                  <a:pt x="138261" y="11192"/>
                  <a:pt x="141238" y="14168"/>
                  <a:pt x="141774" y="17949"/>
                </a:cubicBezTo>
                <a:cubicBezTo>
                  <a:pt x="145078" y="40541"/>
                  <a:pt x="143143" y="74325"/>
                  <a:pt x="104775" y="96976"/>
                </a:cubicBezTo>
                <a:lnTo>
                  <a:pt x="104775" y="125254"/>
                </a:lnTo>
                <a:cubicBezTo>
                  <a:pt x="104775" y="130284"/>
                  <a:pt x="102156" y="134928"/>
                  <a:pt x="97840" y="137517"/>
                </a:cubicBezTo>
                <a:lnTo>
                  <a:pt x="71586" y="153263"/>
                </a:lnTo>
                <a:cubicBezTo>
                  <a:pt x="65246" y="157073"/>
                  <a:pt x="57150" y="152489"/>
                  <a:pt x="57150" y="145107"/>
                </a:cubicBezTo>
                <a:lnTo>
                  <a:pt x="57150" y="114300"/>
                </a:lnTo>
                <a:cubicBezTo>
                  <a:pt x="57150" y="103793"/>
                  <a:pt x="48607" y="95250"/>
                  <a:pt x="38100" y="95250"/>
                </a:cubicBezTo>
                <a:lnTo>
                  <a:pt x="38070" y="95250"/>
                </a:lnTo>
                <a:close/>
                <a:moveTo>
                  <a:pt x="119062" y="47625"/>
                </a:moveTo>
                <a:cubicBezTo>
                  <a:pt x="119062" y="39740"/>
                  <a:pt x="112660" y="33338"/>
                  <a:pt x="104775" y="33338"/>
                </a:cubicBezTo>
                <a:cubicBezTo>
                  <a:pt x="96890" y="33338"/>
                  <a:pt x="90488" y="39740"/>
                  <a:pt x="90488" y="47625"/>
                </a:cubicBezTo>
                <a:cubicBezTo>
                  <a:pt x="90488" y="55510"/>
                  <a:pt x="96890" y="61912"/>
                  <a:pt x="104775" y="61912"/>
                </a:cubicBezTo>
                <a:cubicBezTo>
                  <a:pt x="112660" y="61912"/>
                  <a:pt x="119062" y="55510"/>
                  <a:pt x="119062" y="4762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5" name="Text 53"/>
          <p:cNvSpPr/>
          <p:nvPr/>
        </p:nvSpPr>
        <p:spPr>
          <a:xfrm>
            <a:off x="6826250" y="4603752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Vectorized Operations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826250" y="4832352"/>
            <a:ext cx="2466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pandas transformations for efficiency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407150" y="513715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58" name="Shape 56"/>
          <p:cNvSpPr/>
          <p:nvPr/>
        </p:nvSpPr>
        <p:spPr>
          <a:xfrm>
            <a:off x="6483350" y="521335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0013" y="104775"/>
                </a:moveTo>
                <a:cubicBezTo>
                  <a:pt x="128945" y="104775"/>
                  <a:pt x="152400" y="81320"/>
                  <a:pt x="152400" y="52388"/>
                </a:cubicBezTo>
                <a:cubicBezTo>
                  <a:pt x="152400" y="23455"/>
                  <a:pt x="128945" y="0"/>
                  <a:pt x="100013" y="0"/>
                </a:cubicBezTo>
                <a:cubicBezTo>
                  <a:pt x="71080" y="0"/>
                  <a:pt x="47625" y="23455"/>
                  <a:pt x="47625" y="52388"/>
                </a:cubicBezTo>
                <a:cubicBezTo>
                  <a:pt x="47625" y="57954"/>
                  <a:pt x="48488" y="63341"/>
                  <a:pt x="50096" y="68372"/>
                </a:cubicBezTo>
                <a:lnTo>
                  <a:pt x="2084" y="116384"/>
                </a:lnTo>
                <a:cubicBezTo>
                  <a:pt x="744" y="117723"/>
                  <a:pt x="0" y="119539"/>
                  <a:pt x="0" y="121444"/>
                </a:cubicBezTo>
                <a:lnTo>
                  <a:pt x="0" y="145256"/>
                </a:lnTo>
                <a:cubicBezTo>
                  <a:pt x="0" y="149215"/>
                  <a:pt x="3185" y="152400"/>
                  <a:pt x="7144" y="152400"/>
                </a:cubicBezTo>
                <a:lnTo>
                  <a:pt x="30956" y="152400"/>
                </a:lnTo>
                <a:cubicBezTo>
                  <a:pt x="34915" y="152400"/>
                  <a:pt x="38100" y="149215"/>
                  <a:pt x="38100" y="145256"/>
                </a:cubicBezTo>
                <a:lnTo>
                  <a:pt x="38100" y="133350"/>
                </a:lnTo>
                <a:lnTo>
                  <a:pt x="50006" y="133350"/>
                </a:lnTo>
                <a:cubicBezTo>
                  <a:pt x="53965" y="133350"/>
                  <a:pt x="57150" y="130165"/>
                  <a:pt x="57150" y="126206"/>
                </a:cubicBezTo>
                <a:lnTo>
                  <a:pt x="57150" y="114300"/>
                </a:lnTo>
                <a:lnTo>
                  <a:pt x="69056" y="114300"/>
                </a:lnTo>
                <a:cubicBezTo>
                  <a:pt x="70961" y="114300"/>
                  <a:pt x="72777" y="113556"/>
                  <a:pt x="74116" y="112216"/>
                </a:cubicBezTo>
                <a:lnTo>
                  <a:pt x="84028" y="102304"/>
                </a:lnTo>
                <a:cubicBezTo>
                  <a:pt x="89059" y="103912"/>
                  <a:pt x="94446" y="104775"/>
                  <a:pt x="100013" y="104775"/>
                </a:cubicBezTo>
                <a:close/>
                <a:moveTo>
                  <a:pt x="111919" y="28575"/>
                </a:moveTo>
                <a:cubicBezTo>
                  <a:pt x="118490" y="28575"/>
                  <a:pt x="123825" y="33910"/>
                  <a:pt x="123825" y="40481"/>
                </a:cubicBezTo>
                <a:cubicBezTo>
                  <a:pt x="123825" y="47052"/>
                  <a:pt x="118490" y="52388"/>
                  <a:pt x="111919" y="52388"/>
                </a:cubicBezTo>
                <a:cubicBezTo>
                  <a:pt x="105348" y="52388"/>
                  <a:pt x="100013" y="47052"/>
                  <a:pt x="100013" y="40481"/>
                </a:cubicBezTo>
                <a:cubicBezTo>
                  <a:pt x="100013" y="33910"/>
                  <a:pt x="105348" y="28575"/>
                  <a:pt x="111919" y="2857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9" name="Text 57"/>
          <p:cNvSpPr/>
          <p:nvPr/>
        </p:nvSpPr>
        <p:spPr>
          <a:xfrm>
            <a:off x="6826250" y="5137152"/>
            <a:ext cx="2314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Indexed Foreign Keys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826250" y="5365752"/>
            <a:ext cx="2305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Optimized query performance for joins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407150" y="567055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62" name="Shape 60"/>
          <p:cNvSpPr/>
          <p:nvPr/>
        </p:nvSpPr>
        <p:spPr>
          <a:xfrm>
            <a:off x="6473825" y="5746752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73819" y="26194"/>
                </a:moveTo>
                <a:lnTo>
                  <a:pt x="97631" y="26194"/>
                </a:lnTo>
                <a:lnTo>
                  <a:pt x="97631" y="40481"/>
                </a:lnTo>
                <a:lnTo>
                  <a:pt x="73819" y="40481"/>
                </a:lnTo>
                <a:lnTo>
                  <a:pt x="73819" y="26194"/>
                </a:lnTo>
                <a:close/>
                <a:moveTo>
                  <a:pt x="71438" y="9525"/>
                </a:moveTo>
                <a:cubicBezTo>
                  <a:pt x="63550" y="9525"/>
                  <a:pt x="57150" y="15925"/>
                  <a:pt x="57150" y="23813"/>
                </a:cubicBezTo>
                <a:lnTo>
                  <a:pt x="57150" y="42863"/>
                </a:lnTo>
                <a:cubicBezTo>
                  <a:pt x="57150" y="50750"/>
                  <a:pt x="63550" y="57150"/>
                  <a:pt x="71438" y="57150"/>
                </a:cubicBezTo>
                <a:lnTo>
                  <a:pt x="76200" y="57150"/>
                </a:lnTo>
                <a:lnTo>
                  <a:pt x="76200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38100" y="85725"/>
                </a:lnTo>
                <a:lnTo>
                  <a:pt x="38100" y="95250"/>
                </a:lnTo>
                <a:lnTo>
                  <a:pt x="33338" y="95250"/>
                </a:lnTo>
                <a:cubicBezTo>
                  <a:pt x="25450" y="95250"/>
                  <a:pt x="19050" y="101650"/>
                  <a:pt x="19050" y="109537"/>
                </a:cubicBezTo>
                <a:lnTo>
                  <a:pt x="19050" y="128588"/>
                </a:lnTo>
                <a:cubicBezTo>
                  <a:pt x="19050" y="136475"/>
                  <a:pt x="25450" y="142875"/>
                  <a:pt x="33338" y="142875"/>
                </a:cubicBezTo>
                <a:lnTo>
                  <a:pt x="61912" y="142875"/>
                </a:lnTo>
                <a:cubicBezTo>
                  <a:pt x="69800" y="142875"/>
                  <a:pt x="76200" y="136475"/>
                  <a:pt x="76200" y="128588"/>
                </a:cubicBezTo>
                <a:lnTo>
                  <a:pt x="76200" y="109537"/>
                </a:lnTo>
                <a:cubicBezTo>
                  <a:pt x="76200" y="101650"/>
                  <a:pt x="69800" y="95250"/>
                  <a:pt x="61912" y="95250"/>
                </a:cubicBezTo>
                <a:lnTo>
                  <a:pt x="57150" y="95250"/>
                </a:lnTo>
                <a:lnTo>
                  <a:pt x="57150" y="85725"/>
                </a:lnTo>
                <a:lnTo>
                  <a:pt x="114300" y="85725"/>
                </a:lnTo>
                <a:lnTo>
                  <a:pt x="114300" y="95250"/>
                </a:lnTo>
                <a:lnTo>
                  <a:pt x="109537" y="95250"/>
                </a:lnTo>
                <a:cubicBezTo>
                  <a:pt x="101650" y="95250"/>
                  <a:pt x="95250" y="101650"/>
                  <a:pt x="95250" y="109537"/>
                </a:cubicBezTo>
                <a:lnTo>
                  <a:pt x="95250" y="128588"/>
                </a:lnTo>
                <a:cubicBezTo>
                  <a:pt x="95250" y="136475"/>
                  <a:pt x="101650" y="142875"/>
                  <a:pt x="109537" y="142875"/>
                </a:cubicBezTo>
                <a:lnTo>
                  <a:pt x="138113" y="142875"/>
                </a:lnTo>
                <a:cubicBezTo>
                  <a:pt x="146000" y="142875"/>
                  <a:pt x="152400" y="136475"/>
                  <a:pt x="152400" y="128588"/>
                </a:cubicBezTo>
                <a:lnTo>
                  <a:pt x="152400" y="109537"/>
                </a:lnTo>
                <a:cubicBezTo>
                  <a:pt x="152400" y="101650"/>
                  <a:pt x="146000" y="95250"/>
                  <a:pt x="138113" y="95250"/>
                </a:cubicBezTo>
                <a:lnTo>
                  <a:pt x="133350" y="95250"/>
                </a:lnTo>
                <a:lnTo>
                  <a:pt x="133350" y="85725"/>
                </a:lnTo>
                <a:lnTo>
                  <a:pt x="161925" y="85725"/>
                </a:lnTo>
                <a:cubicBezTo>
                  <a:pt x="167194" y="85725"/>
                  <a:pt x="171450" y="81469"/>
                  <a:pt x="171450" y="76200"/>
                </a:cubicBezTo>
                <a:cubicBezTo>
                  <a:pt x="171450" y="70931"/>
                  <a:pt x="167194" y="66675"/>
                  <a:pt x="161925" y="66675"/>
                </a:cubicBezTo>
                <a:lnTo>
                  <a:pt x="95250" y="66675"/>
                </a:lnTo>
                <a:lnTo>
                  <a:pt x="95250" y="57150"/>
                </a:lnTo>
                <a:lnTo>
                  <a:pt x="100013" y="57150"/>
                </a:lnTo>
                <a:cubicBezTo>
                  <a:pt x="107900" y="57150"/>
                  <a:pt x="114300" y="50750"/>
                  <a:pt x="114300" y="42863"/>
                </a:cubicBezTo>
                <a:lnTo>
                  <a:pt x="114300" y="23813"/>
                </a:lnTo>
                <a:cubicBezTo>
                  <a:pt x="114300" y="15925"/>
                  <a:pt x="107900" y="9525"/>
                  <a:pt x="100013" y="9525"/>
                </a:cubicBezTo>
                <a:lnTo>
                  <a:pt x="71438" y="9525"/>
                </a:lnTo>
                <a:close/>
                <a:moveTo>
                  <a:pt x="133350" y="111919"/>
                </a:moveTo>
                <a:lnTo>
                  <a:pt x="135731" y="111919"/>
                </a:lnTo>
                <a:lnTo>
                  <a:pt x="135731" y="126206"/>
                </a:lnTo>
                <a:lnTo>
                  <a:pt x="111919" y="126206"/>
                </a:lnTo>
                <a:lnTo>
                  <a:pt x="111919" y="111919"/>
                </a:lnTo>
                <a:lnTo>
                  <a:pt x="133350" y="111919"/>
                </a:lnTo>
                <a:close/>
                <a:moveTo>
                  <a:pt x="57150" y="111919"/>
                </a:moveTo>
                <a:lnTo>
                  <a:pt x="59531" y="111919"/>
                </a:lnTo>
                <a:lnTo>
                  <a:pt x="59531" y="126206"/>
                </a:lnTo>
                <a:lnTo>
                  <a:pt x="35719" y="126206"/>
                </a:lnTo>
                <a:lnTo>
                  <a:pt x="35719" y="111919"/>
                </a:lnTo>
                <a:lnTo>
                  <a:pt x="57150" y="111919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3" name="Text 61"/>
          <p:cNvSpPr/>
          <p:nvPr/>
        </p:nvSpPr>
        <p:spPr>
          <a:xfrm>
            <a:off x="6826250" y="5670552"/>
            <a:ext cx="2552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Connection Pooling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826250" y="5899152"/>
            <a:ext cx="2543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Efficient database connection management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407150" y="620395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66" name="Shape 64"/>
          <p:cNvSpPr/>
          <p:nvPr/>
        </p:nvSpPr>
        <p:spPr>
          <a:xfrm>
            <a:off x="6483350" y="628015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7" name="Text 65"/>
          <p:cNvSpPr/>
          <p:nvPr/>
        </p:nvSpPr>
        <p:spPr>
          <a:xfrm>
            <a:off x="6826250" y="6203952"/>
            <a:ext cx="2466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Transaction Management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826250" y="6432552"/>
            <a:ext cx="2457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integrity with commits and rollbacks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175" y="384175"/>
            <a:ext cx="473075" cy="273050"/>
          </a:xfrm>
          <a:custGeom>
            <a:avLst/>
            <a:gdLst/>
            <a:ahLst/>
            <a:cxnLst/>
            <a:rect l="l" t="t" r="r" b="b"/>
            <a:pathLst>
              <a:path w="473075" h="273050">
                <a:moveTo>
                  <a:pt x="136525" y="0"/>
                </a:moveTo>
                <a:lnTo>
                  <a:pt x="336550" y="0"/>
                </a:lnTo>
                <a:cubicBezTo>
                  <a:pt x="411951" y="0"/>
                  <a:pt x="473075" y="61124"/>
                  <a:pt x="473075" y="136525"/>
                </a:cubicBezTo>
                <a:lnTo>
                  <a:pt x="473075" y="136525"/>
                </a:lnTo>
                <a:cubicBezTo>
                  <a:pt x="473075" y="211926"/>
                  <a:pt x="411951" y="273050"/>
                  <a:pt x="336550" y="273050"/>
                </a:cubicBezTo>
                <a:lnTo>
                  <a:pt x="136525" y="273050"/>
                </a:lnTo>
                <a:cubicBezTo>
                  <a:pt x="61175" y="273050"/>
                  <a:pt x="0" y="211875"/>
                  <a:pt x="0" y="136525"/>
                </a:cubicBezTo>
                <a:lnTo>
                  <a:pt x="0" y="136525"/>
                </a:lnTo>
                <a:cubicBezTo>
                  <a:pt x="0" y="61175"/>
                  <a:pt x="61175" y="0"/>
                  <a:pt x="136525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8467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9750" y="425453"/>
            <a:ext cx="22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D8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774702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Metrics &amp; KPIs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1308102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Performance Measurement Framework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803402"/>
            <a:ext cx="3667125" cy="4676775"/>
          </a:xfrm>
          <a:custGeom>
            <a:avLst/>
            <a:gdLst/>
            <a:ahLst/>
            <a:cxnLst/>
            <a:rect l="l" t="t" r="r" b="b"/>
            <a:pathLst>
              <a:path w="3667125" h="4676775">
                <a:moveTo>
                  <a:pt x="38100" y="0"/>
                </a:moveTo>
                <a:lnTo>
                  <a:pt x="3590922" y="0"/>
                </a:lnTo>
                <a:cubicBezTo>
                  <a:pt x="3632980" y="0"/>
                  <a:pt x="3667125" y="34145"/>
                  <a:pt x="3667125" y="76203"/>
                </a:cubicBezTo>
                <a:lnTo>
                  <a:pt x="3667125" y="4600572"/>
                </a:lnTo>
                <a:cubicBezTo>
                  <a:pt x="3667125" y="4642630"/>
                  <a:pt x="3632980" y="4676775"/>
                  <a:pt x="3590922" y="4676775"/>
                </a:cubicBezTo>
                <a:lnTo>
                  <a:pt x="38100" y="4676775"/>
                </a:lnTo>
                <a:cubicBezTo>
                  <a:pt x="17072" y="4676775"/>
                  <a:pt x="0" y="4659703"/>
                  <a:pt x="0" y="463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803402"/>
            <a:ext cx="38100" cy="4676775"/>
          </a:xfrm>
          <a:custGeom>
            <a:avLst/>
            <a:gdLst/>
            <a:ahLst/>
            <a:cxnLst/>
            <a:rect l="l" t="t" r="r" b="b"/>
            <a:pathLst>
              <a:path w="38100" h="4676775">
                <a:moveTo>
                  <a:pt x="38100" y="0"/>
                </a:moveTo>
                <a:lnTo>
                  <a:pt x="38100" y="0"/>
                </a:lnTo>
                <a:lnTo>
                  <a:pt x="38100" y="4676775"/>
                </a:lnTo>
                <a:lnTo>
                  <a:pt x="38100" y="4676775"/>
                </a:lnTo>
                <a:cubicBezTo>
                  <a:pt x="17072" y="4676775"/>
                  <a:pt x="0" y="4659703"/>
                  <a:pt x="0" y="463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" y="199390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9" name="Shape 7"/>
          <p:cNvSpPr/>
          <p:nvPr/>
        </p:nvSpPr>
        <p:spPr>
          <a:xfrm>
            <a:off x="778669" y="2127252"/>
            <a:ext cx="119063" cy="190500"/>
          </a:xfrm>
          <a:custGeom>
            <a:avLst/>
            <a:gdLst/>
            <a:ahLst/>
            <a:cxnLst/>
            <a:rect l="l" t="t" r="r" b="b"/>
            <a:pathLst>
              <a:path w="119063" h="190500">
                <a:moveTo>
                  <a:pt x="50602" y="8930"/>
                </a:moveTo>
                <a:cubicBezTo>
                  <a:pt x="50602" y="3981"/>
                  <a:pt x="54583" y="0"/>
                  <a:pt x="59531" y="0"/>
                </a:cubicBezTo>
                <a:cubicBezTo>
                  <a:pt x="64480" y="0"/>
                  <a:pt x="68461" y="3981"/>
                  <a:pt x="68461" y="8930"/>
                </a:cubicBezTo>
                <a:lnTo>
                  <a:pt x="68461" y="23812"/>
                </a:lnTo>
                <a:lnTo>
                  <a:pt x="89297" y="23812"/>
                </a:lnTo>
                <a:cubicBezTo>
                  <a:pt x="95883" y="23812"/>
                  <a:pt x="101203" y="29133"/>
                  <a:pt x="101203" y="35719"/>
                </a:cubicBezTo>
                <a:cubicBezTo>
                  <a:pt x="101203" y="42304"/>
                  <a:pt x="95883" y="47625"/>
                  <a:pt x="89297" y="47625"/>
                </a:cubicBezTo>
                <a:lnTo>
                  <a:pt x="46546" y="47625"/>
                </a:lnTo>
                <a:cubicBezTo>
                  <a:pt x="37281" y="47625"/>
                  <a:pt x="29766" y="55141"/>
                  <a:pt x="29766" y="64405"/>
                </a:cubicBezTo>
                <a:cubicBezTo>
                  <a:pt x="29766" y="72777"/>
                  <a:pt x="35905" y="79846"/>
                  <a:pt x="44165" y="81037"/>
                </a:cubicBezTo>
                <a:lnTo>
                  <a:pt x="78246" y="85911"/>
                </a:lnTo>
                <a:cubicBezTo>
                  <a:pt x="98264" y="88776"/>
                  <a:pt x="113109" y="105891"/>
                  <a:pt x="113109" y="126095"/>
                </a:cubicBezTo>
                <a:cubicBezTo>
                  <a:pt x="113109" y="148530"/>
                  <a:pt x="94915" y="166688"/>
                  <a:pt x="72517" y="166688"/>
                </a:cubicBezTo>
                <a:lnTo>
                  <a:pt x="68461" y="166688"/>
                </a:lnTo>
                <a:lnTo>
                  <a:pt x="68461" y="181570"/>
                </a:lnTo>
                <a:cubicBezTo>
                  <a:pt x="68461" y="186519"/>
                  <a:pt x="64480" y="190500"/>
                  <a:pt x="59531" y="190500"/>
                </a:cubicBezTo>
                <a:cubicBezTo>
                  <a:pt x="54583" y="190500"/>
                  <a:pt x="50602" y="186519"/>
                  <a:pt x="50602" y="181570"/>
                </a:cubicBezTo>
                <a:lnTo>
                  <a:pt x="50602" y="166688"/>
                </a:lnTo>
                <a:lnTo>
                  <a:pt x="23812" y="166688"/>
                </a:lnTo>
                <a:cubicBezTo>
                  <a:pt x="17227" y="166688"/>
                  <a:pt x="11906" y="161367"/>
                  <a:pt x="11906" y="154781"/>
                </a:cubicBezTo>
                <a:cubicBezTo>
                  <a:pt x="11906" y="148196"/>
                  <a:pt x="17227" y="142875"/>
                  <a:pt x="23812" y="142875"/>
                </a:cubicBezTo>
                <a:lnTo>
                  <a:pt x="72517" y="142875"/>
                </a:lnTo>
                <a:cubicBezTo>
                  <a:pt x="81781" y="142875"/>
                  <a:pt x="89297" y="135359"/>
                  <a:pt x="89297" y="126095"/>
                </a:cubicBezTo>
                <a:cubicBezTo>
                  <a:pt x="89297" y="117723"/>
                  <a:pt x="83158" y="110654"/>
                  <a:pt x="74898" y="109463"/>
                </a:cubicBezTo>
                <a:lnTo>
                  <a:pt x="40816" y="104589"/>
                </a:lnTo>
                <a:cubicBezTo>
                  <a:pt x="20799" y="101761"/>
                  <a:pt x="5953" y="84609"/>
                  <a:pt x="5953" y="64405"/>
                </a:cubicBezTo>
                <a:cubicBezTo>
                  <a:pt x="5953" y="42007"/>
                  <a:pt x="24147" y="23812"/>
                  <a:pt x="46546" y="23812"/>
                </a:cubicBezTo>
                <a:lnTo>
                  <a:pt x="50602" y="23812"/>
                </a:lnTo>
                <a:lnTo>
                  <a:pt x="50602" y="8930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0" name="Text 8"/>
          <p:cNvSpPr/>
          <p:nvPr/>
        </p:nvSpPr>
        <p:spPr>
          <a:xfrm>
            <a:off x="1181100" y="2089152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Metrics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" y="2645769"/>
            <a:ext cx="3267075" cy="1066800"/>
          </a:xfrm>
          <a:custGeom>
            <a:avLst/>
            <a:gdLst/>
            <a:ahLst/>
            <a:cxnLst/>
            <a:rect l="l" t="t" r="r" b="b"/>
            <a:pathLst>
              <a:path w="3267075" h="1066800">
                <a:moveTo>
                  <a:pt x="76202" y="0"/>
                </a:moveTo>
                <a:lnTo>
                  <a:pt x="3190873" y="0"/>
                </a:lnTo>
                <a:cubicBezTo>
                  <a:pt x="3232958" y="0"/>
                  <a:pt x="3267075" y="34117"/>
                  <a:pt x="3267075" y="76202"/>
                </a:cubicBezTo>
                <a:lnTo>
                  <a:pt x="3267075" y="990598"/>
                </a:lnTo>
                <a:cubicBezTo>
                  <a:pt x="3267075" y="1032683"/>
                  <a:pt x="3232958" y="1066800"/>
                  <a:pt x="3190873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2798169"/>
            <a:ext cx="74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Loss Ratio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59175" y="283626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57150" y="38100"/>
                </a:moveTo>
                <a:cubicBezTo>
                  <a:pt x="57150" y="22329"/>
                  <a:pt x="44346" y="9525"/>
                  <a:pt x="28575" y="9525"/>
                </a:cubicBezTo>
                <a:cubicBezTo>
                  <a:pt x="12804" y="9525"/>
                  <a:pt x="0" y="22329"/>
                  <a:pt x="0" y="38100"/>
                </a:cubicBezTo>
                <a:cubicBezTo>
                  <a:pt x="0" y="53871"/>
                  <a:pt x="12804" y="66675"/>
                  <a:pt x="28575" y="66675"/>
                </a:cubicBezTo>
                <a:cubicBezTo>
                  <a:pt x="44346" y="66675"/>
                  <a:pt x="57150" y="53871"/>
                  <a:pt x="57150" y="38100"/>
                </a:cubicBezTo>
                <a:close/>
                <a:moveTo>
                  <a:pt x="133350" y="114300"/>
                </a:moveTo>
                <a:cubicBezTo>
                  <a:pt x="133350" y="98529"/>
                  <a:pt x="120546" y="85725"/>
                  <a:pt x="104775" y="85725"/>
                </a:cubicBezTo>
                <a:cubicBezTo>
                  <a:pt x="89004" y="85725"/>
                  <a:pt x="76200" y="98529"/>
                  <a:pt x="76200" y="114300"/>
                </a:cubicBezTo>
                <a:cubicBezTo>
                  <a:pt x="76200" y="130071"/>
                  <a:pt x="89004" y="142875"/>
                  <a:pt x="104775" y="142875"/>
                </a:cubicBezTo>
                <a:cubicBezTo>
                  <a:pt x="120546" y="142875"/>
                  <a:pt x="133350" y="130071"/>
                  <a:pt x="133350" y="114300"/>
                </a:cubicBezTo>
                <a:close/>
                <a:moveTo>
                  <a:pt x="130552" y="25777"/>
                </a:moveTo>
                <a:cubicBezTo>
                  <a:pt x="134273" y="22056"/>
                  <a:pt x="134273" y="16014"/>
                  <a:pt x="130552" y="12293"/>
                </a:cubicBezTo>
                <a:cubicBezTo>
                  <a:pt x="126831" y="8573"/>
                  <a:pt x="120789" y="8573"/>
                  <a:pt x="117068" y="12293"/>
                </a:cubicBezTo>
                <a:lnTo>
                  <a:pt x="2768" y="126593"/>
                </a:lnTo>
                <a:cubicBezTo>
                  <a:pt x="-952" y="130314"/>
                  <a:pt x="-952" y="136356"/>
                  <a:pt x="2768" y="140077"/>
                </a:cubicBezTo>
                <a:cubicBezTo>
                  <a:pt x="6489" y="143798"/>
                  <a:pt x="12531" y="143798"/>
                  <a:pt x="16252" y="140077"/>
                </a:cubicBezTo>
                <a:lnTo>
                  <a:pt x="130552" y="25777"/>
                </a:ln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3102969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(Claim Amount / Premium) × 100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3369669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Purpose:</a:t>
            </a:r>
            <a:r>
              <a:rPr lang="en-US" sz="105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Profitability indicator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600" y="3911501"/>
            <a:ext cx="3267075" cy="1066800"/>
          </a:xfrm>
          <a:custGeom>
            <a:avLst/>
            <a:gdLst/>
            <a:ahLst/>
            <a:cxnLst/>
            <a:rect l="l" t="t" r="r" b="b"/>
            <a:pathLst>
              <a:path w="3267075" h="1066800">
                <a:moveTo>
                  <a:pt x="76202" y="0"/>
                </a:moveTo>
                <a:lnTo>
                  <a:pt x="3190873" y="0"/>
                </a:lnTo>
                <a:cubicBezTo>
                  <a:pt x="3232958" y="0"/>
                  <a:pt x="3267075" y="34117"/>
                  <a:pt x="3267075" y="76202"/>
                </a:cubicBezTo>
                <a:lnTo>
                  <a:pt x="3267075" y="990598"/>
                </a:lnTo>
                <a:cubicBezTo>
                  <a:pt x="3267075" y="1032683"/>
                  <a:pt x="3232958" y="1066800"/>
                  <a:pt x="3190873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4063901"/>
            <a:ext cx="1076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Claim Cost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568700" y="4102001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9050" y="0"/>
                </a:moveTo>
                <a:cubicBezTo>
                  <a:pt x="8543" y="0"/>
                  <a:pt x="0" y="8543"/>
                  <a:pt x="0" y="19050"/>
                </a:cubicBezTo>
                <a:lnTo>
                  <a:pt x="0" y="133350"/>
                </a:lnTo>
                <a:cubicBezTo>
                  <a:pt x="0" y="143857"/>
                  <a:pt x="8543" y="152400"/>
                  <a:pt x="19050" y="152400"/>
                </a:cubicBezTo>
                <a:lnTo>
                  <a:pt x="95250" y="152400"/>
                </a:lnTo>
                <a:cubicBezTo>
                  <a:pt x="105757" y="152400"/>
                  <a:pt x="114300" y="143857"/>
                  <a:pt x="114300" y="133350"/>
                </a:cubicBezTo>
                <a:lnTo>
                  <a:pt x="114300" y="19050"/>
                </a:lnTo>
                <a:cubicBezTo>
                  <a:pt x="114300" y="8543"/>
                  <a:pt x="105757" y="0"/>
                  <a:pt x="95250" y="0"/>
                </a:cubicBezTo>
                <a:lnTo>
                  <a:pt x="19050" y="0"/>
                </a:lnTo>
                <a:close/>
                <a:moveTo>
                  <a:pt x="28575" y="19050"/>
                </a:moveTo>
                <a:lnTo>
                  <a:pt x="85725" y="19050"/>
                </a:lnTo>
                <a:cubicBezTo>
                  <a:pt x="90994" y="19050"/>
                  <a:pt x="95250" y="23306"/>
                  <a:pt x="95250" y="28575"/>
                </a:cubicBezTo>
                <a:lnTo>
                  <a:pt x="95250" y="38100"/>
                </a:lnTo>
                <a:cubicBezTo>
                  <a:pt x="95250" y="43369"/>
                  <a:pt x="90994" y="47625"/>
                  <a:pt x="85725" y="47625"/>
                </a:cubicBezTo>
                <a:lnTo>
                  <a:pt x="28575" y="47625"/>
                </a:lnTo>
                <a:cubicBezTo>
                  <a:pt x="23306" y="47625"/>
                  <a:pt x="19050" y="43369"/>
                  <a:pt x="19050" y="38100"/>
                </a:cubicBezTo>
                <a:lnTo>
                  <a:pt x="19050" y="28575"/>
                </a:lnTo>
                <a:cubicBezTo>
                  <a:pt x="19050" y="23306"/>
                  <a:pt x="23306" y="19050"/>
                  <a:pt x="28575" y="19050"/>
                </a:cubicBezTo>
                <a:close/>
                <a:moveTo>
                  <a:pt x="33338" y="69056"/>
                </a:moveTo>
                <a:cubicBezTo>
                  <a:pt x="33338" y="72999"/>
                  <a:pt x="30136" y="76200"/>
                  <a:pt x="26194" y="76200"/>
                </a:cubicBezTo>
                <a:cubicBezTo>
                  <a:pt x="22251" y="76200"/>
                  <a:pt x="19050" y="72999"/>
                  <a:pt x="19050" y="69056"/>
                </a:cubicBezTo>
                <a:cubicBezTo>
                  <a:pt x="19050" y="65114"/>
                  <a:pt x="22251" y="61912"/>
                  <a:pt x="26194" y="61912"/>
                </a:cubicBezTo>
                <a:cubicBezTo>
                  <a:pt x="30136" y="61912"/>
                  <a:pt x="33338" y="65114"/>
                  <a:pt x="33338" y="69056"/>
                </a:cubicBezTo>
                <a:close/>
                <a:moveTo>
                  <a:pt x="57150" y="76200"/>
                </a:moveTo>
                <a:cubicBezTo>
                  <a:pt x="53207" y="76200"/>
                  <a:pt x="50006" y="72999"/>
                  <a:pt x="50006" y="69056"/>
                </a:cubicBezTo>
                <a:cubicBezTo>
                  <a:pt x="50006" y="65114"/>
                  <a:pt x="53207" y="61912"/>
                  <a:pt x="57150" y="61912"/>
                </a:cubicBezTo>
                <a:cubicBezTo>
                  <a:pt x="61093" y="61912"/>
                  <a:pt x="64294" y="65114"/>
                  <a:pt x="64294" y="69056"/>
                </a:cubicBezTo>
                <a:cubicBezTo>
                  <a:pt x="64294" y="72999"/>
                  <a:pt x="61093" y="76200"/>
                  <a:pt x="57150" y="76200"/>
                </a:cubicBezTo>
                <a:close/>
                <a:moveTo>
                  <a:pt x="95250" y="69056"/>
                </a:moveTo>
                <a:cubicBezTo>
                  <a:pt x="95250" y="72999"/>
                  <a:pt x="92049" y="76200"/>
                  <a:pt x="88106" y="76200"/>
                </a:cubicBezTo>
                <a:cubicBezTo>
                  <a:pt x="84164" y="76200"/>
                  <a:pt x="80962" y="72999"/>
                  <a:pt x="80962" y="69056"/>
                </a:cubicBezTo>
                <a:cubicBezTo>
                  <a:pt x="80962" y="65114"/>
                  <a:pt x="84164" y="61912"/>
                  <a:pt x="88106" y="61912"/>
                </a:cubicBezTo>
                <a:cubicBezTo>
                  <a:pt x="92049" y="61912"/>
                  <a:pt x="95250" y="65114"/>
                  <a:pt x="95250" y="69056"/>
                </a:cubicBezTo>
                <a:close/>
                <a:moveTo>
                  <a:pt x="26194" y="104775"/>
                </a:moveTo>
                <a:cubicBezTo>
                  <a:pt x="22251" y="104775"/>
                  <a:pt x="19050" y="101574"/>
                  <a:pt x="19050" y="97631"/>
                </a:cubicBezTo>
                <a:cubicBezTo>
                  <a:pt x="19050" y="93689"/>
                  <a:pt x="22251" y="90488"/>
                  <a:pt x="26194" y="90488"/>
                </a:cubicBezTo>
                <a:cubicBezTo>
                  <a:pt x="30136" y="90488"/>
                  <a:pt x="33338" y="93689"/>
                  <a:pt x="33338" y="97631"/>
                </a:cubicBezTo>
                <a:cubicBezTo>
                  <a:pt x="33338" y="101574"/>
                  <a:pt x="30136" y="104775"/>
                  <a:pt x="26194" y="104775"/>
                </a:cubicBezTo>
                <a:close/>
                <a:moveTo>
                  <a:pt x="64294" y="97631"/>
                </a:moveTo>
                <a:cubicBezTo>
                  <a:pt x="64294" y="101574"/>
                  <a:pt x="61093" y="104775"/>
                  <a:pt x="57150" y="104775"/>
                </a:cubicBezTo>
                <a:cubicBezTo>
                  <a:pt x="53207" y="104775"/>
                  <a:pt x="50006" y="101574"/>
                  <a:pt x="50006" y="97631"/>
                </a:cubicBezTo>
                <a:cubicBezTo>
                  <a:pt x="50006" y="93689"/>
                  <a:pt x="53207" y="90488"/>
                  <a:pt x="57150" y="90488"/>
                </a:cubicBezTo>
                <a:cubicBezTo>
                  <a:pt x="61093" y="90488"/>
                  <a:pt x="64294" y="93689"/>
                  <a:pt x="64294" y="97631"/>
                </a:cubicBezTo>
                <a:close/>
                <a:moveTo>
                  <a:pt x="88106" y="104775"/>
                </a:moveTo>
                <a:cubicBezTo>
                  <a:pt x="84164" y="104775"/>
                  <a:pt x="80962" y="101574"/>
                  <a:pt x="80962" y="97631"/>
                </a:cubicBezTo>
                <a:cubicBezTo>
                  <a:pt x="80962" y="93689"/>
                  <a:pt x="84164" y="90488"/>
                  <a:pt x="88106" y="90488"/>
                </a:cubicBezTo>
                <a:cubicBezTo>
                  <a:pt x="92049" y="90488"/>
                  <a:pt x="95250" y="93689"/>
                  <a:pt x="95250" y="97631"/>
                </a:cubicBezTo>
                <a:cubicBezTo>
                  <a:pt x="95250" y="101574"/>
                  <a:pt x="92049" y="104775"/>
                  <a:pt x="88106" y="104775"/>
                </a:cubicBezTo>
                <a:close/>
                <a:moveTo>
                  <a:pt x="19050" y="126206"/>
                </a:moveTo>
                <a:cubicBezTo>
                  <a:pt x="19050" y="122247"/>
                  <a:pt x="22235" y="119062"/>
                  <a:pt x="26194" y="119062"/>
                </a:cubicBezTo>
                <a:lnTo>
                  <a:pt x="59531" y="119062"/>
                </a:lnTo>
                <a:cubicBezTo>
                  <a:pt x="63490" y="119062"/>
                  <a:pt x="66675" y="122247"/>
                  <a:pt x="66675" y="126206"/>
                </a:cubicBezTo>
                <a:cubicBezTo>
                  <a:pt x="66675" y="130165"/>
                  <a:pt x="63490" y="133350"/>
                  <a:pt x="59531" y="133350"/>
                </a:cubicBezTo>
                <a:lnTo>
                  <a:pt x="26194" y="133350"/>
                </a:lnTo>
                <a:cubicBezTo>
                  <a:pt x="22235" y="133350"/>
                  <a:pt x="19050" y="130165"/>
                  <a:pt x="19050" y="126206"/>
                </a:cubicBezTo>
                <a:close/>
                <a:moveTo>
                  <a:pt x="88106" y="119062"/>
                </a:moveTo>
                <a:cubicBezTo>
                  <a:pt x="92065" y="119062"/>
                  <a:pt x="95250" y="122247"/>
                  <a:pt x="95250" y="126206"/>
                </a:cubicBezTo>
                <a:cubicBezTo>
                  <a:pt x="95250" y="130165"/>
                  <a:pt x="92065" y="133350"/>
                  <a:pt x="88106" y="133350"/>
                </a:cubicBezTo>
                <a:cubicBezTo>
                  <a:pt x="84147" y="133350"/>
                  <a:pt x="80962" y="130165"/>
                  <a:pt x="80962" y="126206"/>
                </a:cubicBezTo>
                <a:cubicBezTo>
                  <a:pt x="80962" y="122247"/>
                  <a:pt x="84147" y="119062"/>
                  <a:pt x="88106" y="119062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4368701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 Claims / Number of Claims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4635401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Purpose:</a:t>
            </a:r>
            <a:r>
              <a:rPr lang="en-US" sz="105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Risk assessment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9600" y="5177335"/>
            <a:ext cx="3267075" cy="1066800"/>
          </a:xfrm>
          <a:custGeom>
            <a:avLst/>
            <a:gdLst/>
            <a:ahLst/>
            <a:cxnLst/>
            <a:rect l="l" t="t" r="r" b="b"/>
            <a:pathLst>
              <a:path w="3267075" h="1066800">
                <a:moveTo>
                  <a:pt x="76202" y="0"/>
                </a:moveTo>
                <a:lnTo>
                  <a:pt x="3190873" y="0"/>
                </a:lnTo>
                <a:cubicBezTo>
                  <a:pt x="3232958" y="0"/>
                  <a:pt x="3267075" y="34117"/>
                  <a:pt x="3267075" y="76202"/>
                </a:cubicBezTo>
                <a:lnTo>
                  <a:pt x="3267075" y="990598"/>
                </a:lnTo>
                <a:cubicBezTo>
                  <a:pt x="3267075" y="1032683"/>
                  <a:pt x="3232958" y="1066800"/>
                  <a:pt x="3190873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5329740"/>
            <a:ext cx="1162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Premium Earned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549650" y="536784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28575"/>
                </a:moveTo>
                <a:lnTo>
                  <a:pt x="38100" y="23813"/>
                </a:lnTo>
                <a:cubicBezTo>
                  <a:pt x="38100" y="10656"/>
                  <a:pt x="63698" y="0"/>
                  <a:pt x="95250" y="0"/>
                </a:cubicBezTo>
                <a:cubicBezTo>
                  <a:pt x="126802" y="0"/>
                  <a:pt x="152400" y="10656"/>
                  <a:pt x="152400" y="23813"/>
                </a:cubicBezTo>
                <a:lnTo>
                  <a:pt x="152400" y="28575"/>
                </a:lnTo>
                <a:cubicBezTo>
                  <a:pt x="152400" y="37683"/>
                  <a:pt x="140107" y="45601"/>
                  <a:pt x="122039" y="49619"/>
                </a:cubicBezTo>
                <a:cubicBezTo>
                  <a:pt x="121325" y="48786"/>
                  <a:pt x="120581" y="47982"/>
                  <a:pt x="119836" y="47238"/>
                </a:cubicBezTo>
                <a:cubicBezTo>
                  <a:pt x="115223" y="42684"/>
                  <a:pt x="109270" y="39231"/>
                  <a:pt x="103049" y="36671"/>
                </a:cubicBezTo>
                <a:cubicBezTo>
                  <a:pt x="90577" y="31462"/>
                  <a:pt x="74325" y="28605"/>
                  <a:pt x="57150" y="28605"/>
                </a:cubicBezTo>
                <a:cubicBezTo>
                  <a:pt x="50631" y="28605"/>
                  <a:pt x="44261" y="29021"/>
                  <a:pt x="38160" y="29825"/>
                </a:cubicBezTo>
                <a:cubicBezTo>
                  <a:pt x="38100" y="29438"/>
                  <a:pt x="38100" y="29021"/>
                  <a:pt x="38100" y="28605"/>
                </a:cubicBezTo>
                <a:close/>
                <a:moveTo>
                  <a:pt x="128588" y="105073"/>
                </a:moveTo>
                <a:lnTo>
                  <a:pt x="128588" y="91321"/>
                </a:lnTo>
                <a:cubicBezTo>
                  <a:pt x="133082" y="90160"/>
                  <a:pt x="137309" y="88791"/>
                  <a:pt x="141149" y="87184"/>
                </a:cubicBezTo>
                <a:cubicBezTo>
                  <a:pt x="145078" y="85546"/>
                  <a:pt x="148917" y="83552"/>
                  <a:pt x="152400" y="81141"/>
                </a:cubicBezTo>
                <a:lnTo>
                  <a:pt x="152400" y="85725"/>
                </a:lnTo>
                <a:cubicBezTo>
                  <a:pt x="152400" y="93702"/>
                  <a:pt x="143024" y="100757"/>
                  <a:pt x="128588" y="105073"/>
                </a:cubicBezTo>
                <a:close/>
                <a:moveTo>
                  <a:pt x="128588" y="76498"/>
                </a:moveTo>
                <a:lnTo>
                  <a:pt x="128588" y="66675"/>
                </a:lnTo>
                <a:cubicBezTo>
                  <a:pt x="128588" y="65336"/>
                  <a:pt x="128468" y="64056"/>
                  <a:pt x="128290" y="62805"/>
                </a:cubicBezTo>
                <a:cubicBezTo>
                  <a:pt x="132904" y="61645"/>
                  <a:pt x="137220" y="60246"/>
                  <a:pt x="141149" y="58579"/>
                </a:cubicBezTo>
                <a:cubicBezTo>
                  <a:pt x="145078" y="56912"/>
                  <a:pt x="148917" y="54947"/>
                  <a:pt x="152400" y="52536"/>
                </a:cubicBezTo>
                <a:lnTo>
                  <a:pt x="152400" y="57120"/>
                </a:lnTo>
                <a:cubicBezTo>
                  <a:pt x="152400" y="65097"/>
                  <a:pt x="143024" y="72152"/>
                  <a:pt x="128588" y="76468"/>
                </a:cubicBezTo>
                <a:close/>
                <a:moveTo>
                  <a:pt x="0" y="71438"/>
                </a:moveTo>
                <a:lnTo>
                  <a:pt x="0" y="66675"/>
                </a:lnTo>
                <a:cubicBezTo>
                  <a:pt x="0" y="53519"/>
                  <a:pt x="25598" y="42863"/>
                  <a:pt x="57150" y="42863"/>
                </a:cubicBezTo>
                <a:cubicBezTo>
                  <a:pt x="88702" y="42863"/>
                  <a:pt x="114300" y="53519"/>
                  <a:pt x="114300" y="66675"/>
                </a:cubicBezTo>
                <a:lnTo>
                  <a:pt x="114300" y="71438"/>
                </a:lnTo>
                <a:cubicBezTo>
                  <a:pt x="114300" y="84594"/>
                  <a:pt x="88702" y="95250"/>
                  <a:pt x="57150" y="95250"/>
                </a:cubicBezTo>
                <a:cubicBezTo>
                  <a:pt x="25598" y="95250"/>
                  <a:pt x="0" y="84594"/>
                  <a:pt x="0" y="71438"/>
                </a:cubicBezTo>
                <a:close/>
                <a:moveTo>
                  <a:pt x="114300" y="100013"/>
                </a:moveTo>
                <a:cubicBezTo>
                  <a:pt x="114300" y="113169"/>
                  <a:pt x="88702" y="123825"/>
                  <a:pt x="57150" y="123825"/>
                </a:cubicBezTo>
                <a:cubicBezTo>
                  <a:pt x="25598" y="123825"/>
                  <a:pt x="0" y="113169"/>
                  <a:pt x="0" y="100013"/>
                </a:cubicBezTo>
                <a:lnTo>
                  <a:pt x="0" y="95429"/>
                </a:lnTo>
                <a:cubicBezTo>
                  <a:pt x="3453" y="97840"/>
                  <a:pt x="7293" y="99804"/>
                  <a:pt x="11251" y="101471"/>
                </a:cubicBezTo>
                <a:cubicBezTo>
                  <a:pt x="23723" y="106680"/>
                  <a:pt x="39975" y="109538"/>
                  <a:pt x="57150" y="109538"/>
                </a:cubicBezTo>
                <a:cubicBezTo>
                  <a:pt x="74325" y="109538"/>
                  <a:pt x="90577" y="106650"/>
                  <a:pt x="103049" y="101471"/>
                </a:cubicBezTo>
                <a:cubicBezTo>
                  <a:pt x="106978" y="99834"/>
                  <a:pt x="110817" y="97840"/>
                  <a:pt x="114300" y="95429"/>
                </a:cubicBezTo>
                <a:lnTo>
                  <a:pt x="114300" y="100013"/>
                </a:lnTo>
                <a:close/>
                <a:moveTo>
                  <a:pt x="114300" y="124004"/>
                </a:moveTo>
                <a:lnTo>
                  <a:pt x="114300" y="128588"/>
                </a:lnTo>
                <a:cubicBezTo>
                  <a:pt x="114300" y="141744"/>
                  <a:pt x="88702" y="152400"/>
                  <a:pt x="57150" y="152400"/>
                </a:cubicBezTo>
                <a:cubicBezTo>
                  <a:pt x="25598" y="152400"/>
                  <a:pt x="0" y="141744"/>
                  <a:pt x="0" y="128588"/>
                </a:cubicBezTo>
                <a:lnTo>
                  <a:pt x="0" y="124004"/>
                </a:lnTo>
                <a:cubicBezTo>
                  <a:pt x="3453" y="126415"/>
                  <a:pt x="7293" y="128379"/>
                  <a:pt x="11251" y="130046"/>
                </a:cubicBezTo>
                <a:cubicBezTo>
                  <a:pt x="23723" y="135255"/>
                  <a:pt x="39975" y="138113"/>
                  <a:pt x="57150" y="138113"/>
                </a:cubicBezTo>
                <a:cubicBezTo>
                  <a:pt x="74325" y="138113"/>
                  <a:pt x="90577" y="135225"/>
                  <a:pt x="103049" y="130046"/>
                </a:cubicBezTo>
                <a:cubicBezTo>
                  <a:pt x="106978" y="128409"/>
                  <a:pt x="110817" y="126415"/>
                  <a:pt x="114300" y="124004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24" name="Text 22"/>
          <p:cNvSpPr/>
          <p:nvPr/>
        </p:nvSpPr>
        <p:spPr>
          <a:xfrm>
            <a:off x="762000" y="5634540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 of all premiums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5901240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Purpose:</a:t>
            </a:r>
            <a:r>
              <a:rPr lang="en-US" sz="105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Revenue tracking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73550" y="1803402"/>
            <a:ext cx="3667125" cy="4676775"/>
          </a:xfrm>
          <a:custGeom>
            <a:avLst/>
            <a:gdLst/>
            <a:ahLst/>
            <a:cxnLst/>
            <a:rect l="l" t="t" r="r" b="b"/>
            <a:pathLst>
              <a:path w="3667125" h="4676775">
                <a:moveTo>
                  <a:pt x="38100" y="0"/>
                </a:moveTo>
                <a:lnTo>
                  <a:pt x="3590922" y="0"/>
                </a:lnTo>
                <a:cubicBezTo>
                  <a:pt x="3632980" y="0"/>
                  <a:pt x="3667125" y="34145"/>
                  <a:pt x="3667125" y="76203"/>
                </a:cubicBezTo>
                <a:lnTo>
                  <a:pt x="3667125" y="4600572"/>
                </a:lnTo>
                <a:cubicBezTo>
                  <a:pt x="3667125" y="4642630"/>
                  <a:pt x="3632980" y="4676775"/>
                  <a:pt x="3590922" y="4676775"/>
                </a:cubicBezTo>
                <a:lnTo>
                  <a:pt x="38100" y="4676775"/>
                </a:lnTo>
                <a:cubicBezTo>
                  <a:pt x="17072" y="4676775"/>
                  <a:pt x="0" y="4659703"/>
                  <a:pt x="0" y="463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273550" y="1803402"/>
            <a:ext cx="38100" cy="4676775"/>
          </a:xfrm>
          <a:custGeom>
            <a:avLst/>
            <a:gdLst/>
            <a:ahLst/>
            <a:cxnLst/>
            <a:rect l="l" t="t" r="r" b="b"/>
            <a:pathLst>
              <a:path w="38100" h="4676775">
                <a:moveTo>
                  <a:pt x="38100" y="0"/>
                </a:moveTo>
                <a:lnTo>
                  <a:pt x="38100" y="0"/>
                </a:lnTo>
                <a:lnTo>
                  <a:pt x="38100" y="4676775"/>
                </a:lnTo>
                <a:lnTo>
                  <a:pt x="38100" y="4676775"/>
                </a:lnTo>
                <a:cubicBezTo>
                  <a:pt x="17072" y="4676775"/>
                  <a:pt x="0" y="4659703"/>
                  <a:pt x="0" y="463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28" name="Shape 26"/>
          <p:cNvSpPr/>
          <p:nvPr/>
        </p:nvSpPr>
        <p:spPr>
          <a:xfrm>
            <a:off x="4483100" y="199390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29" name="Shape 27"/>
          <p:cNvSpPr/>
          <p:nvPr/>
        </p:nvSpPr>
        <p:spPr>
          <a:xfrm>
            <a:off x="4592638" y="2127252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0" name="Text 28"/>
          <p:cNvSpPr/>
          <p:nvPr/>
        </p:nvSpPr>
        <p:spPr>
          <a:xfrm>
            <a:off x="5054600" y="2089152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 Metrics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83100" y="2645769"/>
            <a:ext cx="3267075" cy="1066800"/>
          </a:xfrm>
          <a:custGeom>
            <a:avLst/>
            <a:gdLst/>
            <a:ahLst/>
            <a:cxnLst/>
            <a:rect l="l" t="t" r="r" b="b"/>
            <a:pathLst>
              <a:path w="3267075" h="1066800">
                <a:moveTo>
                  <a:pt x="76202" y="0"/>
                </a:moveTo>
                <a:lnTo>
                  <a:pt x="3190873" y="0"/>
                </a:lnTo>
                <a:cubicBezTo>
                  <a:pt x="3232958" y="0"/>
                  <a:pt x="3267075" y="34117"/>
                  <a:pt x="3267075" y="76202"/>
                </a:cubicBezTo>
                <a:lnTo>
                  <a:pt x="3267075" y="990598"/>
                </a:lnTo>
                <a:cubicBezTo>
                  <a:pt x="3267075" y="1032683"/>
                  <a:pt x="3232958" y="1066800"/>
                  <a:pt x="3190873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635500" y="2798169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 Settlement Days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423150" y="283626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34" name="Text 32"/>
          <p:cNvSpPr/>
          <p:nvPr/>
        </p:nvSpPr>
        <p:spPr>
          <a:xfrm>
            <a:off x="4635500" y="3102969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AVG(Report Date - Loss Date)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635500" y="3369669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Purpose:</a:t>
            </a:r>
            <a:r>
              <a:rPr lang="en-US" sz="105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Process efficiency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483100" y="3911501"/>
            <a:ext cx="3267075" cy="1066800"/>
          </a:xfrm>
          <a:custGeom>
            <a:avLst/>
            <a:gdLst/>
            <a:ahLst/>
            <a:cxnLst/>
            <a:rect l="l" t="t" r="r" b="b"/>
            <a:pathLst>
              <a:path w="3267075" h="1066800">
                <a:moveTo>
                  <a:pt x="76202" y="0"/>
                </a:moveTo>
                <a:lnTo>
                  <a:pt x="3190873" y="0"/>
                </a:lnTo>
                <a:cubicBezTo>
                  <a:pt x="3232958" y="0"/>
                  <a:pt x="3267075" y="34117"/>
                  <a:pt x="3267075" y="76202"/>
                </a:cubicBezTo>
                <a:lnTo>
                  <a:pt x="3267075" y="990598"/>
                </a:lnTo>
                <a:cubicBezTo>
                  <a:pt x="3267075" y="1032683"/>
                  <a:pt x="3232958" y="1066800"/>
                  <a:pt x="3190873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635500" y="4063901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Claims Volume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423150" y="410200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9525"/>
                </a:moveTo>
                <a:cubicBezTo>
                  <a:pt x="14794" y="9525"/>
                  <a:pt x="19050" y="13781"/>
                  <a:pt x="19050" y="19050"/>
                </a:cubicBez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142875" y="123825"/>
                </a:lnTo>
                <a:cubicBezTo>
                  <a:pt x="148144" y="123825"/>
                  <a:pt x="152400" y="128081"/>
                  <a:pt x="152400" y="133350"/>
                </a:cubicBezTo>
                <a:cubicBezTo>
                  <a:pt x="152400" y="138619"/>
                  <a:pt x="148144" y="142875"/>
                  <a:pt x="142875" y="142875"/>
                </a:cubicBezTo>
                <a:lnTo>
                  <a:pt x="23813" y="142875"/>
                </a:lnTo>
                <a:cubicBezTo>
                  <a:pt x="10656" y="142875"/>
                  <a:pt x="0" y="132219"/>
                  <a:pt x="0" y="119062"/>
                </a:cubicBezTo>
                <a:lnTo>
                  <a:pt x="0" y="19050"/>
                </a:lnTo>
                <a:cubicBezTo>
                  <a:pt x="0" y="13781"/>
                  <a:pt x="4256" y="9525"/>
                  <a:pt x="9525" y="9525"/>
                </a:cubicBezTo>
                <a:close/>
                <a:moveTo>
                  <a:pt x="38100" y="28575"/>
                </a:moveTo>
                <a:cubicBezTo>
                  <a:pt x="38100" y="23306"/>
                  <a:pt x="42356" y="19050"/>
                  <a:pt x="47625" y="19050"/>
                </a:cubicBezTo>
                <a:lnTo>
                  <a:pt x="104775" y="19050"/>
                </a:lnTo>
                <a:cubicBezTo>
                  <a:pt x="110044" y="19050"/>
                  <a:pt x="114300" y="23306"/>
                  <a:pt x="114300" y="28575"/>
                </a:cubicBezTo>
                <a:cubicBezTo>
                  <a:pt x="114300" y="33844"/>
                  <a:pt x="110044" y="38100"/>
                  <a:pt x="104775" y="38100"/>
                </a:cubicBezTo>
                <a:lnTo>
                  <a:pt x="47625" y="38100"/>
                </a:lnTo>
                <a:cubicBezTo>
                  <a:pt x="42356" y="38100"/>
                  <a:pt x="38100" y="33844"/>
                  <a:pt x="38100" y="28575"/>
                </a:cubicBezTo>
                <a:close/>
                <a:moveTo>
                  <a:pt x="47625" y="52388"/>
                </a:moveTo>
                <a:lnTo>
                  <a:pt x="85725" y="52388"/>
                </a:lnTo>
                <a:cubicBezTo>
                  <a:pt x="90994" y="52388"/>
                  <a:pt x="95250" y="56644"/>
                  <a:pt x="95250" y="61912"/>
                </a:cubicBezTo>
                <a:cubicBezTo>
                  <a:pt x="95250" y="67181"/>
                  <a:pt x="90994" y="71438"/>
                  <a:pt x="85725" y="71438"/>
                </a:cubicBezTo>
                <a:lnTo>
                  <a:pt x="47625" y="71438"/>
                </a:lnTo>
                <a:cubicBezTo>
                  <a:pt x="42356" y="71438"/>
                  <a:pt x="38100" y="67181"/>
                  <a:pt x="38100" y="61912"/>
                </a:cubicBezTo>
                <a:cubicBezTo>
                  <a:pt x="38100" y="56644"/>
                  <a:pt x="42356" y="52388"/>
                  <a:pt x="47625" y="52388"/>
                </a:cubicBezTo>
                <a:close/>
                <a:moveTo>
                  <a:pt x="47625" y="85725"/>
                </a:moveTo>
                <a:lnTo>
                  <a:pt x="123825" y="85725"/>
                </a:lnTo>
                <a:cubicBezTo>
                  <a:pt x="129094" y="85725"/>
                  <a:pt x="133350" y="89981"/>
                  <a:pt x="133350" y="95250"/>
                </a:cubicBezTo>
                <a:cubicBezTo>
                  <a:pt x="133350" y="100519"/>
                  <a:pt x="129094" y="104775"/>
                  <a:pt x="123825" y="104775"/>
                </a:cubicBezTo>
                <a:lnTo>
                  <a:pt x="47625" y="104775"/>
                </a:lnTo>
                <a:cubicBezTo>
                  <a:pt x="42356" y="104775"/>
                  <a:pt x="38100" y="100519"/>
                  <a:pt x="38100" y="95250"/>
                </a:cubicBezTo>
                <a:cubicBezTo>
                  <a:pt x="38100" y="89981"/>
                  <a:pt x="42356" y="85725"/>
                  <a:pt x="47625" y="85725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39" name="Text 37"/>
          <p:cNvSpPr/>
          <p:nvPr/>
        </p:nvSpPr>
        <p:spPr>
          <a:xfrm>
            <a:off x="4635500" y="4368701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COUNT(Claims)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635500" y="4635401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Purpose:</a:t>
            </a:r>
            <a:r>
              <a:rPr lang="en-US" sz="105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Workload monitoring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483100" y="5177335"/>
            <a:ext cx="3267075" cy="1066800"/>
          </a:xfrm>
          <a:custGeom>
            <a:avLst/>
            <a:gdLst/>
            <a:ahLst/>
            <a:cxnLst/>
            <a:rect l="l" t="t" r="r" b="b"/>
            <a:pathLst>
              <a:path w="3267075" h="1066800">
                <a:moveTo>
                  <a:pt x="76202" y="0"/>
                </a:moveTo>
                <a:lnTo>
                  <a:pt x="3190873" y="0"/>
                </a:lnTo>
                <a:cubicBezTo>
                  <a:pt x="3232958" y="0"/>
                  <a:pt x="3267075" y="34117"/>
                  <a:pt x="3267075" y="76202"/>
                </a:cubicBezTo>
                <a:lnTo>
                  <a:pt x="3267075" y="990598"/>
                </a:lnTo>
                <a:cubicBezTo>
                  <a:pt x="3267075" y="1032683"/>
                  <a:pt x="3232958" y="1066800"/>
                  <a:pt x="3190873" y="1066800"/>
                </a:cubicBezTo>
                <a:lnTo>
                  <a:pt x="76202" y="1066800"/>
                </a:lnTo>
                <a:cubicBezTo>
                  <a:pt x="34117" y="1066800"/>
                  <a:pt x="0" y="1032683"/>
                  <a:pt x="0" y="9905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4635500" y="5329740"/>
            <a:ext cx="781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Fraud Rate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423150" y="536784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44" name="Text 42"/>
          <p:cNvSpPr/>
          <p:nvPr/>
        </p:nvSpPr>
        <p:spPr>
          <a:xfrm>
            <a:off x="4635500" y="5634540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(Fraud Cases / Total) × 100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635500" y="5901240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Purpose:</a:t>
            </a:r>
            <a:r>
              <a:rPr lang="en-US" sz="105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Risk management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147050" y="1803402"/>
            <a:ext cx="3667125" cy="4676775"/>
          </a:xfrm>
          <a:custGeom>
            <a:avLst/>
            <a:gdLst/>
            <a:ahLst/>
            <a:cxnLst/>
            <a:rect l="l" t="t" r="r" b="b"/>
            <a:pathLst>
              <a:path w="3667125" h="4676775">
                <a:moveTo>
                  <a:pt x="38100" y="0"/>
                </a:moveTo>
                <a:lnTo>
                  <a:pt x="3590922" y="0"/>
                </a:lnTo>
                <a:cubicBezTo>
                  <a:pt x="3632980" y="0"/>
                  <a:pt x="3667125" y="34145"/>
                  <a:pt x="3667125" y="76203"/>
                </a:cubicBezTo>
                <a:lnTo>
                  <a:pt x="3667125" y="4600572"/>
                </a:lnTo>
                <a:cubicBezTo>
                  <a:pt x="3667125" y="4642630"/>
                  <a:pt x="3632980" y="4676775"/>
                  <a:pt x="3590922" y="4676775"/>
                </a:cubicBezTo>
                <a:lnTo>
                  <a:pt x="38100" y="4676775"/>
                </a:lnTo>
                <a:cubicBezTo>
                  <a:pt x="17072" y="4676775"/>
                  <a:pt x="0" y="4659703"/>
                  <a:pt x="0" y="463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147050" y="1803402"/>
            <a:ext cx="38100" cy="4676775"/>
          </a:xfrm>
          <a:custGeom>
            <a:avLst/>
            <a:gdLst/>
            <a:ahLst/>
            <a:cxnLst/>
            <a:rect l="l" t="t" r="r" b="b"/>
            <a:pathLst>
              <a:path w="38100" h="4676775">
                <a:moveTo>
                  <a:pt x="38100" y="0"/>
                </a:moveTo>
                <a:lnTo>
                  <a:pt x="38100" y="0"/>
                </a:lnTo>
                <a:lnTo>
                  <a:pt x="38100" y="4676775"/>
                </a:lnTo>
                <a:lnTo>
                  <a:pt x="38100" y="4676775"/>
                </a:lnTo>
                <a:cubicBezTo>
                  <a:pt x="17072" y="4676775"/>
                  <a:pt x="0" y="4659703"/>
                  <a:pt x="0" y="46386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48" name="Shape 46"/>
          <p:cNvSpPr/>
          <p:nvPr/>
        </p:nvSpPr>
        <p:spPr>
          <a:xfrm>
            <a:off x="8356600" y="199390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49" name="Shape 47"/>
          <p:cNvSpPr/>
          <p:nvPr/>
        </p:nvSpPr>
        <p:spPr>
          <a:xfrm>
            <a:off x="8466138" y="2127252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0" name="Text 48"/>
          <p:cNvSpPr/>
          <p:nvPr/>
        </p:nvSpPr>
        <p:spPr>
          <a:xfrm>
            <a:off x="8928100" y="2089152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Metrics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356600" y="2779119"/>
            <a:ext cx="3267075" cy="800100"/>
          </a:xfrm>
          <a:custGeom>
            <a:avLst/>
            <a:gdLst/>
            <a:ahLst/>
            <a:cxnLst/>
            <a:rect l="l" t="t" r="r" b="b"/>
            <a:pathLst>
              <a:path w="3267075" h="800100">
                <a:moveTo>
                  <a:pt x="76202" y="0"/>
                </a:moveTo>
                <a:lnTo>
                  <a:pt x="3190873" y="0"/>
                </a:lnTo>
                <a:cubicBezTo>
                  <a:pt x="3232958" y="0"/>
                  <a:pt x="3267075" y="34117"/>
                  <a:pt x="3267075" y="76202"/>
                </a:cubicBezTo>
                <a:lnTo>
                  <a:pt x="3267075" y="723898"/>
                </a:lnTo>
                <a:cubicBezTo>
                  <a:pt x="3267075" y="765983"/>
                  <a:pt x="3232958" y="800100"/>
                  <a:pt x="319087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8509000" y="2931519"/>
            <a:ext cx="121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Tenure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1306175" y="296961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91797" y="68074"/>
                </a:moveTo>
                <a:cubicBezTo>
                  <a:pt x="93881" y="64740"/>
                  <a:pt x="92869" y="60335"/>
                  <a:pt x="89535" y="58222"/>
                </a:cubicBezTo>
                <a:cubicBezTo>
                  <a:pt x="86201" y="56108"/>
                  <a:pt x="81796" y="57150"/>
                  <a:pt x="79683" y="60484"/>
                </a:cubicBezTo>
                <a:lnTo>
                  <a:pt x="61406" y="89743"/>
                </a:lnTo>
                <a:lnTo>
                  <a:pt x="53370" y="79028"/>
                </a:lnTo>
                <a:cubicBezTo>
                  <a:pt x="50989" y="75873"/>
                  <a:pt x="46524" y="75218"/>
                  <a:pt x="43369" y="77599"/>
                </a:cubicBezTo>
                <a:cubicBezTo>
                  <a:pt x="40213" y="79980"/>
                  <a:pt x="39559" y="84445"/>
                  <a:pt x="41940" y="87600"/>
                </a:cubicBezTo>
                <a:lnTo>
                  <a:pt x="56227" y="106650"/>
                </a:lnTo>
                <a:cubicBezTo>
                  <a:pt x="57626" y="108525"/>
                  <a:pt x="59888" y="109597"/>
                  <a:pt x="62240" y="109508"/>
                </a:cubicBezTo>
                <a:cubicBezTo>
                  <a:pt x="64591" y="109418"/>
                  <a:pt x="66735" y="108168"/>
                  <a:pt x="67985" y="106144"/>
                </a:cubicBezTo>
                <a:lnTo>
                  <a:pt x="91797" y="68044"/>
                </a:ln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54" name="Text 52"/>
          <p:cNvSpPr/>
          <p:nvPr/>
        </p:nvSpPr>
        <p:spPr>
          <a:xfrm>
            <a:off x="8509000" y="3236319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Purpose:</a:t>
            </a:r>
            <a:r>
              <a:rPr lang="en-US" sz="105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Loyalty analysis and retention strategies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356600" y="4044851"/>
            <a:ext cx="3267075" cy="800100"/>
          </a:xfrm>
          <a:custGeom>
            <a:avLst/>
            <a:gdLst/>
            <a:ahLst/>
            <a:cxnLst/>
            <a:rect l="l" t="t" r="r" b="b"/>
            <a:pathLst>
              <a:path w="3267075" h="800100">
                <a:moveTo>
                  <a:pt x="76202" y="0"/>
                </a:moveTo>
                <a:lnTo>
                  <a:pt x="3190873" y="0"/>
                </a:lnTo>
                <a:cubicBezTo>
                  <a:pt x="3232958" y="0"/>
                  <a:pt x="3267075" y="34117"/>
                  <a:pt x="3267075" y="76202"/>
                </a:cubicBezTo>
                <a:lnTo>
                  <a:pt x="3267075" y="723898"/>
                </a:lnTo>
                <a:cubicBezTo>
                  <a:pt x="3267075" y="765983"/>
                  <a:pt x="3232958" y="800100"/>
                  <a:pt x="319087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8509000" y="4197251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Claims by Demographics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1287125" y="4235351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9050" y="38100"/>
                </a:moveTo>
                <a:cubicBezTo>
                  <a:pt x="19050" y="19701"/>
                  <a:pt x="33988" y="4763"/>
                  <a:pt x="52387" y="4763"/>
                </a:cubicBezTo>
                <a:cubicBezTo>
                  <a:pt x="70787" y="4763"/>
                  <a:pt x="85725" y="19701"/>
                  <a:pt x="85725" y="38100"/>
                </a:cubicBezTo>
                <a:cubicBezTo>
                  <a:pt x="85725" y="56499"/>
                  <a:pt x="70787" y="71438"/>
                  <a:pt x="52388" y="71438"/>
                </a:cubicBezTo>
                <a:cubicBezTo>
                  <a:pt x="33988" y="71438"/>
                  <a:pt x="19050" y="56499"/>
                  <a:pt x="19050" y="38100"/>
                </a:cubicBezTo>
                <a:close/>
                <a:moveTo>
                  <a:pt x="0" y="138113"/>
                </a:moveTo>
                <a:cubicBezTo>
                  <a:pt x="0" y="109180"/>
                  <a:pt x="23455" y="85725"/>
                  <a:pt x="52388" y="85725"/>
                </a:cubicBezTo>
                <a:cubicBezTo>
                  <a:pt x="81320" y="85725"/>
                  <a:pt x="104775" y="109180"/>
                  <a:pt x="104775" y="138113"/>
                </a:cubicBezTo>
                <a:lnTo>
                  <a:pt x="104775" y="139898"/>
                </a:lnTo>
                <a:cubicBezTo>
                  <a:pt x="104775" y="146804"/>
                  <a:pt x="99179" y="152400"/>
                  <a:pt x="92273" y="152400"/>
                </a:cubicBezTo>
                <a:lnTo>
                  <a:pt x="12502" y="152400"/>
                </a:lnTo>
                <a:cubicBezTo>
                  <a:pt x="5596" y="152400"/>
                  <a:pt x="0" y="146804"/>
                  <a:pt x="0" y="139898"/>
                </a:cubicBezTo>
                <a:lnTo>
                  <a:pt x="0" y="138113"/>
                </a:lnTo>
                <a:close/>
                <a:moveTo>
                  <a:pt x="128588" y="19050"/>
                </a:moveTo>
                <a:cubicBezTo>
                  <a:pt x="144358" y="19050"/>
                  <a:pt x="157163" y="31854"/>
                  <a:pt x="157163" y="47625"/>
                </a:cubicBezTo>
                <a:cubicBezTo>
                  <a:pt x="157163" y="63396"/>
                  <a:pt x="144358" y="76200"/>
                  <a:pt x="128588" y="76200"/>
                </a:cubicBezTo>
                <a:cubicBezTo>
                  <a:pt x="112817" y="76200"/>
                  <a:pt x="100013" y="63396"/>
                  <a:pt x="100013" y="47625"/>
                </a:cubicBezTo>
                <a:cubicBezTo>
                  <a:pt x="100013" y="31854"/>
                  <a:pt x="112817" y="19050"/>
                  <a:pt x="128588" y="19050"/>
                </a:cubicBezTo>
                <a:close/>
                <a:moveTo>
                  <a:pt x="128588" y="90488"/>
                </a:moveTo>
                <a:cubicBezTo>
                  <a:pt x="152251" y="90488"/>
                  <a:pt x="171450" y="109686"/>
                  <a:pt x="171450" y="133350"/>
                </a:cubicBezTo>
                <a:lnTo>
                  <a:pt x="171450" y="140018"/>
                </a:lnTo>
                <a:cubicBezTo>
                  <a:pt x="171450" y="146864"/>
                  <a:pt x="165914" y="152400"/>
                  <a:pt x="159068" y="152400"/>
                </a:cubicBezTo>
                <a:lnTo>
                  <a:pt x="115967" y="152400"/>
                </a:lnTo>
                <a:cubicBezTo>
                  <a:pt x="117931" y="148679"/>
                  <a:pt x="119062" y="144423"/>
                  <a:pt x="119062" y="139898"/>
                </a:cubicBezTo>
                <a:lnTo>
                  <a:pt x="119062" y="138113"/>
                </a:lnTo>
                <a:cubicBezTo>
                  <a:pt x="119062" y="122783"/>
                  <a:pt x="113883" y="108674"/>
                  <a:pt x="105221" y="97423"/>
                </a:cubicBezTo>
                <a:cubicBezTo>
                  <a:pt x="111949" y="93047"/>
                  <a:pt x="119985" y="90488"/>
                  <a:pt x="128587" y="90488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58" name="Text 56"/>
          <p:cNvSpPr/>
          <p:nvPr/>
        </p:nvSpPr>
        <p:spPr>
          <a:xfrm>
            <a:off x="8509000" y="4502051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Purpose:</a:t>
            </a:r>
            <a:r>
              <a:rPr lang="en-US" sz="105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Risk profiling by age, gender, location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356600" y="5310690"/>
            <a:ext cx="3267075" cy="800100"/>
          </a:xfrm>
          <a:custGeom>
            <a:avLst/>
            <a:gdLst/>
            <a:ahLst/>
            <a:cxnLst/>
            <a:rect l="l" t="t" r="r" b="b"/>
            <a:pathLst>
              <a:path w="3267075" h="800100">
                <a:moveTo>
                  <a:pt x="76202" y="0"/>
                </a:moveTo>
                <a:lnTo>
                  <a:pt x="3190873" y="0"/>
                </a:lnTo>
                <a:cubicBezTo>
                  <a:pt x="3232958" y="0"/>
                  <a:pt x="3267075" y="34117"/>
                  <a:pt x="3267075" y="76202"/>
                </a:cubicBezTo>
                <a:lnTo>
                  <a:pt x="3267075" y="723898"/>
                </a:lnTo>
                <a:cubicBezTo>
                  <a:pt x="3267075" y="765983"/>
                  <a:pt x="3232958" y="800100"/>
                  <a:pt x="3190873" y="800100"/>
                </a:cubicBezTo>
                <a:lnTo>
                  <a:pt x="76202" y="800100"/>
                </a:lnTo>
                <a:cubicBezTo>
                  <a:pt x="34117" y="800100"/>
                  <a:pt x="0" y="765983"/>
                  <a:pt x="0" y="7238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8509000" y="5463090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 Segmentation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1296650" y="550119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62" name="Text 60"/>
          <p:cNvSpPr/>
          <p:nvPr/>
        </p:nvSpPr>
        <p:spPr>
          <a:xfrm>
            <a:off x="8509000" y="5767890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Purpose:</a:t>
            </a:r>
            <a:r>
              <a:rPr lang="en-US" sz="105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Targeted marketing and pricing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altexsoft.com/50c0c7e11957530e617ba5eab4dafb673352381f.png"/>
          <p:cNvPicPr>
            <a:picLocks noChangeAspect="1"/>
          </p:cNvPicPr>
          <p:nvPr/>
        </p:nvPicPr>
        <p:blipFill>
          <a:blip r:embed="rId3">
            <a:alphaModFix amt="25000"/>
          </a:blip>
          <a:srcRect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A6C8C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504333" y="188913"/>
            <a:ext cx="3187700" cy="501650"/>
          </a:xfrm>
          <a:custGeom>
            <a:avLst/>
            <a:gdLst/>
            <a:ahLst/>
            <a:cxnLst/>
            <a:rect l="l" t="t" r="r" b="b"/>
            <a:pathLst>
              <a:path w="3187700" h="501650">
                <a:moveTo>
                  <a:pt x="250825" y="0"/>
                </a:moveTo>
                <a:lnTo>
                  <a:pt x="2936875" y="0"/>
                </a:lnTo>
                <a:cubicBezTo>
                  <a:pt x="3075402" y="0"/>
                  <a:pt x="3187700" y="112298"/>
                  <a:pt x="3187700" y="250825"/>
                </a:cubicBezTo>
                <a:lnTo>
                  <a:pt x="3187700" y="250825"/>
                </a:lnTo>
                <a:cubicBezTo>
                  <a:pt x="3187700" y="389352"/>
                  <a:pt x="3075402" y="501650"/>
                  <a:pt x="2936875" y="501650"/>
                </a:cubicBezTo>
                <a:lnTo>
                  <a:pt x="250825" y="501650"/>
                </a:lnTo>
                <a:cubicBezTo>
                  <a:pt x="112391" y="501650"/>
                  <a:pt x="0" y="389259"/>
                  <a:pt x="0" y="250825"/>
                </a:cubicBezTo>
                <a:lnTo>
                  <a:pt x="0" y="250825"/>
                </a:lnTo>
                <a:cubicBezTo>
                  <a:pt x="0" y="112391"/>
                  <a:pt x="112391" y="0"/>
                  <a:pt x="250825" y="0"/>
                </a:cubicBezTo>
                <a:close/>
              </a:path>
            </a:pathLst>
          </a:custGeom>
          <a:solidFill>
            <a:srgbClr val="D8A25A">
              <a:alpha val="20000"/>
            </a:srgbClr>
          </a:solidFill>
          <a:ln w="8467">
            <a:solidFill>
              <a:srgbClr val="D8A25A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764683" y="32544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6" name="Text 3"/>
          <p:cNvSpPr/>
          <p:nvPr/>
        </p:nvSpPr>
        <p:spPr>
          <a:xfrm>
            <a:off x="5093296" y="306391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kern="0" spc="135" dirty="0">
                <a:solidFill>
                  <a:srgbClr val="D8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Ready for Production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272433" y="1227144"/>
            <a:ext cx="564832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E8E9E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Data-Driven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D8A2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Insurance Operations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381250" y="2884494"/>
            <a:ext cx="742950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Insurance Data Warehouse provides a robust foundation for real-time analytics, fraud prevention, performance monitoring, and strategic decision-making.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472531" y="4383094"/>
            <a:ext cx="2263775" cy="1320800"/>
          </a:xfrm>
          <a:custGeom>
            <a:avLst/>
            <a:gdLst/>
            <a:ahLst/>
            <a:cxnLst/>
            <a:rect l="l" t="t" r="r" b="b"/>
            <a:pathLst>
              <a:path w="2263775" h="1320800">
                <a:moveTo>
                  <a:pt x="114302" y="0"/>
                </a:moveTo>
                <a:lnTo>
                  <a:pt x="2149473" y="0"/>
                </a:lnTo>
                <a:cubicBezTo>
                  <a:pt x="2212600" y="0"/>
                  <a:pt x="2263775" y="51175"/>
                  <a:pt x="2263775" y="114302"/>
                </a:cubicBezTo>
                <a:lnTo>
                  <a:pt x="2263775" y="1206498"/>
                </a:lnTo>
                <a:cubicBezTo>
                  <a:pt x="2263775" y="1269625"/>
                  <a:pt x="2212600" y="1320800"/>
                  <a:pt x="2149473" y="1320800"/>
                </a:cubicBezTo>
                <a:lnTo>
                  <a:pt x="114302" y="1320800"/>
                </a:lnTo>
                <a:cubicBezTo>
                  <a:pt x="51175" y="1320800"/>
                  <a:pt x="0" y="1269625"/>
                  <a:pt x="0" y="1206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8467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61544" y="457676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11" name="Text 8"/>
          <p:cNvSpPr/>
          <p:nvPr/>
        </p:nvSpPr>
        <p:spPr>
          <a:xfrm>
            <a:off x="2623344" y="4976813"/>
            <a:ext cx="1962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Analytics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632869" y="5319713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KPI monitoring and trending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966494" y="4383094"/>
            <a:ext cx="2263775" cy="1320800"/>
          </a:xfrm>
          <a:custGeom>
            <a:avLst/>
            <a:gdLst/>
            <a:ahLst/>
            <a:cxnLst/>
            <a:rect l="l" t="t" r="r" b="b"/>
            <a:pathLst>
              <a:path w="2263775" h="1320800">
                <a:moveTo>
                  <a:pt x="114302" y="0"/>
                </a:moveTo>
                <a:lnTo>
                  <a:pt x="2149473" y="0"/>
                </a:lnTo>
                <a:cubicBezTo>
                  <a:pt x="2212600" y="0"/>
                  <a:pt x="2263775" y="51175"/>
                  <a:pt x="2263775" y="114302"/>
                </a:cubicBezTo>
                <a:lnTo>
                  <a:pt x="2263775" y="1206498"/>
                </a:lnTo>
                <a:cubicBezTo>
                  <a:pt x="2263775" y="1269625"/>
                  <a:pt x="2212600" y="1320800"/>
                  <a:pt x="2149473" y="1320800"/>
                </a:cubicBezTo>
                <a:lnTo>
                  <a:pt x="114302" y="1320800"/>
                </a:lnTo>
                <a:cubicBezTo>
                  <a:pt x="51175" y="1320800"/>
                  <a:pt x="0" y="1269625"/>
                  <a:pt x="0" y="1206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8467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55506" y="457676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15" name="Text 12"/>
          <p:cNvSpPr/>
          <p:nvPr/>
        </p:nvSpPr>
        <p:spPr>
          <a:xfrm>
            <a:off x="5117306" y="4976813"/>
            <a:ext cx="1962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Fraud Prevention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126831" y="5319713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detection and alerts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460456" y="4383094"/>
            <a:ext cx="2263775" cy="1320800"/>
          </a:xfrm>
          <a:custGeom>
            <a:avLst/>
            <a:gdLst/>
            <a:ahLst/>
            <a:cxnLst/>
            <a:rect l="l" t="t" r="r" b="b"/>
            <a:pathLst>
              <a:path w="2263775" h="1320800">
                <a:moveTo>
                  <a:pt x="114302" y="0"/>
                </a:moveTo>
                <a:lnTo>
                  <a:pt x="2149473" y="0"/>
                </a:lnTo>
                <a:cubicBezTo>
                  <a:pt x="2212600" y="0"/>
                  <a:pt x="2263775" y="51175"/>
                  <a:pt x="2263775" y="114302"/>
                </a:cubicBezTo>
                <a:lnTo>
                  <a:pt x="2263775" y="1206498"/>
                </a:lnTo>
                <a:cubicBezTo>
                  <a:pt x="2263775" y="1269625"/>
                  <a:pt x="2212600" y="1320800"/>
                  <a:pt x="2149473" y="1320800"/>
                </a:cubicBezTo>
                <a:lnTo>
                  <a:pt x="114302" y="1320800"/>
                </a:lnTo>
                <a:cubicBezTo>
                  <a:pt x="51175" y="1320800"/>
                  <a:pt x="0" y="1269625"/>
                  <a:pt x="0" y="1206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8467">
            <a:solidFill>
              <a:srgbClr val="4A6C8C">
                <a:alpha val="4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449469" y="457676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60734" y="53578"/>
                </a:moveTo>
                <a:cubicBezTo>
                  <a:pt x="160734" y="43721"/>
                  <a:pt x="152732" y="35719"/>
                  <a:pt x="142875" y="35719"/>
                </a:cubicBezTo>
                <a:cubicBezTo>
                  <a:pt x="133018" y="35719"/>
                  <a:pt x="125016" y="43721"/>
                  <a:pt x="125016" y="53578"/>
                </a:cubicBezTo>
                <a:cubicBezTo>
                  <a:pt x="125016" y="63435"/>
                  <a:pt x="133018" y="71438"/>
                  <a:pt x="142875" y="71438"/>
                </a:cubicBezTo>
                <a:cubicBezTo>
                  <a:pt x="152732" y="71438"/>
                  <a:pt x="160734" y="63435"/>
                  <a:pt x="160734" y="53578"/>
                </a:cubicBezTo>
                <a:close/>
                <a:moveTo>
                  <a:pt x="142875" y="232172"/>
                </a:moveTo>
                <a:cubicBezTo>
                  <a:pt x="162576" y="232172"/>
                  <a:pt x="178594" y="216154"/>
                  <a:pt x="178594" y="196453"/>
                </a:cubicBezTo>
                <a:cubicBezTo>
                  <a:pt x="178594" y="187412"/>
                  <a:pt x="175245" y="179096"/>
                  <a:pt x="169664" y="172845"/>
                </a:cubicBezTo>
                <a:lnTo>
                  <a:pt x="208452" y="95324"/>
                </a:lnTo>
                <a:cubicBezTo>
                  <a:pt x="211745" y="88683"/>
                  <a:pt x="209066" y="80646"/>
                  <a:pt x="202481" y="77353"/>
                </a:cubicBezTo>
                <a:cubicBezTo>
                  <a:pt x="195895" y="74061"/>
                  <a:pt x="187802" y="76740"/>
                  <a:pt x="184510" y="83325"/>
                </a:cubicBezTo>
                <a:lnTo>
                  <a:pt x="145721" y="160846"/>
                </a:lnTo>
                <a:cubicBezTo>
                  <a:pt x="144773" y="160790"/>
                  <a:pt x="143824" y="160734"/>
                  <a:pt x="142875" y="160734"/>
                </a:cubicBezTo>
                <a:cubicBezTo>
                  <a:pt x="123174" y="160734"/>
                  <a:pt x="107156" y="176752"/>
                  <a:pt x="107156" y="196453"/>
                </a:cubicBezTo>
                <a:cubicBezTo>
                  <a:pt x="107156" y="216154"/>
                  <a:pt x="123174" y="232172"/>
                  <a:pt x="142875" y="232172"/>
                </a:cubicBezTo>
                <a:close/>
                <a:moveTo>
                  <a:pt x="98227" y="80367"/>
                </a:moveTo>
                <a:cubicBezTo>
                  <a:pt x="98227" y="70510"/>
                  <a:pt x="90224" y="62508"/>
                  <a:pt x="80367" y="62508"/>
                </a:cubicBezTo>
                <a:cubicBezTo>
                  <a:pt x="70510" y="62508"/>
                  <a:pt x="62508" y="70510"/>
                  <a:pt x="62508" y="80367"/>
                </a:cubicBezTo>
                <a:cubicBezTo>
                  <a:pt x="62508" y="90224"/>
                  <a:pt x="70510" y="98227"/>
                  <a:pt x="80367" y="98227"/>
                </a:cubicBezTo>
                <a:cubicBezTo>
                  <a:pt x="90224" y="98227"/>
                  <a:pt x="98227" y="90224"/>
                  <a:pt x="98227" y="80367"/>
                </a:cubicBezTo>
                <a:close/>
                <a:moveTo>
                  <a:pt x="53578" y="160734"/>
                </a:moveTo>
                <a:cubicBezTo>
                  <a:pt x="63435" y="160734"/>
                  <a:pt x="71438" y="152732"/>
                  <a:pt x="71438" y="142875"/>
                </a:cubicBezTo>
                <a:cubicBezTo>
                  <a:pt x="71438" y="133018"/>
                  <a:pt x="63435" y="125016"/>
                  <a:pt x="53578" y="125016"/>
                </a:cubicBezTo>
                <a:cubicBezTo>
                  <a:pt x="43721" y="125016"/>
                  <a:pt x="35719" y="133018"/>
                  <a:pt x="35719" y="142875"/>
                </a:cubicBezTo>
                <a:cubicBezTo>
                  <a:pt x="35719" y="152732"/>
                  <a:pt x="43721" y="160734"/>
                  <a:pt x="53578" y="160734"/>
                </a:cubicBezTo>
                <a:close/>
                <a:moveTo>
                  <a:pt x="250031" y="142875"/>
                </a:moveTo>
                <a:cubicBezTo>
                  <a:pt x="250031" y="133018"/>
                  <a:pt x="242029" y="125016"/>
                  <a:pt x="232172" y="125016"/>
                </a:cubicBezTo>
                <a:cubicBezTo>
                  <a:pt x="222315" y="125016"/>
                  <a:pt x="214313" y="133018"/>
                  <a:pt x="214313" y="142875"/>
                </a:cubicBezTo>
                <a:cubicBezTo>
                  <a:pt x="214313" y="152732"/>
                  <a:pt x="222315" y="160734"/>
                  <a:pt x="232172" y="160734"/>
                </a:cubicBezTo>
                <a:cubicBezTo>
                  <a:pt x="242029" y="160734"/>
                  <a:pt x="250031" y="152732"/>
                  <a:pt x="250031" y="142875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19" name="Text 16"/>
          <p:cNvSpPr/>
          <p:nvPr/>
        </p:nvSpPr>
        <p:spPr>
          <a:xfrm>
            <a:off x="7611269" y="4976813"/>
            <a:ext cx="1962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Monitoring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620794" y="5319713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Agent and operational tracking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584178" y="6091241"/>
            <a:ext cx="5026025" cy="577850"/>
          </a:xfrm>
          <a:custGeom>
            <a:avLst/>
            <a:gdLst/>
            <a:ahLst/>
            <a:cxnLst/>
            <a:rect l="l" t="t" r="r" b="b"/>
            <a:pathLst>
              <a:path w="5026025" h="577850">
                <a:moveTo>
                  <a:pt x="114299" y="0"/>
                </a:moveTo>
                <a:lnTo>
                  <a:pt x="4911726" y="0"/>
                </a:lnTo>
                <a:cubicBezTo>
                  <a:pt x="4974852" y="0"/>
                  <a:pt x="5026025" y="51173"/>
                  <a:pt x="5026025" y="114299"/>
                </a:cubicBezTo>
                <a:lnTo>
                  <a:pt x="5026025" y="463551"/>
                </a:lnTo>
                <a:cubicBezTo>
                  <a:pt x="5026025" y="526677"/>
                  <a:pt x="4974852" y="577850"/>
                  <a:pt x="4911726" y="577850"/>
                </a:cubicBezTo>
                <a:lnTo>
                  <a:pt x="114299" y="577850"/>
                </a:lnTo>
                <a:cubicBezTo>
                  <a:pt x="51173" y="577850"/>
                  <a:pt x="0" y="526677"/>
                  <a:pt x="0" y="4635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D8A25A">
              <a:alpha val="20000"/>
            </a:srgbClr>
          </a:solidFill>
          <a:ln w="8467">
            <a:solidFill>
              <a:srgbClr val="D8A25A">
                <a:alpha val="4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915966" y="629126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8A25A"/>
          </a:solidFill>
          <a:ln/>
        </p:spPr>
      </p:sp>
      <p:sp>
        <p:nvSpPr>
          <p:cNvPr id="23" name="Text 20"/>
          <p:cNvSpPr/>
          <p:nvPr/>
        </p:nvSpPr>
        <p:spPr>
          <a:xfrm>
            <a:off x="4125516" y="6246819"/>
            <a:ext cx="4219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8E9E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Scalable, maintainable, and ready for BI tool integration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1186</Words>
  <Application>Microsoft Office PowerPoint</Application>
  <PresentationFormat>Widescreen</PresentationFormat>
  <Paragraphs>311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Liter</vt:lpstr>
      <vt:lpstr>Quattrocento Sans</vt:lpstr>
      <vt:lpstr>Calibri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Data Warehouse ETL Pipeline</dc:title>
  <dc:subject>Insurance Data Warehouse ETL Pipeline</dc:subject>
  <dc:creator>Kimi</dc:creator>
  <cp:lastModifiedBy>masilaisaacmim@gmail.com</cp:lastModifiedBy>
  <cp:revision>2</cp:revision>
  <dcterms:created xsi:type="dcterms:W3CDTF">2026-03-26T06:09:33Z</dcterms:created>
  <dcterms:modified xsi:type="dcterms:W3CDTF">2026-03-26T06:29:45Z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{"Label":"Insurance Data Warehouse ETL Pipeline","ContentProducer":"001191110108MACG2KBH8F10000","ProduceID":"19d28c15-5262-803c-8000-00006a5f7974","ReservedCode1":"","ContentPropagator":"001191110108MACG2KBH8F20000","PropagateID":"19d28c15-5262-803c-8000-00006a5f7974","ReservedCode2":""}</vt:lpwstr>
  </property>
</Properties>
</file>